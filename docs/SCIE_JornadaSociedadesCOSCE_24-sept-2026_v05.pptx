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4127" r:id="rId1"/>
  </p:sldMasterIdLst>
  <p:notesMasterIdLst>
    <p:notesMasterId r:id="rId27"/>
  </p:notesMasterIdLst>
  <p:handoutMasterIdLst>
    <p:handoutMasterId r:id="rId28"/>
  </p:handoutMasterIdLst>
  <p:sldIdLst>
    <p:sldId id="256" r:id="rId2"/>
    <p:sldId id="500" r:id="rId3"/>
    <p:sldId id="569" r:id="rId4"/>
    <p:sldId id="560" r:id="rId5"/>
    <p:sldId id="561" r:id="rId6"/>
    <p:sldId id="558" r:id="rId7"/>
    <p:sldId id="570" r:id="rId8"/>
    <p:sldId id="550" r:id="rId9"/>
    <p:sldId id="546" r:id="rId10"/>
    <p:sldId id="562" r:id="rId11"/>
    <p:sldId id="551" r:id="rId12"/>
    <p:sldId id="571" r:id="rId13"/>
    <p:sldId id="554" r:id="rId14"/>
    <p:sldId id="563" r:id="rId15"/>
    <p:sldId id="572" r:id="rId16"/>
    <p:sldId id="543" r:id="rId17"/>
    <p:sldId id="552" r:id="rId18"/>
    <p:sldId id="564" r:id="rId19"/>
    <p:sldId id="565" r:id="rId20"/>
    <p:sldId id="573" r:id="rId21"/>
    <p:sldId id="541" r:id="rId22"/>
    <p:sldId id="559" r:id="rId23"/>
    <p:sldId id="540" r:id="rId24"/>
    <p:sldId id="574" r:id="rId25"/>
    <p:sldId id="575" r:id="rId34"/>
    <p:sldId id="576" r:id="rId35"/>
    <p:sldId id="566" r:id="rId26"/>
  </p:sldIdLst>
  <p:sldSz cx="12192000" cy="6858000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8030ABFF-B217-4D58-B88C-91426487B8D5}">
          <p14:sldIdLst>
            <p14:sldId id="256"/>
          </p14:sldIdLst>
        </p14:section>
        <p14:section name="Intro" id="{0F45ED9A-2D0D-4536-BE28-CB44D06330EF}">
          <p14:sldIdLst>
            <p14:sldId id="500"/>
            <p14:sldId id="569"/>
          </p14:sldIdLst>
        </p14:section>
        <p14:section name="El criterio nacional" id="{842DBC6F-97DE-4AD9-B521-1F4342D5E0A6}">
          <p14:sldIdLst>
            <p14:sldId id="560"/>
            <p14:sldId id="561"/>
            <p14:sldId id="558"/>
            <p14:sldId id="570"/>
          </p14:sldIdLst>
        </p14:section>
        <p14:section name="Congresos de referencia y rankings" id="{37041103-B61C-40D8-8B95-BB16A52C41AB}">
          <p14:sldIdLst>
            <p14:sldId id="550"/>
            <p14:sldId id="546"/>
            <p14:sldId id="562"/>
            <p14:sldId id="551"/>
            <p14:sldId id="571"/>
          </p14:sldIdLst>
        </p14:section>
        <p14:section name="El impacto de los buenos congresos" id="{71E17B30-E7F3-4B80-944F-7CC520310B43}">
          <p14:sldIdLst>
            <p14:sldId id="554"/>
            <p14:sldId id="563"/>
            <p14:sldId id="572"/>
          </p14:sldIdLst>
        </p14:section>
        <p14:section name="Congresos y transferencia" id="{6502257D-E124-42C2-8873-A8C0BE3B57A3}">
          <p14:sldIdLst>
            <p14:sldId id="543"/>
            <p14:sldId id="552"/>
            <p14:sldId id="564"/>
            <p14:sldId id="565"/>
            <p14:sldId id="573"/>
          </p14:sldIdLst>
        </p14:section>
        <p14:section name="Conclusions" id="{99F98F2E-D48C-4F4E-9CB5-7F0D41297AB0}">
          <p14:sldIdLst>
            <p14:sldId id="541"/>
            <p14:sldId id="559"/>
            <p14:sldId id="540"/>
            <p14:sldId id="574"/>
            <p14:sldId id="566"/>
          </p14:sldIdLst>
        </p14:section>
        <p14:section name="Backup" id="{3A53E6B9-E862-4657-8FE8-CFA0BA83D9C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íctor Viñals Yúfera" initials="VVY" lastIdx="1" clrIdx="0">
    <p:extLst>
      <p:ext uri="{19B8F6BF-5375-455C-9EA6-DF929625EA0E}">
        <p15:presenceInfo xmlns:p15="http://schemas.microsoft.com/office/powerpoint/2012/main" userId="S::victor@unizar.es::5e5909a3-3735-4ed0-ba0a-a6382db576f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97FD5"/>
    <a:srgbClr val="FFFFFF"/>
    <a:srgbClr val="EEF8E4"/>
    <a:srgbClr val="FFEBEB"/>
    <a:srgbClr val="1F77B4"/>
    <a:srgbClr val="42527B"/>
    <a:srgbClr val="E8F0F6"/>
    <a:srgbClr val="ABAFCB"/>
    <a:srgbClr val="F7F2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44" autoAdjust="0"/>
    <p:restoredTop sz="83273" autoAdjust="0"/>
  </p:normalViewPr>
  <p:slideViewPr>
    <p:cSldViewPr>
      <p:cViewPr>
        <p:scale>
          <a:sx n="50" d="100"/>
          <a:sy n="50" d="100"/>
        </p:scale>
        <p:origin x="1200" y="-468"/>
      </p:cViewPr>
      <p:guideLst>
        <p:guide orient="horz" pos="2251"/>
        <p:guide pos="3840"/>
      </p:guideLst>
    </p:cSldViewPr>
  </p:slideViewPr>
  <p:outlineViewPr>
    <p:cViewPr>
      <p:scale>
        <a:sx n="33" d="100"/>
        <a:sy n="33" d="100"/>
      </p:scale>
      <p:origin x="0" y="-203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4352"/>
    </p:cViewPr>
  </p:sorterViewPr>
  <p:notesViewPr>
    <p:cSldViewPr>
      <p:cViewPr varScale="1">
        <p:scale>
          <a:sx n="46" d="100"/>
          <a:sy n="46" d="100"/>
        </p:scale>
        <p:origin x="2764" y="24"/>
      </p:cViewPr>
      <p:guideLst/>
    </p:cSldViewPr>
  </p:notesViewPr>
  <p:gridSpacing cx="72000" cy="72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commentAuthors" Target="commentAuthors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26.xml"/><Relationship Id="rId35" Type="http://schemas.openxmlformats.org/officeDocument/2006/relationships/slide" Target="slides/slide2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r>
              <a:rPr lang="en-US"/>
              <a:t>08/07/2016</a:t>
            </a:r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r>
              <a:rPr lang="en-US"/>
              <a:t>Timothy Hayes - Final Defence</a:t>
            </a:r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2DF5E212-9EDC-4E78-8D08-4B461B705EB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6469436"/>
      </p:ext>
    </p:extLst>
  </p:cSld>
  <p:clrMap bg1="lt1" tx1="dk1" bg2="lt2" tx2="dk2" accent1="accent1" accent2="accent2" accent3="accent3" accent4="accent4" accent5="accent5" accent6="accent6" hlink="hlink" folHlink="folHlink"/>
  <p:hf sldNum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1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r>
              <a:rPr lang="en-US"/>
              <a:t>08/07/2016</a:t>
            </a:r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r>
              <a:rPr lang="en-US"/>
              <a:t>Timothy Hayes - Final Defence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0175DDA7-31F7-4096-B06E-5CB25FD448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6473269"/>
      </p:ext>
    </p:extLst>
  </p:cSld>
  <p:clrMap bg1="lt1" tx1="dk1" bg2="lt2" tx2="dk2" accent1="accent1" accent2="accent2" accent3="accent3" accent4="accent4" accent5="accent5" accent6="accent6" hlink="hlink" folHlink="folHlink"/>
  <p:hf sldNum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Relationship Id="rId3" Type="http://schemas.openxmlformats.org/officeDocument/2006/relationships/hyperlink" Target="https://pedrolr.es/blog/category/bibliotecas/" TargetMode="External"/><Relationship Id="rId4" Type="http://schemas.openxmlformats.org/officeDocument/2006/relationships/hyperlink" Target="https://pedrolr.es/blog/el-gasto-en-web-of-science-e-incites-de-clarivate-y-en-scopus-y-scival-de-elsevier-por-la-fecyt-fundacion-espanola-para-la-ciencia-y-la-tecnologia/" TargetMode="External"/><Relationship Id="rId5" Type="http://schemas.openxmlformats.org/officeDocument/2006/relationships/hyperlink" Target="https://tesify.es/cuanto-cuesta-publicar-open-access-apc-2026?ref=tesify.es&amp;utm_source=tesify.es" TargetMode="External"/><Relationship Id="rId6" Type="http://schemas.openxmlformats.org/officeDocument/2006/relationships/hyperlink" Target="https://unelibros.une.es/el-sangrante-precio-de-publicar-ciencia" TargetMode="External"/><Relationship Id="rId7" Type="http://schemas.openxmlformats.org/officeDocument/2006/relationships/hyperlink" Target="https://universoabierto.org/2023/07/05/la-ue-exige-acabar-con-los-altos-costos-de-las-publicaciones-cientificas-publicar-en-editoriales-prestigiosas-puede-costar-hasta-10-000-euros-por-articulo/" TargetMode="Externa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en-US"/>
              <a:t>08/07/2016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Timothy Hayes - Final </a:t>
            </a:r>
            <a:r>
              <a:rPr lang="en-US" dirty="0" err="1"/>
              <a:t>Defence</a:t>
            </a:r>
            <a:endParaRPr lang="en-GB" dirty="0"/>
          </a:p>
        </p:txBody>
      </p:sp>
      <p:sp>
        <p:nvSpPr>
          <p:cNvPr id="9" name="Header Placeholder 8"/>
          <p:cNvSpPr>
            <a:spLocks noGrp="1"/>
          </p:cNvSpPr>
          <p:nvPr>
            <p:ph type="hdr" sz="quarter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2551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Marcador de fecha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08/07/2016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Timothy Hayes - Final </a:t>
            </a:r>
            <a:r>
              <a:rPr lang="en-US" dirty="0" err="1"/>
              <a:t>Defence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68287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800" dirty="0">
                <a:solidFill>
                  <a:srgbClr val="000000"/>
                </a:solidFill>
                <a:latin typeface="Consolas" panose="020B0609020204030204" pitchFamily="49" charset="0"/>
              </a:rPr>
              <a:t>Dice la propia DORA: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800" dirty="0">
                <a:solidFill>
                  <a:srgbClr val="000000"/>
                </a:solidFill>
                <a:latin typeface="Consolas" panose="020B0609020204030204" pitchFamily="49" charset="0"/>
              </a:rPr>
              <a:t>El factor de impacto de las revistas se utiliza frecuentemente como parámetro principal para comparar la producción científica de individuos e instituciones. Este factor, calculado por Thomson Reuters (por </a:t>
            </a:r>
            <a:r>
              <a:rPr lang="es-E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Clarivate</a:t>
            </a:r>
            <a:r>
              <a:rPr lang="es-ES" sz="800" dirty="0">
                <a:solidFill>
                  <a:srgbClr val="000000"/>
                </a:solidFill>
                <a:latin typeface="Consolas" panose="020B0609020204030204" pitchFamily="49" charset="0"/>
              </a:rPr>
              <a:t> a partir de 2016), </a:t>
            </a:r>
            <a:r>
              <a:rPr lang="es-ES" sz="800" i="1" dirty="0">
                <a:solidFill>
                  <a:srgbClr val="000000"/>
                </a:solidFill>
                <a:latin typeface="Consolas" panose="020B0609020204030204" pitchFamily="49" charset="0"/>
              </a:rPr>
              <a:t>se creó originalmente como una herramienta para ayudar a los bibliotecarios a identificar revistas para su compra, no como una medida de la calidad científica de la investigación en un artículo.</a:t>
            </a:r>
          </a:p>
          <a:p>
            <a:endParaRPr lang="es-E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08/07/2016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Timothy Hayes - Final Defence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5891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100" b="0" i="1" u="none" strike="noStrike" dirty="0">
                <a:effectLst/>
                <a:latin typeface="Google Sans"/>
              </a:rPr>
              <a:t>OJO: revisar y añadir referencias</a:t>
            </a:r>
          </a:p>
          <a:p>
            <a:r>
              <a:rPr lang="es-ES" sz="1100" b="0" u="none" strike="noStrike" dirty="0">
                <a:effectLst/>
                <a:latin typeface="Google Sans"/>
              </a:rPr>
              <a:t>“La última gran renovación de la licencia nacional de </a:t>
            </a:r>
            <a:r>
              <a:rPr lang="es-ES" sz="1100" b="1" u="none" strike="noStrike" dirty="0">
                <a:effectLst/>
                <a:latin typeface="Google Sans"/>
              </a:rPr>
              <a:t>Web </a:t>
            </a:r>
            <a:r>
              <a:rPr lang="es-ES" sz="1100" b="1" u="none" strike="noStrike" dirty="0" err="1">
                <a:effectLst/>
                <a:latin typeface="Google Sans"/>
              </a:rPr>
              <a:t>of</a:t>
            </a:r>
            <a:r>
              <a:rPr lang="es-ES" sz="1100" b="1" u="none" strike="noStrike" dirty="0">
                <a:effectLst/>
                <a:latin typeface="Google Sans"/>
              </a:rPr>
              <a:t> </a:t>
            </a:r>
            <a:r>
              <a:rPr lang="es-ES" sz="1100" b="1" u="none" strike="noStrike" dirty="0" err="1">
                <a:effectLst/>
                <a:latin typeface="Google Sans"/>
              </a:rPr>
              <a:t>Science</a:t>
            </a:r>
            <a:r>
              <a:rPr lang="es-ES" sz="1100" b="0" u="none" strike="noStrike" dirty="0">
                <a:effectLst/>
                <a:latin typeface="Google Sans"/>
              </a:rPr>
              <a:t> (junto con su herramienta analítica </a:t>
            </a:r>
            <a:r>
              <a:rPr lang="es-ES" sz="1100" b="0" i="1" u="none" strike="noStrike" dirty="0" err="1">
                <a:effectLst/>
                <a:latin typeface="Google Sans"/>
              </a:rPr>
              <a:t>InCites</a:t>
            </a:r>
            <a:r>
              <a:rPr lang="es-ES" sz="1100" b="0" u="none" strike="noStrike" dirty="0">
                <a:effectLst/>
                <a:latin typeface="Google Sans"/>
              </a:rPr>
              <a:t>) adjudicada por la FECYT a </a:t>
            </a:r>
            <a:r>
              <a:rPr lang="es-ES" sz="1100" b="1" u="none" strike="noStrike" dirty="0" err="1">
                <a:effectLst/>
                <a:latin typeface="Google Sans"/>
              </a:rPr>
              <a:t>Clarivate</a:t>
            </a:r>
            <a:r>
              <a:rPr lang="es-ES" sz="1100" b="0" u="none" strike="noStrike" dirty="0">
                <a:effectLst/>
                <a:latin typeface="Google Sans"/>
              </a:rPr>
              <a:t> tiene un coste de casi 14 millones de euros con IVA incluido para un periodo de 3 años. [</a:t>
            </a:r>
            <a:r>
              <a:rPr lang="es-ES" sz="1100" b="0" u="none" strike="noStrike" dirty="0">
                <a:effectLst/>
                <a:latin typeface="Google Sans"/>
                <a:hlinkClick r:id="rId3"/>
              </a:rPr>
              <a:t>1</a:t>
            </a:r>
            <a:r>
              <a:rPr lang="es-ES" sz="1100" b="0" u="none" strike="noStrike" dirty="0">
                <a:effectLst/>
                <a:latin typeface="Google Sans"/>
              </a:rPr>
              <a:t>] Esto significa que el coste anual aproximado es de </a:t>
            </a:r>
            <a:r>
              <a:rPr lang="es-ES" sz="1100" b="1" u="none" strike="noStrike" dirty="0">
                <a:effectLst/>
                <a:latin typeface="Google Sans"/>
              </a:rPr>
              <a:t>unos 4,6 millones de euros al año</a:t>
            </a:r>
            <a:r>
              <a:rPr lang="es-ES" sz="1100" b="0" u="none" strike="noStrike" dirty="0">
                <a:effectLst/>
                <a:latin typeface="Google Sans"/>
              </a:rPr>
              <a:t> destinados a mantener el acceso a esta base de datos para la comunidad científica española. [</a:t>
            </a:r>
            <a:r>
              <a:rPr lang="es-ES" sz="1100" b="0" u="none" strike="noStrike" dirty="0">
                <a:effectLst/>
                <a:latin typeface="Google Sans"/>
                <a:hlinkClick r:id="rId3"/>
              </a:rPr>
              <a:t>1</a:t>
            </a:r>
            <a:r>
              <a:rPr lang="es-ES" sz="1100" b="0" u="none" strike="noStrike" dirty="0">
                <a:effectLst/>
                <a:latin typeface="Google Sans"/>
              </a:rPr>
              <a:t>]</a:t>
            </a:r>
          </a:p>
          <a:p>
            <a:endParaRPr lang="es-ES" sz="1100" b="0" u="none" strike="noStrike" dirty="0">
              <a:effectLst/>
              <a:latin typeface="Google Sans"/>
            </a:endParaRPr>
          </a:p>
          <a:p>
            <a:r>
              <a:rPr lang="es-ES" sz="1100" b="0" u="none" strike="noStrike" dirty="0">
                <a:effectLst/>
                <a:latin typeface="Google Sans"/>
              </a:rPr>
              <a:t>El coste de la licencia nacional de </a:t>
            </a:r>
            <a:r>
              <a:rPr lang="es-ES" sz="1100" b="1" u="none" strike="noStrike" dirty="0" err="1">
                <a:effectLst/>
                <a:latin typeface="Google Sans"/>
              </a:rPr>
              <a:t>Scopus</a:t>
            </a:r>
            <a:r>
              <a:rPr lang="es-ES" sz="1100" b="0" u="none" strike="noStrike" dirty="0">
                <a:effectLst/>
                <a:latin typeface="Google Sans"/>
              </a:rPr>
              <a:t> adjudicada por la FECYT a </a:t>
            </a:r>
            <a:r>
              <a:rPr lang="es-ES" sz="1100" b="1" u="none" strike="noStrike" dirty="0">
                <a:effectLst/>
                <a:latin typeface="Google Sans"/>
              </a:rPr>
              <a:t>Elsevier</a:t>
            </a:r>
            <a:r>
              <a:rPr lang="es-ES" sz="1100" b="0" u="none" strike="noStrike" dirty="0">
                <a:effectLst/>
                <a:latin typeface="Google Sans"/>
              </a:rPr>
              <a:t> (junto con su herramienta de análisis métrico </a:t>
            </a:r>
            <a:r>
              <a:rPr lang="es-ES" sz="1100" b="0" i="1" u="none" strike="noStrike" dirty="0" err="1">
                <a:effectLst/>
                <a:latin typeface="Google Sans"/>
              </a:rPr>
              <a:t>SciVal</a:t>
            </a:r>
            <a:r>
              <a:rPr lang="es-ES" sz="1100" b="0" u="none" strike="noStrike" dirty="0">
                <a:effectLst/>
                <a:latin typeface="Google Sans"/>
              </a:rPr>
              <a:t>) se sitúa en un rango similar al de Web </a:t>
            </a:r>
            <a:r>
              <a:rPr lang="es-ES" sz="1100" b="0" u="none" strike="noStrike" dirty="0" err="1">
                <a:effectLst/>
                <a:latin typeface="Google Sans"/>
              </a:rPr>
              <a:t>of</a:t>
            </a:r>
            <a:r>
              <a:rPr lang="es-ES" sz="1100" b="0" u="none" strike="noStrike" dirty="0">
                <a:effectLst/>
                <a:latin typeface="Google Sans"/>
              </a:rPr>
              <a:t> </a:t>
            </a:r>
            <a:r>
              <a:rPr lang="es-ES" sz="1100" b="0" u="none" strike="noStrike" dirty="0" err="1">
                <a:effectLst/>
                <a:latin typeface="Google Sans"/>
              </a:rPr>
              <a:t>Science</a:t>
            </a:r>
            <a:r>
              <a:rPr lang="es-ES" sz="1100" b="0" u="none" strike="noStrike" dirty="0">
                <a:effectLst/>
                <a:latin typeface="Google Sans"/>
              </a:rPr>
              <a:t>, superando habitualmente los 12 millones de euros con IVA incluido por cada renovación de 3 años. [</a:t>
            </a:r>
            <a:r>
              <a:rPr lang="es-ES" sz="1100" b="0" u="none" strike="noStrike" dirty="0">
                <a:effectLst/>
                <a:latin typeface="Google Sans"/>
                <a:hlinkClick r:id="rId4"/>
              </a:rPr>
              <a:t>1</a:t>
            </a:r>
            <a:r>
              <a:rPr lang="es-ES" sz="1100" b="0" u="none" strike="noStrike" dirty="0">
                <a:effectLst/>
                <a:latin typeface="Google Sans"/>
              </a:rPr>
              <a:t>] Esto se traduce en un coste anual de aproximadamente </a:t>
            </a:r>
            <a:r>
              <a:rPr lang="es-ES" sz="1100" b="1" u="none" strike="noStrike" dirty="0">
                <a:effectLst/>
                <a:latin typeface="Google Sans"/>
              </a:rPr>
              <a:t>4 millones de euros al año</a:t>
            </a:r>
            <a:r>
              <a:rPr lang="es-ES" sz="1100" b="0" u="none" strike="noStrike" dirty="0">
                <a:effectLst/>
                <a:latin typeface="Google Sans"/>
              </a:rPr>
              <a:t> destinados a financiar el acceso de la comunidad investigadora española a esta base de datos. [</a:t>
            </a:r>
            <a:r>
              <a:rPr lang="es-ES" sz="1100" b="0" u="none" strike="noStrike" dirty="0">
                <a:effectLst/>
                <a:latin typeface="Google Sans"/>
                <a:hlinkClick r:id="rId4"/>
              </a:rPr>
              <a:t>1</a:t>
            </a:r>
            <a:r>
              <a:rPr lang="es-ES" sz="1100" b="0" u="none" strike="noStrike" dirty="0">
                <a:effectLst/>
                <a:latin typeface="Google Sans"/>
              </a:rPr>
              <a:t>]”</a:t>
            </a:r>
          </a:p>
          <a:p>
            <a:endParaRPr lang="es-ES" sz="1100" b="0" u="none" strike="noStrike" dirty="0">
              <a:effectLst/>
              <a:latin typeface="Google Sans"/>
            </a:endParaRPr>
          </a:p>
          <a:p>
            <a:r>
              <a:rPr lang="es-ES" sz="1100" b="0" u="none" strike="noStrike" dirty="0">
                <a:effectLst/>
                <a:latin typeface="Google Sans"/>
              </a:rPr>
              <a:t>Relativo a los </a:t>
            </a:r>
            <a:r>
              <a:rPr lang="en-US" sz="1100" b="0" u="none" strike="noStrike" dirty="0">
                <a:effectLst/>
                <a:latin typeface="Google Sans"/>
              </a:rPr>
              <a:t>Article Processing Charge (</a:t>
            </a:r>
            <a:r>
              <a:rPr lang="en-US" sz="1100" b="1" u="none" strike="noStrike" dirty="0">
                <a:effectLst/>
                <a:latin typeface="Google Sans"/>
              </a:rPr>
              <a:t>APC</a:t>
            </a:r>
            <a:r>
              <a:rPr lang="en-US" sz="1100" dirty="0">
                <a:latin typeface="Google Sans"/>
              </a:rPr>
              <a:t>)</a:t>
            </a:r>
          </a:p>
          <a:p>
            <a:r>
              <a:rPr lang="en-US" sz="1100" dirty="0">
                <a:latin typeface="Google Sans"/>
              </a:rPr>
              <a:t>APC is a fee paid by authors or their </a:t>
            </a:r>
            <a:r>
              <a:rPr lang="en-US" sz="1100" b="1" dirty="0">
                <a:latin typeface="Google Sans"/>
              </a:rPr>
              <a:t>institutions</a:t>
            </a:r>
            <a:r>
              <a:rPr lang="en-US" sz="1100" dirty="0">
                <a:latin typeface="Google Sans"/>
              </a:rPr>
              <a:t> to publish a research paper in an open-access journal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100" b="0" i="1" u="none" strike="noStrike" dirty="0">
                <a:effectLst/>
                <a:latin typeface="Google Sans"/>
              </a:rPr>
              <a:t>OJO: revisar y añadir referencias</a:t>
            </a:r>
            <a:endParaRPr lang="en-US" sz="1100" i="1" dirty="0">
              <a:latin typeface="Google Sans"/>
            </a:endParaRPr>
          </a:p>
          <a:p>
            <a:r>
              <a:rPr lang="es-ES" sz="1100" b="0" u="none" strike="noStrike" dirty="0">
                <a:effectLst/>
                <a:latin typeface="Google Sans"/>
              </a:rPr>
              <a:t>“</a:t>
            </a:r>
            <a:r>
              <a:rPr lang="es-ES" sz="1100" dirty="0">
                <a:latin typeface="Google Sans"/>
              </a:rPr>
              <a:t>Si desglosamos lo que se paga en estos acuerdos por cada estudio científico publicado, el coste medio por artículo ronda los </a:t>
            </a:r>
            <a:r>
              <a:rPr lang="es-ES" sz="1100" b="1" u="none" strike="noStrike" dirty="0">
                <a:effectLst/>
                <a:latin typeface="Google Sans"/>
              </a:rPr>
              <a:t>2.500 euros</a:t>
            </a:r>
            <a:r>
              <a:rPr lang="es-ES" sz="1100" dirty="0">
                <a:latin typeface="Google Sans"/>
              </a:rPr>
              <a:t>. En cambio, si un investigador publica por libre en una revista de prestigio internacional fuera de estos acuerdos institucionales, el coste del </a:t>
            </a:r>
            <a:r>
              <a:rPr lang="es-ES" sz="1100" dirty="0"/>
              <a:t>APC puede oscilar entre los 2.000 y </a:t>
            </a:r>
            <a:r>
              <a:rPr lang="es-ES" sz="1100" b="1" u="none" strike="noStrike" dirty="0">
                <a:effectLst/>
                <a:latin typeface="Google Sans"/>
              </a:rPr>
              <a:t>hasta más de 10.000 euros</a:t>
            </a:r>
            <a:r>
              <a:rPr lang="es-ES" sz="1100" dirty="0"/>
              <a:t> en revistas de élite (como algunas del grupo </a:t>
            </a:r>
            <a:r>
              <a:rPr lang="es-ES" sz="1100" b="0" i="1" u="none" strike="noStrike" dirty="0" err="1">
                <a:effectLst/>
                <a:latin typeface="Google Sans"/>
              </a:rPr>
              <a:t>Nature</a:t>
            </a:r>
            <a:r>
              <a:rPr lang="es-ES" sz="1100" dirty="0"/>
              <a:t> o </a:t>
            </a:r>
            <a:r>
              <a:rPr lang="es-ES" sz="1100" b="0" i="1" u="none" strike="noStrike" dirty="0">
                <a:effectLst/>
                <a:latin typeface="Google Sans"/>
              </a:rPr>
              <a:t>Lancet</a:t>
            </a:r>
            <a:r>
              <a:rPr lang="es-ES" sz="1100" dirty="0"/>
              <a:t>). [</a:t>
            </a:r>
            <a:r>
              <a:rPr lang="es-ES" sz="1100" dirty="0">
                <a:hlinkClick r:id="rId5"/>
              </a:rPr>
              <a:t>1</a:t>
            </a:r>
            <a:r>
              <a:rPr lang="es-ES" sz="1100" dirty="0"/>
              <a:t>, </a:t>
            </a:r>
            <a:r>
              <a:rPr lang="es-ES" sz="1100" dirty="0">
                <a:hlinkClick r:id="rId6"/>
              </a:rPr>
              <a:t>2</a:t>
            </a:r>
            <a:r>
              <a:rPr lang="es-ES" sz="1100" dirty="0"/>
              <a:t>, </a:t>
            </a:r>
            <a:r>
              <a:rPr lang="es-ES" sz="1100" dirty="0">
                <a:hlinkClick r:id="rId7"/>
              </a:rPr>
              <a:t>3</a:t>
            </a:r>
            <a:r>
              <a:rPr lang="es-ES" sz="1100" dirty="0"/>
              <a:t>]”</a:t>
            </a:r>
            <a:endParaRPr lang="es-ES" sz="900" b="0" u="none" strike="noStrike" dirty="0">
              <a:effectLst/>
              <a:latin typeface="Google Sans"/>
            </a:endParaRP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08/07/2016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Timothy Hayes - Final Defence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0474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Mapa del paquete. Izquierda: los tres informes que establecen hechos (A1 disciplina, A2 bibliometría, A3 normativa). Centro: la propuesta, que se apoya en ellos. Derecha: tres cartas, una por destinatario, cada una con lo que ese órgano puede decidir. La COSCE avala el paquete.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franja muestra la inestabilidad (verde: hasta 5 congresos; ámbar: 3; rojo: 2). Fuente: informe A3. Debajo, los tres niveles normativos: la orden fija la categoría y solo la cambia el Ministerio; los criterios fijan el peso y los aprueba la CNEAI; en acreditación el RD 678/2023 no distingue y basta una aclaración de ANECA.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jpe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dirty="0"/>
              <a:t>Ecosistema Científico y Tecnológico Español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 dirty="0"/>
              <a:t>COSCE 2026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 dirty="0"/>
              <a:t>Transferencia y congresos en Informática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‹#›</a:t>
            </a:fld>
            <a:endParaRPr lang="es-E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980646"/>
            <a:ext cx="10972800" cy="5108776"/>
          </a:xfrm>
        </p:spPr>
        <p:txBody>
          <a:bodyPr/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small" baseline="0"/>
            </a:lvl1pPr>
          </a:lstStyle>
          <a:p>
            <a:r>
              <a:rPr kumimoji="0" lang="es-ES" noProof="0" dirty="0"/>
              <a:t>Índice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dirty="0"/>
              <a:t>Ecosistema Científico y Tecnológico Español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 dirty="0"/>
              <a:t>COSCE 2026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 dirty="0"/>
              <a:t>Transferencia y congresos en Informática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‹#›</a:t>
            </a:fld>
            <a:endParaRPr lang="es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1DE0BF-FA49-4DB9-B7C6-FB47933EEC4B}"/>
              </a:ext>
            </a:extLst>
          </p:cNvPr>
          <p:cNvSpPr txBox="1"/>
          <p:nvPr userDrawn="1"/>
        </p:nvSpPr>
        <p:spPr>
          <a:xfrm>
            <a:off x="624000" y="1269000"/>
            <a:ext cx="10944000" cy="378565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541338" lvl="0" indent="-452438" eaLnBrk="1" latinLnBrk="0" hangingPunct="1">
              <a:spcBef>
                <a:spcPts val="2400"/>
              </a:spcBef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kumimoji="0" lang="es-ES" sz="3200" noProof="0" dirty="0">
                <a:latin typeface="+mj-lt"/>
              </a:rPr>
              <a:t>El criterio nacional</a:t>
            </a:r>
          </a:p>
          <a:p>
            <a:pPr marL="541338" lvl="0" indent="-452438" eaLnBrk="1" latinLnBrk="0" hangingPunct="1">
              <a:spcBef>
                <a:spcPts val="2400"/>
              </a:spcBef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kumimoji="0" lang="es-ES" sz="3200" noProof="0" dirty="0">
                <a:latin typeface="+mj-lt"/>
              </a:rPr>
              <a:t>Congresos de referencia y rankings</a:t>
            </a:r>
          </a:p>
          <a:p>
            <a:pPr marL="541338" lvl="0" indent="-452438" eaLnBrk="1" latinLnBrk="0" hangingPunct="1">
              <a:spcBef>
                <a:spcPts val="2400"/>
              </a:spcBef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kumimoji="0" lang="es-ES" sz="3200" noProof="0" dirty="0">
                <a:latin typeface="+mj-lt"/>
              </a:rPr>
              <a:t>Congresos vs. Revistas: impacto</a:t>
            </a:r>
          </a:p>
          <a:p>
            <a:pPr marL="541338" lvl="0" indent="-452438" eaLnBrk="1" latinLnBrk="0" hangingPunct="1">
              <a:spcBef>
                <a:spcPts val="2400"/>
              </a:spcBef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kumimoji="0" lang="es-ES" sz="3200" noProof="0" dirty="0">
                <a:latin typeface="+mj-lt"/>
              </a:rPr>
              <a:t>Congresos y transferencia</a:t>
            </a:r>
          </a:p>
          <a:p>
            <a:pPr marL="541338" lvl="0" indent="-452438" eaLnBrk="1" latinLnBrk="0" hangingPunct="1">
              <a:spcBef>
                <a:spcPts val="2400"/>
              </a:spcBef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kumimoji="0" lang="es-ES" sz="3200" noProof="0" dirty="0">
                <a:latin typeface="+mj-lt"/>
              </a:rPr>
              <a:t>Conclusiones</a:t>
            </a:r>
          </a:p>
        </p:txBody>
      </p:sp>
    </p:spTree>
    <p:extLst>
      <p:ext uri="{BB962C8B-B14F-4D97-AF65-F5344CB8AC3E}">
        <p14:creationId xmlns:p14="http://schemas.microsoft.com/office/powerpoint/2010/main" val="145005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dirty="0"/>
              <a:t>Ecosistema Científico y Tecnológico Español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 dirty="0"/>
              <a:t>COSCE 2026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 dirty="0"/>
              <a:t>Transferencia y congresos en Informática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91854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85192"/>
            <a:ext cx="10972800" cy="553503"/>
          </a:xfrm>
        </p:spPr>
        <p:txBody>
          <a:bodyPr/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dirty="0"/>
              <a:t>Ecosistema Científico y Tecnológico Español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 dirty="0"/>
              <a:t>COSCE 2026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 dirty="0"/>
              <a:t>Transferencia y congresos en Informática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‹#›</a:t>
            </a:fld>
            <a:endParaRPr lang="es-E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980645"/>
            <a:ext cx="5388864" cy="5108777"/>
          </a:xfrm>
        </p:spPr>
        <p:txBody>
          <a:bodyPr/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980645"/>
            <a:ext cx="5388864" cy="5108777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sce Logo">
            <a:extLst>
              <a:ext uri="{FF2B5EF4-FFF2-40B4-BE49-F238E27FC236}">
                <a16:creationId xmlns:a16="http://schemas.microsoft.com/office/drawing/2014/main" id="{3324F4F7-5371-4AD5-AE35-7B6B13F9F3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01000"/>
            <a:ext cx="16764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DCD334-BC65-4862-A13E-A74ED2A173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4411" y="4581086"/>
            <a:ext cx="1939589" cy="749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DF7F06B-297B-4E26-B5CC-6CB57591A456}"/>
              </a:ext>
            </a:extLst>
          </p:cNvPr>
          <p:cNvSpPr txBox="1"/>
          <p:nvPr userDrawn="1"/>
        </p:nvSpPr>
        <p:spPr>
          <a:xfrm>
            <a:off x="2747810" y="3329980"/>
            <a:ext cx="2202846" cy="907941"/>
          </a:xfrm>
          <a:prstGeom prst="rect">
            <a:avLst/>
          </a:prstGeom>
        </p:spPr>
        <p:txBody>
          <a:bodyPr vert="horz" wrap="square" anchor="ctr" anchorCtr="0">
            <a:spAutoFit/>
          </a:bodyPr>
          <a:lstStyle>
            <a:lvl1pPr indent="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None/>
              <a:defRPr kumimoji="0" sz="2400" b="1">
                <a:latin typeface="+mj-lt"/>
              </a:defRPr>
            </a:lvl1pPr>
            <a:lvl2pPr marL="548640" indent="-274320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>
                <a:solidFill>
                  <a:schemeClr val="tx2"/>
                </a:solidFill>
              </a:defRPr>
            </a:lvl2pPr>
            <a:lvl3pPr marL="822960" indent="-228600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/>
            </a:lvl3pPr>
            <a:lvl4pPr marL="1097280" indent="-228600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/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/>
            </a:lvl5pPr>
            <a:lvl6pPr marL="1645920" indent="-182880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smtClean="0"/>
            </a:lvl6pPr>
            <a:lvl7pPr marL="1828800" indent="-182880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smtClean="0"/>
            </a:lvl7pPr>
            <a:lvl8pPr marL="2011680" indent="-182880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smtClean="0"/>
            </a:lvl8pPr>
            <a:lvl9pPr marL="2194560" indent="-182880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smtClean="0"/>
            </a:lvl9pPr>
          </a:lstStyle>
          <a:p>
            <a:pPr lvl="0"/>
            <a:r>
              <a:rPr lang="en-GB" b="0" dirty="0"/>
              <a:t>Víctor</a:t>
            </a:r>
          </a:p>
          <a:p>
            <a:pPr lvl="0"/>
            <a:r>
              <a:rPr lang="en-GB" b="0" dirty="0"/>
              <a:t>Viñals Yúfera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943F8A-AFDC-4CF7-81A6-F9F8C68FDD16}"/>
              </a:ext>
            </a:extLst>
          </p:cNvPr>
          <p:cNvSpPr txBox="1"/>
          <p:nvPr userDrawn="1"/>
        </p:nvSpPr>
        <p:spPr>
          <a:xfrm>
            <a:off x="1632000" y="5733000"/>
            <a:ext cx="4985659" cy="98488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29DD1"/>
              </a:buClr>
              <a:buSzPct val="76000"/>
              <a:buFont typeface="Wingdings 3"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/>
                <a:ea typeface="+mn-ea"/>
                <a:cs typeface="+mn-cs"/>
              </a:rPr>
              <a:t>Ecosistema Científico y Tecnológico Español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29DD1"/>
              </a:buClr>
              <a:buSzPct val="76000"/>
              <a:buFont typeface="Wingdings 3"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/>
                <a:ea typeface="+mn-ea"/>
                <a:cs typeface="+mn-cs"/>
              </a:rPr>
              <a:t>Jornada Sociedades COSCE 2026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29DD1"/>
              </a:buClr>
              <a:buSzPct val="76000"/>
              <a:buFont typeface="Wingdings 3"/>
              <a:buNone/>
              <a:tabLst/>
              <a:defRPr/>
            </a:pPr>
            <a:r>
              <a:rPr lang="es-ES" sz="1600" b="0" dirty="0"/>
              <a:t>24 septiembre 2026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1E81A1-F8DF-4AC2-A1D5-A22F8D313ADB}"/>
              </a:ext>
            </a:extLst>
          </p:cNvPr>
          <p:cNvSpPr txBox="1"/>
          <p:nvPr userDrawn="1"/>
        </p:nvSpPr>
        <p:spPr>
          <a:xfrm>
            <a:off x="840000" y="765000"/>
            <a:ext cx="8208000" cy="1137043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400" b="1" cap="small" dirty="0">
                <a:solidFill>
                  <a:schemeClr val="tx1"/>
                </a:solidFill>
                <a:latin typeface="+mj-lt"/>
              </a:rPr>
              <a:t>La Transferencia de Conocimiento en Informática:</a:t>
            </a:r>
            <a:br>
              <a:rPr lang="es-ES" sz="2400" b="1" cap="small" dirty="0">
                <a:solidFill>
                  <a:schemeClr val="tx1"/>
                </a:solidFill>
                <a:latin typeface="+mj-lt"/>
              </a:rPr>
            </a:br>
            <a:r>
              <a:rPr lang="es-ES" sz="2400" b="1" cap="small" dirty="0">
                <a:solidFill>
                  <a:schemeClr val="tx1"/>
                </a:solidFill>
                <a:latin typeface="+mj-lt"/>
              </a:rPr>
              <a:t>El Impacto de los Congresos de Referencia</a:t>
            </a:r>
            <a:endParaRPr lang="es-ES" sz="2400" dirty="0">
              <a:latin typeface="+mj-lt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946E67D-6060-4BC9-A5C0-16074739A758}"/>
              </a:ext>
            </a:extLst>
          </p:cNvPr>
          <p:cNvGrpSpPr/>
          <p:nvPr userDrawn="1"/>
        </p:nvGrpSpPr>
        <p:grpSpPr>
          <a:xfrm>
            <a:off x="8112000" y="1878089"/>
            <a:ext cx="3456000" cy="3422911"/>
            <a:chOff x="7968000" y="2238089"/>
            <a:chExt cx="3456000" cy="3422911"/>
          </a:xfrm>
        </p:grpSpPr>
        <p:pic>
          <p:nvPicPr>
            <p:cNvPr id="11" name="Picture 6" descr="12 ideas de Frisos romanos | columnas griegas, arquitectura clasica, lapida">
              <a:extLst>
                <a:ext uri="{FF2B5EF4-FFF2-40B4-BE49-F238E27FC236}">
                  <a16:creationId xmlns:a16="http://schemas.microsoft.com/office/drawing/2014/main" id="{4D9A674F-8D75-4097-AD6D-D92EE3B3E5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28000" y="2238089"/>
              <a:ext cx="2736000" cy="34229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5E5F2B9-AD04-493D-B6A6-081EF9203698}"/>
                </a:ext>
              </a:extLst>
            </p:cNvPr>
            <p:cNvSpPr txBox="1"/>
            <p:nvPr/>
          </p:nvSpPr>
          <p:spPr>
            <a:xfrm>
              <a:off x="10920000" y="3861000"/>
              <a:ext cx="504000" cy="40011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l"/>
              <a:r>
                <a:rPr lang="es-ES" sz="2000" b="1" dirty="0">
                  <a:solidFill>
                    <a:srgbClr val="0000FF"/>
                  </a:solidFill>
                </a:rPr>
                <a:t>C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1001E37-F193-4D35-A9A7-F7DB78862CD2}"/>
                </a:ext>
              </a:extLst>
            </p:cNvPr>
            <p:cNvSpPr txBox="1"/>
            <p:nvPr/>
          </p:nvSpPr>
          <p:spPr>
            <a:xfrm>
              <a:off x="7968000" y="3861000"/>
              <a:ext cx="504000" cy="40011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l"/>
              <a:r>
                <a:rPr lang="es-ES" sz="2000" b="1" dirty="0">
                  <a:solidFill>
                    <a:srgbClr val="0000FF"/>
                  </a:solidFill>
                </a:rPr>
                <a:t>R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8A3AD2A-5100-42A7-9428-22BE0A4F10FE}"/>
                </a:ext>
              </a:extLst>
            </p:cNvPr>
            <p:cNvSpPr txBox="1"/>
            <p:nvPr/>
          </p:nvSpPr>
          <p:spPr>
            <a:xfrm>
              <a:off x="9480000" y="2380890"/>
              <a:ext cx="504000" cy="40011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l"/>
              <a:r>
                <a:rPr lang="es-ES" sz="2000" b="1" dirty="0">
                  <a:solidFill>
                    <a:srgbClr val="0000FF"/>
                  </a:solidFill>
                </a:rPr>
                <a:t>P</a:t>
              </a:r>
            </a:p>
          </p:txBody>
        </p:sp>
      </p:grpSp>
      <p:pic>
        <p:nvPicPr>
          <p:cNvPr id="2" name="Picture 2" descr="Programamos se convierte en socio institucional de la Sociedad Científica  Informática de España – Programamos">
            <a:extLst>
              <a:ext uri="{FF2B5EF4-FFF2-40B4-BE49-F238E27FC236}">
                <a16:creationId xmlns:a16="http://schemas.microsoft.com/office/drawing/2014/main" id="{30A80081-021F-4615-9C3E-1E242FC34BE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9" r="8366" b="35226"/>
          <a:stretch/>
        </p:blipFill>
        <p:spPr bwMode="auto">
          <a:xfrm>
            <a:off x="1920000" y="4466772"/>
            <a:ext cx="1897990" cy="97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n 8">
            <a:extLst>
              <a:ext uri="{FF2B5EF4-FFF2-40B4-BE49-F238E27FC236}">
                <a16:creationId xmlns:a16="http://schemas.microsoft.com/office/drawing/2014/main" id="{BDEE3365-D6BC-4671-9B65-CAF98BC74F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99"/>
          <a:stretch/>
        </p:blipFill>
        <p:spPr>
          <a:xfrm>
            <a:off x="6715719" y="5877000"/>
            <a:ext cx="2579059" cy="873640"/>
          </a:xfrm>
          <a:prstGeom prst="rect">
            <a:avLst/>
          </a:prstGeom>
        </p:spPr>
      </p:pic>
      <p:pic>
        <p:nvPicPr>
          <p:cNvPr id="20" name="Picture 19" descr="Inicio">
            <a:extLst>
              <a:ext uri="{FF2B5EF4-FFF2-40B4-BE49-F238E27FC236}">
                <a16:creationId xmlns:a16="http://schemas.microsoft.com/office/drawing/2014/main" id="{553227D5-D8E3-4D52-99D7-332DE8374DE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5901" y="6012328"/>
            <a:ext cx="2888659" cy="62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76785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81706"/>
            <a:ext cx="10972800" cy="559930"/>
          </a:xfrm>
          <a:prstGeom prst="rect">
            <a:avLst/>
          </a:prstGeom>
        </p:spPr>
        <p:txBody>
          <a:bodyPr vert="horz" anchor="ctr" anchorCtr="0">
            <a:no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974902"/>
            <a:ext cx="10972800" cy="51145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noProof="0" dirty="0"/>
              <a:t>Click to edit Master text styles</a:t>
            </a:r>
          </a:p>
          <a:p>
            <a:pPr lvl="1" eaLnBrk="1" latinLnBrk="0" hangingPunct="1"/>
            <a:r>
              <a:rPr kumimoji="0" lang="en-US" noProof="0" dirty="0"/>
              <a:t>Second level</a:t>
            </a:r>
          </a:p>
          <a:p>
            <a:pPr lvl="2" eaLnBrk="1" latinLnBrk="0" hangingPunct="1"/>
            <a:r>
              <a:rPr kumimoji="0" lang="en-US" noProof="0" dirty="0"/>
              <a:t>Third level</a:t>
            </a:r>
          </a:p>
          <a:p>
            <a:pPr lvl="3" eaLnBrk="1" latinLnBrk="0" hangingPunct="1"/>
            <a:r>
              <a:rPr kumimoji="0" lang="en-US" noProof="0" dirty="0"/>
              <a:t>Fourth level</a:t>
            </a:r>
          </a:p>
          <a:p>
            <a:pPr lvl="4" eaLnBrk="1" latinLnBrk="0" hangingPunct="1"/>
            <a:r>
              <a:rPr kumimoji="0" lang="en-US" noProof="0" dirty="0"/>
              <a:t>Fifth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77175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Ecosistema Científico y Tecnológico Español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 dirty="0"/>
              <a:t>COSCE 2026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 dirty="0"/>
              <a:t>Transferencia y congresos en Informática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A490C5D-AEA8-4823-B9B3-806910A0ECF7}" type="slidenum">
              <a:rPr lang="es-ES" smtClean="0"/>
              <a:pPr/>
              <a:t>‹#›</a:t>
            </a:fld>
            <a:endParaRPr lang="es-E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242343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843616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10" y="6447424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9" r:id="rId1"/>
    <p:sldLayoutId id="2147484149" r:id="rId2"/>
    <p:sldLayoutId id="2147484140" r:id="rId3"/>
    <p:sldLayoutId id="2147484131" r:id="rId4"/>
    <p:sldLayoutId id="2147484148" r:id="rId5"/>
  </p:sldLayoutIdLst>
  <p:hf hdr="0" dt="0"/>
  <p:txStyles>
    <p:titleStyle>
      <a:lvl1pPr algn="ctr" rtl="0" eaLnBrk="1" latinLnBrk="0" hangingPunct="1">
        <a:spcBef>
          <a:spcPct val="0"/>
        </a:spcBef>
        <a:buNone/>
        <a:defRPr kumimoji="0"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image" Target="../media/image10.jpeg"/><Relationship Id="rId4" Type="http://schemas.openxmlformats.org/officeDocument/2006/relationships/image" Target="../media/image1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portal.core.edu.au/conf-ranks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jmlr.org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e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928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57"/>
    </mc:Choice>
    <mc:Fallback xmlns="">
      <p:transition spd="slow" advTm="695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2B149E-19DE-4C26-8387-49B9B763D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 dirty="0" err="1"/>
              <a:t>Motivación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90EF279-0185-45C0-8A9F-6181A85AE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Computing energy and power: efficiency and control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65E7B6D-92E2-4D97-9D59-4AF769DB6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2</a:t>
            </a:fld>
            <a:endParaRPr lang="es-ES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5DB0C2E-4A36-4028-B652-1BE8D64896A2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609600" y="980646"/>
            <a:ext cx="10972800" cy="5108776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endParaRPr lang="en-GB" dirty="0"/>
          </a:p>
          <a:p>
            <a:pPr marL="0" indent="0" algn="ctr">
              <a:lnSpc>
                <a:spcPts val="3000"/>
              </a:lnSpc>
              <a:buNone/>
            </a:pPr>
            <a:r>
              <a:rPr lang="en-GB" dirty="0"/>
              <a:t>“</a:t>
            </a:r>
            <a:r>
              <a:rPr lang="es-ES" dirty="0"/>
              <a:t>En los congresos de informática exponemos oralmente unas ideas</a:t>
            </a:r>
            <a:br>
              <a:rPr lang="es-ES" dirty="0"/>
            </a:br>
            <a:r>
              <a:rPr lang="es-ES" dirty="0"/>
              <a:t>a partir de un resumen por escrito de una página</a:t>
            </a:r>
            <a:br>
              <a:rPr lang="es-ES" dirty="0"/>
            </a:br>
            <a:r>
              <a:rPr lang="es-ES" dirty="0"/>
              <a:t>y las debatimos en profundidad</a:t>
            </a:r>
            <a:r>
              <a:rPr lang="en-GB" dirty="0"/>
              <a:t>”</a:t>
            </a:r>
          </a:p>
          <a:p>
            <a:pPr marL="0" indent="0" algn="r">
              <a:buClr>
                <a:srgbClr val="629DD1"/>
              </a:buClr>
              <a:buNone/>
            </a:pPr>
            <a:r>
              <a:rPr lang="en-GB" i="1" dirty="0">
                <a:solidFill>
                  <a:prstClr val="black"/>
                </a:solidFill>
              </a:rPr>
              <a:t>– antes</a:t>
            </a:r>
          </a:p>
          <a:p>
            <a:pPr marL="0" indent="0" algn="r">
              <a:buClr>
                <a:srgbClr val="629DD1"/>
              </a:buClr>
              <a:buNone/>
            </a:pPr>
            <a:endParaRPr lang="en-GB" dirty="0"/>
          </a:p>
          <a:p>
            <a:pPr marL="0" indent="0" algn="ctr">
              <a:lnSpc>
                <a:spcPts val="3000"/>
              </a:lnSpc>
              <a:buNone/>
            </a:pPr>
            <a:r>
              <a:rPr lang="en-GB" dirty="0"/>
              <a:t>“E</a:t>
            </a:r>
            <a:r>
              <a:rPr lang="es-ES" dirty="0"/>
              <a:t>n informática</a:t>
            </a:r>
            <a:r>
              <a:rPr lang="en-GB" dirty="0"/>
              <a:t> </a:t>
            </a:r>
            <a:r>
              <a:rPr lang="es-ES" dirty="0"/>
              <a:t>los congresos internacionales selectivos</a:t>
            </a:r>
            <a:br>
              <a:rPr lang="es-ES" dirty="0"/>
            </a:br>
            <a:r>
              <a:rPr lang="es-ES" dirty="0"/>
              <a:t>son el foro terminal, competitivo y de mayor prestigio</a:t>
            </a:r>
            <a:br>
              <a:rPr lang="es-ES" dirty="0"/>
            </a:br>
            <a:r>
              <a:rPr lang="es-ES" dirty="0"/>
              <a:t>para la publicación de resultados originales;</a:t>
            </a:r>
            <a:br>
              <a:rPr lang="es-ES" dirty="0"/>
            </a:br>
            <a:r>
              <a:rPr lang="es-ES" dirty="0"/>
              <a:t>la transferencia conocimiento con la empresa</a:t>
            </a:r>
            <a:br>
              <a:rPr lang="es-ES" dirty="0"/>
            </a:br>
            <a:r>
              <a:rPr lang="es-ES" dirty="0"/>
              <a:t>es intensa y bidireccional</a:t>
            </a:r>
            <a:r>
              <a:rPr lang="en-GB" dirty="0"/>
              <a:t>”</a:t>
            </a:r>
          </a:p>
          <a:p>
            <a:pPr marL="0" indent="0" algn="r">
              <a:buNone/>
            </a:pPr>
            <a:r>
              <a:rPr lang="en-GB" i="1" dirty="0"/>
              <a:t>– </a:t>
            </a:r>
            <a:r>
              <a:rPr lang="es-ES" i="1" dirty="0"/>
              <a:t>después de esta presentación</a:t>
            </a:r>
          </a:p>
          <a:p>
            <a:pPr marL="0" indent="0" algn="r">
              <a:buNone/>
            </a:pPr>
            <a:r>
              <a:rPr lang="es-ES" i="1" dirty="0"/>
              <a:t>… espero </a:t>
            </a:r>
            <a:r>
              <a:rPr lang="en-GB" i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560769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5629E-5459-4941-A596-CB2F30FCD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DB226E-B876-4F4A-B67A-256647980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DFAAF-DE0E-428C-8332-A5F33906E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05271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CC0E3-EB79-456A-B973-BC5E600C8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Situación: ANECA + </a:t>
            </a:r>
            <a:r>
              <a:rPr lang="es-ES" sz="2800" dirty="0"/>
              <a:t>(CoARA</a:t>
            </a:r>
            <a:r>
              <a:rPr lang="es-ES" sz="2800" baseline="30000" dirty="0">
                <a:solidFill>
                  <a:srgbClr val="FF0000"/>
                </a:solidFill>
              </a:rPr>
              <a:t>1</a:t>
            </a:r>
            <a:r>
              <a:rPr lang="es-ES" sz="2800" dirty="0"/>
              <a:t> y DORA</a:t>
            </a:r>
            <a:r>
              <a:rPr lang="es-ES" sz="2800" baseline="30000" dirty="0">
                <a:solidFill>
                  <a:srgbClr val="FF0000"/>
                </a:solidFill>
              </a:rPr>
              <a:t>2</a:t>
            </a:r>
            <a:r>
              <a:rPr lang="es-ES" sz="2800" dirty="0"/>
              <a:t>, abril 2023)</a:t>
            </a:r>
            <a:endParaRPr lang="es-E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342A92-9900-4175-8620-FB56E77B7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47E80-397F-4F67-BCB2-4825290AC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4</a:t>
            </a:fld>
            <a:endParaRPr lang="es-E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99834C-9464-4E0B-9316-CB8F426E869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980646"/>
            <a:ext cx="10972800" cy="5256354"/>
          </a:xfrm>
        </p:spPr>
        <p:txBody>
          <a:bodyPr>
            <a:normAutofit fontScale="40000" lnSpcReduction="20000"/>
          </a:bodyPr>
          <a:lstStyle/>
          <a:p>
            <a:pPr marL="274320" lvl="1" indent="0" algn="ctr">
              <a:buNone/>
            </a:pPr>
            <a:r>
              <a:rPr lang="es-ES" sz="5500" b="1" dirty="0"/>
              <a:t>Criterios de evaluación Convocatoria de sexenios de investigación 2023-2025</a:t>
            </a:r>
          </a:p>
          <a:p>
            <a:pPr marL="274320" lvl="1" indent="0" algn="ctr">
              <a:buNone/>
            </a:pPr>
            <a:r>
              <a:rPr lang="es-ES" sz="4900" b="1" u="none" strike="noStrike" dirty="0">
                <a:effectLst/>
              </a:rPr>
              <a:t>Subcampo 6.2 (Ingenierías de la Comunicación, Computación y Electrónica)</a:t>
            </a:r>
            <a:endParaRPr lang="es-ES" sz="4900" b="0" u="none" strike="noStrike" dirty="0">
              <a:effectLst/>
            </a:endParaRP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s-ES" sz="5200" b="1" dirty="0"/>
              <a:t>C</a:t>
            </a:r>
            <a:r>
              <a:rPr lang="es-ES" sz="5200" b="1" dirty="0">
                <a:solidFill>
                  <a:schemeClr val="tx1"/>
                </a:solidFill>
              </a:rPr>
              <a:t>inco aportaciones a presentar</a:t>
            </a:r>
            <a:br>
              <a:rPr lang="es-ES" sz="5200" b="1" dirty="0">
                <a:solidFill>
                  <a:schemeClr val="tx1"/>
                </a:solidFill>
              </a:rPr>
            </a:br>
            <a:r>
              <a:rPr lang="es-ES" sz="4500" dirty="0">
                <a:solidFill>
                  <a:schemeClr val="tx1"/>
                </a:solidFill>
              </a:rPr>
              <a:t>(</a:t>
            </a:r>
            <a:r>
              <a:rPr lang="es-ES" sz="4500" b="1" dirty="0">
                <a:solidFill>
                  <a:schemeClr val="tx1"/>
                </a:solidFill>
              </a:rPr>
              <a:t> contenido e impacto científico y social </a:t>
            </a:r>
            <a:r>
              <a:rPr lang="es-ES" sz="45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↑ </a:t>
            </a:r>
            <a:r>
              <a:rPr lang="es-ES" sz="4500" dirty="0">
                <a:solidFill>
                  <a:schemeClr val="tx1"/>
                </a:solidFill>
              </a:rPr>
              <a:t>)</a:t>
            </a:r>
            <a:r>
              <a:rPr lang="es-ES" sz="4500" b="1" dirty="0">
                <a:solidFill>
                  <a:schemeClr val="tx1"/>
                </a:solidFill>
              </a:rPr>
              <a:t> </a:t>
            </a:r>
            <a:endParaRPr lang="es-ES" sz="5200" dirty="0"/>
          </a:p>
          <a:p>
            <a:pPr lvl="1">
              <a:lnSpc>
                <a:spcPct val="120000"/>
              </a:lnSpc>
            </a:pPr>
            <a:r>
              <a:rPr lang="es-ES" sz="4600" dirty="0"/>
              <a:t>Aportaciones </a:t>
            </a:r>
            <a:r>
              <a:rPr lang="es-ES" sz="4600" b="1" dirty="0"/>
              <a:t>ordinarias</a:t>
            </a:r>
            <a:r>
              <a:rPr lang="es-ES" sz="4600" dirty="0"/>
              <a:t>:</a:t>
            </a:r>
            <a:endParaRPr lang="es-ES" sz="4600" dirty="0">
              <a:solidFill>
                <a:srgbClr val="0000FF"/>
              </a:solidFill>
            </a:endParaRPr>
          </a:p>
          <a:p>
            <a:pPr lvl="2">
              <a:lnSpc>
                <a:spcPct val="120000"/>
              </a:lnSpc>
            </a:pPr>
            <a:r>
              <a:rPr lang="es-ES" sz="3900" dirty="0">
                <a:solidFill>
                  <a:srgbClr val="0000FF"/>
                </a:solidFill>
              </a:rPr>
              <a:t>artículos científicos,</a:t>
            </a:r>
            <a:r>
              <a:rPr lang="es-ES" sz="3900" dirty="0"/>
              <a:t> valorables si aparecen …</a:t>
            </a:r>
          </a:p>
          <a:p>
            <a:pPr lvl="3">
              <a:lnSpc>
                <a:spcPct val="120000"/>
              </a:lnSpc>
            </a:pPr>
            <a:r>
              <a:rPr lang="es-ES" sz="3400" dirty="0"/>
              <a:t>en </a:t>
            </a:r>
            <a:r>
              <a:rPr lang="es-ES" sz="4000" b="1" dirty="0">
                <a:solidFill>
                  <a:srgbClr val="0000FF"/>
                </a:solidFill>
              </a:rPr>
              <a:t>Revistas</a:t>
            </a:r>
            <a:r>
              <a:rPr lang="es-ES" sz="3400" dirty="0"/>
              <a:t> de calidad contrastada</a:t>
            </a:r>
            <a:br>
              <a:rPr lang="es-ES" sz="3400" dirty="0"/>
            </a:br>
            <a:r>
              <a:rPr lang="es-ES" sz="3400" dirty="0"/>
              <a:t>o indexados en bases de datos bibliográficas de reconocido prestigio</a:t>
            </a:r>
          </a:p>
          <a:p>
            <a:pPr lvl="3">
              <a:lnSpc>
                <a:spcPct val="120000"/>
              </a:lnSpc>
            </a:pPr>
            <a:r>
              <a:rPr lang="es-ES" sz="3400" dirty="0"/>
              <a:t>en plataformas de resultados de investigación como Open </a:t>
            </a:r>
            <a:r>
              <a:rPr lang="es-ES" sz="3400" dirty="0" err="1"/>
              <a:t>Research</a:t>
            </a:r>
            <a:r>
              <a:rPr lang="es-ES" sz="3400" dirty="0"/>
              <a:t> </a:t>
            </a:r>
            <a:r>
              <a:rPr lang="es-ES" sz="3400" dirty="0" err="1"/>
              <a:t>Europe</a:t>
            </a:r>
            <a:endParaRPr lang="es-ES" sz="3700" dirty="0">
              <a:solidFill>
                <a:srgbClr val="0000FF"/>
              </a:solidFill>
            </a:endParaRPr>
          </a:p>
          <a:p>
            <a:pPr lvl="2">
              <a:lnSpc>
                <a:spcPct val="120000"/>
              </a:lnSpc>
            </a:pPr>
            <a:r>
              <a:rPr lang="es-ES" sz="3900" b="1" dirty="0">
                <a:solidFill>
                  <a:srgbClr val="0000FF"/>
                </a:solidFill>
              </a:rPr>
              <a:t>Patentes</a:t>
            </a:r>
            <a:r>
              <a:rPr lang="es-ES" sz="3900" dirty="0">
                <a:solidFill>
                  <a:srgbClr val="0000FF"/>
                </a:solidFill>
              </a:rPr>
              <a:t>, </a:t>
            </a:r>
            <a:r>
              <a:rPr lang="es-ES" sz="3900" dirty="0"/>
              <a:t>valorables si</a:t>
            </a:r>
          </a:p>
          <a:p>
            <a:pPr lvl="3">
              <a:lnSpc>
                <a:spcPct val="120000"/>
              </a:lnSpc>
            </a:pPr>
            <a:r>
              <a:rPr lang="es-ES" sz="3800" dirty="0"/>
              <a:t>están en explotación</a:t>
            </a:r>
          </a:p>
          <a:p>
            <a:pPr lvl="3">
              <a:lnSpc>
                <a:spcPct val="120000"/>
              </a:lnSpc>
            </a:pPr>
            <a:r>
              <a:rPr lang="es-ES" sz="3800" dirty="0"/>
              <a:t>sino, se han concedido con examen previo (tipo B2)</a:t>
            </a:r>
            <a:endParaRPr lang="es-ES" sz="3900" dirty="0">
              <a:solidFill>
                <a:srgbClr val="0000FF"/>
              </a:solidFill>
            </a:endParaRPr>
          </a:p>
          <a:p>
            <a:pPr lvl="1">
              <a:lnSpc>
                <a:spcPct val="120000"/>
              </a:lnSpc>
            </a:pPr>
            <a:r>
              <a:rPr lang="es-ES" sz="4600" dirty="0"/>
              <a:t>Aportaciones </a:t>
            </a:r>
            <a:r>
              <a:rPr lang="es-ES" sz="4600" b="1" dirty="0"/>
              <a:t>extraordinarias</a:t>
            </a:r>
            <a:r>
              <a:rPr lang="es-ES" sz="4600" dirty="0"/>
              <a:t>, </a:t>
            </a:r>
            <a:r>
              <a:rPr lang="es-ES" sz="4600" dirty="0" err="1"/>
              <a:t>max</a:t>
            </a:r>
            <a:r>
              <a:rPr lang="es-ES" sz="4600" dirty="0"/>
              <a:t> </a:t>
            </a:r>
            <a:r>
              <a:rPr lang="es-ES" sz="4600" b="1" dirty="0"/>
              <a:t>tres</a:t>
            </a:r>
            <a:endParaRPr lang="es-ES" sz="4600" dirty="0"/>
          </a:p>
          <a:p>
            <a:pPr lvl="2">
              <a:lnSpc>
                <a:spcPct val="120000"/>
              </a:lnSpc>
            </a:pPr>
            <a:r>
              <a:rPr lang="es-ES" sz="3900" dirty="0">
                <a:solidFill>
                  <a:srgbClr val="0000FF"/>
                </a:solidFill>
              </a:rPr>
              <a:t>aportaciones a </a:t>
            </a:r>
            <a:r>
              <a:rPr lang="es-ES" sz="3900" b="1" dirty="0">
                <a:solidFill>
                  <a:srgbClr val="0000FF"/>
                </a:solidFill>
              </a:rPr>
              <a:t>Congresos</a:t>
            </a:r>
            <a:r>
              <a:rPr lang="es-ES" sz="3900" dirty="0">
                <a:solidFill>
                  <a:srgbClr val="0000FF"/>
                </a:solidFill>
              </a:rPr>
              <a:t>, valorables si son</a:t>
            </a:r>
          </a:p>
          <a:p>
            <a:pPr lvl="3">
              <a:lnSpc>
                <a:spcPct val="120000"/>
              </a:lnSpc>
            </a:pPr>
            <a:r>
              <a:rPr lang="es-ES" sz="3800" dirty="0"/>
              <a:t>congresos de calidad contrastada o</a:t>
            </a:r>
            <a:br>
              <a:rPr lang="es-ES" sz="3800" dirty="0"/>
            </a:br>
            <a:r>
              <a:rPr lang="es-ES" sz="3800" dirty="0"/>
              <a:t>congresos indexados en listas de referencia de reconocido prestigio</a:t>
            </a:r>
            <a:endParaRPr lang="es-ES" sz="3700" dirty="0"/>
          </a:p>
          <a:p>
            <a:pPr lvl="2">
              <a:lnSpc>
                <a:spcPct val="120000"/>
              </a:lnSpc>
            </a:pPr>
            <a:r>
              <a:rPr lang="es-ES" sz="3900" dirty="0"/>
              <a:t>conjuntos de datos o contribuciones a desarrollos tecnológicos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69DF67-47FC-43E8-98BB-E15DF17655C2}"/>
              </a:ext>
            </a:extLst>
          </p:cNvPr>
          <p:cNvSpPr txBox="1"/>
          <p:nvPr/>
        </p:nvSpPr>
        <p:spPr>
          <a:xfrm>
            <a:off x="3424093" y="6310659"/>
            <a:ext cx="5049406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 anchorCtr="0">
            <a:spAutoFit/>
          </a:bodyPr>
          <a:lstStyle/>
          <a:p>
            <a:pPr marL="342900" indent="-342900" algn="l">
              <a:buClr>
                <a:srgbClr val="FF0000"/>
              </a:buClr>
              <a:buAutoNum type="arabicPeriod"/>
            </a:pPr>
            <a:r>
              <a:rPr lang="en-US" sz="1400" dirty="0">
                <a:latin typeface="+mj-lt"/>
              </a:rPr>
              <a:t>Coalition for Advancing Research Assessment </a:t>
            </a:r>
          </a:p>
          <a:p>
            <a:pPr marL="342900" indent="-342900" algn="l">
              <a:buClr>
                <a:srgbClr val="FF0000"/>
              </a:buClr>
              <a:buFont typeface="+mj-lt"/>
              <a:buAutoNum type="arabicPeriod"/>
            </a:pPr>
            <a:r>
              <a:rPr lang="en-US" sz="1400" dirty="0">
                <a:latin typeface="+mj-lt"/>
              </a:rPr>
              <a:t>San Francisco Declaration on Research Assessment</a:t>
            </a:r>
            <a:endParaRPr lang="es-ES" sz="1400" dirty="0">
              <a:latin typeface="+mj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683BE9-DB64-4F7C-BCFD-3A38A0753AA7}"/>
              </a:ext>
            </a:extLst>
          </p:cNvPr>
          <p:cNvGrpSpPr/>
          <p:nvPr/>
        </p:nvGrpSpPr>
        <p:grpSpPr>
          <a:xfrm>
            <a:off x="7968000" y="2238089"/>
            <a:ext cx="3456000" cy="3422911"/>
            <a:chOff x="7968000" y="2238089"/>
            <a:chExt cx="3456000" cy="3422911"/>
          </a:xfrm>
        </p:grpSpPr>
        <p:pic>
          <p:nvPicPr>
            <p:cNvPr id="1030" name="Picture 6" descr="12 ideas de Frisos romanos | columnas griegas, arquitectura clasica, lapida">
              <a:extLst>
                <a:ext uri="{FF2B5EF4-FFF2-40B4-BE49-F238E27FC236}">
                  <a16:creationId xmlns:a16="http://schemas.microsoft.com/office/drawing/2014/main" id="{D04018C7-2C64-4645-9227-13898B3004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28000" y="2238089"/>
              <a:ext cx="2736000" cy="34229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795C395-DDCC-44A6-A6C6-0F9575C06FF5}"/>
                </a:ext>
              </a:extLst>
            </p:cNvPr>
            <p:cNvSpPr txBox="1"/>
            <p:nvPr/>
          </p:nvSpPr>
          <p:spPr>
            <a:xfrm>
              <a:off x="10920000" y="3861000"/>
              <a:ext cx="504000" cy="40011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l"/>
              <a:r>
                <a:rPr lang="es-ES" sz="2000" b="1" dirty="0">
                  <a:solidFill>
                    <a:srgbClr val="0000FF"/>
                  </a:solidFill>
                </a:rPr>
                <a:t>C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4BB59F1-F6C5-4D0E-AF54-3C05F1014FBA}"/>
                </a:ext>
              </a:extLst>
            </p:cNvPr>
            <p:cNvSpPr txBox="1"/>
            <p:nvPr/>
          </p:nvSpPr>
          <p:spPr>
            <a:xfrm>
              <a:off x="7968000" y="3861000"/>
              <a:ext cx="504000" cy="40011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l"/>
              <a:r>
                <a:rPr lang="es-ES" sz="2000" b="1" dirty="0">
                  <a:solidFill>
                    <a:srgbClr val="0000FF"/>
                  </a:solidFill>
                </a:rPr>
                <a:t>R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75CFFBF-7E9D-4A43-B2BC-5E56ECEA3FCB}"/>
                </a:ext>
              </a:extLst>
            </p:cNvPr>
            <p:cNvSpPr txBox="1"/>
            <p:nvPr/>
          </p:nvSpPr>
          <p:spPr>
            <a:xfrm>
              <a:off x="9480000" y="2380890"/>
              <a:ext cx="504000" cy="40011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l"/>
              <a:r>
                <a:rPr lang="es-ES" sz="2000" b="1" dirty="0">
                  <a:solidFill>
                    <a:srgbClr val="0000FF"/>
                  </a:solidFill>
                </a:rPr>
                <a:t>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7656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CC0E3-EB79-456A-B973-BC5E600C8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tracción de los criterios de ANECA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342A92-9900-4175-8620-FB56E77B7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47E80-397F-4F67-BCB2-4825290AC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5</a:t>
            </a:fld>
            <a:endParaRPr lang="es-ES" dirty="0"/>
          </a:p>
        </p:txBody>
      </p:sp>
      <p:pic>
        <p:nvPicPr>
          <p:cNvPr id="8" name="Picture 4" descr="out of the blue - rayo fotografías e imágenes de stock">
            <a:extLst>
              <a:ext uri="{FF2B5EF4-FFF2-40B4-BE49-F238E27FC236}">
                <a16:creationId xmlns:a16="http://schemas.microsoft.com/office/drawing/2014/main" id="{C8ACDAEB-BA65-46F5-869B-19B969B9F5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82" t="25477"/>
          <a:stretch/>
        </p:blipFill>
        <p:spPr bwMode="auto">
          <a:xfrm>
            <a:off x="7787989" y="1402578"/>
            <a:ext cx="4068011" cy="269054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4DCCD716-0149-4092-B332-33E72FA6BC82}"/>
              </a:ext>
            </a:extLst>
          </p:cNvPr>
          <p:cNvGrpSpPr/>
          <p:nvPr/>
        </p:nvGrpSpPr>
        <p:grpSpPr>
          <a:xfrm>
            <a:off x="5497695" y="1396085"/>
            <a:ext cx="6187152" cy="4768915"/>
            <a:chOff x="5497695" y="1252085"/>
            <a:chExt cx="6187152" cy="476891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CEE3217-E9BC-4452-9E6E-7E14725EB0EB}"/>
                </a:ext>
              </a:extLst>
            </p:cNvPr>
            <p:cNvSpPr txBox="1"/>
            <p:nvPr/>
          </p:nvSpPr>
          <p:spPr>
            <a:xfrm>
              <a:off x="5497695" y="1252085"/>
              <a:ext cx="2160000" cy="25545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 anchor="ctr" anchorCtr="0">
              <a:spAutoFit/>
            </a:bodyPr>
            <a:lstStyle/>
            <a:p>
              <a:pPr marL="285750" indent="-285750" algn="l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s-ES" sz="2000" dirty="0"/>
                <a:t>Nación</a:t>
              </a:r>
            </a:p>
            <a:p>
              <a:pPr marL="285750" indent="-285750" algn="l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s-ES" sz="2000" dirty="0"/>
                <a:t>CC. AA.</a:t>
              </a:r>
            </a:p>
            <a:p>
              <a:pPr marL="285750" indent="-285750" algn="l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s-ES" sz="2000" dirty="0"/>
                <a:t>Universidades</a:t>
              </a:r>
            </a:p>
            <a:p>
              <a:pPr marL="285750" indent="-285750" algn="l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s-ES" sz="2000" dirty="0"/>
                <a:t>Departamentos</a:t>
              </a:r>
            </a:p>
            <a:p>
              <a:pPr marL="285750" indent="-285750" algn="l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s-ES" sz="2000" dirty="0"/>
                <a:t>Programas de doctorado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EEABD6-7993-40E8-B429-ABDA5BD217BC}"/>
                </a:ext>
              </a:extLst>
            </p:cNvPr>
            <p:cNvSpPr txBox="1"/>
            <p:nvPr/>
          </p:nvSpPr>
          <p:spPr>
            <a:xfrm>
              <a:off x="7868847" y="4082008"/>
              <a:ext cx="3816000" cy="19389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 anchor="ctr" anchorCtr="0">
              <a:spAutoFit/>
            </a:bodyPr>
            <a:lstStyle/>
            <a:p>
              <a:pPr marL="285750" indent="-28575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s-ES" sz="2000" dirty="0"/>
                <a:t>Acreditación cuerpos docentes</a:t>
              </a:r>
            </a:p>
            <a:p>
              <a:pPr marL="285750" indent="-28575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s-ES" sz="2000" dirty="0"/>
                <a:t>Premios</a:t>
              </a:r>
            </a:p>
            <a:p>
              <a:pPr marL="285750" indent="-28575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s-ES" sz="2000" dirty="0"/>
                <a:t>Proyectos</a:t>
              </a:r>
            </a:p>
            <a:p>
              <a:pPr marL="285750" indent="-28575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s-ES" sz="2000" dirty="0"/>
                <a:t>Becas</a:t>
              </a:r>
            </a:p>
            <a:p>
              <a:pPr marL="285750" indent="-28575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s-ES" sz="2000" dirty="0"/>
                <a:t>Selección de personal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9AB3D83-4195-426F-9D46-F20FEA95D807}"/>
                </a:ext>
              </a:extLst>
            </p:cNvPr>
            <p:cNvSpPr txBox="1"/>
            <p:nvPr/>
          </p:nvSpPr>
          <p:spPr>
            <a:xfrm>
              <a:off x="6845079" y="3565488"/>
              <a:ext cx="618921" cy="123110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s-ES" sz="8000" dirty="0">
                  <a:sym typeface="Symbol" panose="05050102010706020507" pitchFamily="18" charset="2"/>
                </a:rPr>
                <a:t></a:t>
              </a:r>
              <a:endParaRPr lang="es-ES" sz="8000" dirty="0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FC6B122-EAA4-4E37-A84C-C574DBF23AA2}"/>
              </a:ext>
            </a:extLst>
          </p:cNvPr>
          <p:cNvSpPr txBox="1"/>
          <p:nvPr/>
        </p:nvSpPr>
        <p:spPr>
          <a:xfrm>
            <a:off x="-1896000" y="5314612"/>
            <a:ext cx="792000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s-ES" sz="2000" dirty="0"/>
              <a:t>BOE</a:t>
            </a:r>
          </a:p>
        </p:txBody>
      </p:sp>
      <p:sp>
        <p:nvSpPr>
          <p:cNvPr id="21" name="Thought Bubble: Cloud 20">
            <a:extLst>
              <a:ext uri="{FF2B5EF4-FFF2-40B4-BE49-F238E27FC236}">
                <a16:creationId xmlns:a16="http://schemas.microsoft.com/office/drawing/2014/main" id="{AB1F0979-081D-41C5-9966-F6920D207085}"/>
              </a:ext>
            </a:extLst>
          </p:cNvPr>
          <p:cNvSpPr/>
          <p:nvPr/>
        </p:nvSpPr>
        <p:spPr>
          <a:xfrm>
            <a:off x="8616000" y="981000"/>
            <a:ext cx="1080000" cy="648000"/>
          </a:xfrm>
          <a:prstGeom prst="cloudCallout">
            <a:avLst>
              <a:gd name="adj1" fmla="val 10329"/>
              <a:gd name="adj2" fmla="val 50986"/>
            </a:avLst>
          </a:prstGeom>
          <a:solidFill>
            <a:srgbClr val="E8F0F6"/>
          </a:solidFill>
          <a:ln w="12700">
            <a:solidFill>
              <a:srgbClr val="4252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2000">
                <a:solidFill>
                  <a:schemeClr val="tx1"/>
                </a:solidFill>
              </a:rPr>
              <a:t>BOE</a:t>
            </a:r>
            <a:endParaRPr lang="es-ES" sz="2000" dirty="0">
              <a:solidFill>
                <a:schemeClr val="tx1"/>
              </a:solidFill>
            </a:endParaRP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2232A9B8-4802-4C3C-A217-F2DA058C292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196646"/>
            <a:ext cx="4406400" cy="4680354"/>
          </a:xfrm>
        </p:spPr>
        <p:txBody>
          <a:bodyPr>
            <a:normAutofit fontScale="25000" lnSpcReduction="20000"/>
          </a:bodyPr>
          <a:lstStyle/>
          <a:p>
            <a:pPr marL="274320" lvl="1" indent="0" algn="ctr">
              <a:buNone/>
            </a:pPr>
            <a:r>
              <a:rPr lang="es-ES" sz="5500" b="1" dirty="0"/>
              <a:t>Criterios de evaluación Convocatoria de sexenios de investigación 2023-2025</a:t>
            </a:r>
          </a:p>
          <a:p>
            <a:pPr marL="274320" lvl="1" indent="0" algn="ctr">
              <a:buNone/>
            </a:pPr>
            <a:r>
              <a:rPr lang="es-ES" sz="4900" b="1" u="none" strike="noStrike" dirty="0">
                <a:effectLst/>
              </a:rPr>
              <a:t>Subcampo 6.2 (Ingenierías de la Comunicación, Computación y Electrónica)</a:t>
            </a:r>
            <a:endParaRPr lang="es-ES" sz="4900" b="0" u="none" strike="noStrike" dirty="0">
              <a:effectLst/>
            </a:endParaRP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s-ES" sz="5200" b="1" dirty="0"/>
              <a:t>C</a:t>
            </a:r>
            <a:r>
              <a:rPr lang="es-ES" sz="5200" b="1" dirty="0">
                <a:solidFill>
                  <a:schemeClr val="tx1"/>
                </a:solidFill>
              </a:rPr>
              <a:t>inco aportaciones a presentar</a:t>
            </a:r>
            <a:br>
              <a:rPr lang="es-ES" sz="5200" b="1" dirty="0">
                <a:solidFill>
                  <a:schemeClr val="tx1"/>
                </a:solidFill>
              </a:rPr>
            </a:br>
            <a:r>
              <a:rPr lang="es-ES" sz="4500" dirty="0">
                <a:solidFill>
                  <a:schemeClr val="tx1"/>
                </a:solidFill>
              </a:rPr>
              <a:t>(</a:t>
            </a:r>
            <a:r>
              <a:rPr lang="es-ES" sz="4500" b="1" dirty="0">
                <a:solidFill>
                  <a:schemeClr val="tx1"/>
                </a:solidFill>
              </a:rPr>
              <a:t> contenido e impacto científico y social </a:t>
            </a:r>
            <a:r>
              <a:rPr lang="es-ES" sz="45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↑ </a:t>
            </a:r>
            <a:r>
              <a:rPr lang="es-ES" sz="4500" dirty="0">
                <a:solidFill>
                  <a:schemeClr val="tx1"/>
                </a:solidFill>
              </a:rPr>
              <a:t>)</a:t>
            </a:r>
            <a:r>
              <a:rPr lang="es-ES" sz="4500" b="1" dirty="0">
                <a:solidFill>
                  <a:schemeClr val="tx1"/>
                </a:solidFill>
              </a:rPr>
              <a:t> </a:t>
            </a:r>
            <a:endParaRPr lang="es-ES" sz="5200" dirty="0"/>
          </a:p>
          <a:p>
            <a:pPr lvl="1">
              <a:lnSpc>
                <a:spcPct val="120000"/>
              </a:lnSpc>
            </a:pPr>
            <a:r>
              <a:rPr lang="es-ES" sz="4600" dirty="0"/>
              <a:t>Aportaciones </a:t>
            </a:r>
            <a:r>
              <a:rPr lang="es-ES" sz="4600" b="1" dirty="0"/>
              <a:t>ordinarias</a:t>
            </a:r>
            <a:r>
              <a:rPr lang="es-ES" sz="4600" dirty="0"/>
              <a:t>:</a:t>
            </a:r>
            <a:endParaRPr lang="es-ES" sz="4600" dirty="0">
              <a:solidFill>
                <a:srgbClr val="0000FF"/>
              </a:solidFill>
            </a:endParaRPr>
          </a:p>
          <a:p>
            <a:pPr lvl="2">
              <a:lnSpc>
                <a:spcPct val="120000"/>
              </a:lnSpc>
            </a:pPr>
            <a:r>
              <a:rPr lang="es-ES" sz="3900" dirty="0">
                <a:solidFill>
                  <a:srgbClr val="0000FF"/>
                </a:solidFill>
              </a:rPr>
              <a:t>artículos científicos,</a:t>
            </a:r>
            <a:r>
              <a:rPr lang="es-ES" sz="3900" dirty="0"/>
              <a:t> valorables si aparecen …</a:t>
            </a:r>
          </a:p>
          <a:p>
            <a:pPr lvl="3">
              <a:lnSpc>
                <a:spcPct val="120000"/>
              </a:lnSpc>
            </a:pPr>
            <a:r>
              <a:rPr lang="es-ES" sz="3400" dirty="0"/>
              <a:t>en </a:t>
            </a:r>
            <a:r>
              <a:rPr lang="es-ES" sz="4000" b="1" dirty="0">
                <a:solidFill>
                  <a:srgbClr val="0000FF"/>
                </a:solidFill>
              </a:rPr>
              <a:t>Revistas</a:t>
            </a:r>
            <a:r>
              <a:rPr lang="es-ES" sz="3400" dirty="0"/>
              <a:t> de calidad contrastada</a:t>
            </a:r>
            <a:br>
              <a:rPr lang="es-ES" sz="3400" dirty="0"/>
            </a:br>
            <a:r>
              <a:rPr lang="es-ES" sz="3400" dirty="0"/>
              <a:t>o indexados en bases de datos bibliográficas de reconocido prestigio</a:t>
            </a:r>
          </a:p>
          <a:p>
            <a:pPr lvl="3">
              <a:lnSpc>
                <a:spcPct val="120000"/>
              </a:lnSpc>
            </a:pPr>
            <a:r>
              <a:rPr lang="es-ES" sz="3400" dirty="0"/>
              <a:t>en plataformas de resultados de investigación como Open </a:t>
            </a:r>
            <a:r>
              <a:rPr lang="es-ES" sz="3400" dirty="0" err="1"/>
              <a:t>Research</a:t>
            </a:r>
            <a:r>
              <a:rPr lang="es-ES" sz="3400" dirty="0"/>
              <a:t> </a:t>
            </a:r>
            <a:r>
              <a:rPr lang="es-ES" sz="3400" dirty="0" err="1"/>
              <a:t>Europe</a:t>
            </a:r>
            <a:endParaRPr lang="es-ES" sz="3700" dirty="0">
              <a:solidFill>
                <a:srgbClr val="0000FF"/>
              </a:solidFill>
            </a:endParaRPr>
          </a:p>
          <a:p>
            <a:pPr lvl="2">
              <a:lnSpc>
                <a:spcPct val="120000"/>
              </a:lnSpc>
            </a:pPr>
            <a:r>
              <a:rPr lang="es-ES" sz="3900" b="1" dirty="0">
                <a:solidFill>
                  <a:srgbClr val="0000FF"/>
                </a:solidFill>
              </a:rPr>
              <a:t>Patentes</a:t>
            </a:r>
            <a:r>
              <a:rPr lang="es-ES" sz="3900" dirty="0">
                <a:solidFill>
                  <a:srgbClr val="0000FF"/>
                </a:solidFill>
              </a:rPr>
              <a:t>, </a:t>
            </a:r>
            <a:r>
              <a:rPr lang="es-ES" sz="3900" dirty="0"/>
              <a:t>valorables si</a:t>
            </a:r>
          </a:p>
          <a:p>
            <a:pPr lvl="3">
              <a:lnSpc>
                <a:spcPct val="120000"/>
              </a:lnSpc>
            </a:pPr>
            <a:r>
              <a:rPr lang="es-ES" sz="3800" dirty="0"/>
              <a:t>están en explotación</a:t>
            </a:r>
          </a:p>
          <a:p>
            <a:pPr lvl="3">
              <a:lnSpc>
                <a:spcPct val="120000"/>
              </a:lnSpc>
            </a:pPr>
            <a:r>
              <a:rPr lang="es-ES" sz="3800" dirty="0"/>
              <a:t>sino, se han concedido con examen previo (tipo B2)</a:t>
            </a:r>
            <a:endParaRPr lang="es-ES" sz="3900" dirty="0">
              <a:solidFill>
                <a:srgbClr val="0000FF"/>
              </a:solidFill>
            </a:endParaRPr>
          </a:p>
          <a:p>
            <a:pPr lvl="1">
              <a:lnSpc>
                <a:spcPct val="120000"/>
              </a:lnSpc>
            </a:pPr>
            <a:r>
              <a:rPr lang="es-ES" sz="4600" dirty="0"/>
              <a:t>Aportaciones </a:t>
            </a:r>
            <a:r>
              <a:rPr lang="es-ES" sz="4600" b="1" dirty="0"/>
              <a:t>extraordinarias</a:t>
            </a:r>
            <a:r>
              <a:rPr lang="es-ES" sz="4600" dirty="0"/>
              <a:t>, </a:t>
            </a:r>
            <a:r>
              <a:rPr lang="es-ES" sz="4600" dirty="0" err="1"/>
              <a:t>max</a:t>
            </a:r>
            <a:r>
              <a:rPr lang="es-ES" sz="4600" dirty="0"/>
              <a:t> </a:t>
            </a:r>
            <a:r>
              <a:rPr lang="es-ES" sz="4600" b="1" dirty="0"/>
              <a:t>tres</a:t>
            </a:r>
            <a:endParaRPr lang="es-ES" sz="4600" dirty="0"/>
          </a:p>
          <a:p>
            <a:pPr lvl="2">
              <a:lnSpc>
                <a:spcPct val="120000"/>
              </a:lnSpc>
            </a:pPr>
            <a:r>
              <a:rPr lang="es-ES" sz="3900" dirty="0">
                <a:solidFill>
                  <a:srgbClr val="0000FF"/>
                </a:solidFill>
              </a:rPr>
              <a:t>aportaciones a </a:t>
            </a:r>
            <a:r>
              <a:rPr lang="es-ES" sz="3900" b="1" dirty="0">
                <a:solidFill>
                  <a:srgbClr val="0000FF"/>
                </a:solidFill>
              </a:rPr>
              <a:t>Congresos</a:t>
            </a:r>
            <a:r>
              <a:rPr lang="es-ES" sz="3900" dirty="0">
                <a:solidFill>
                  <a:srgbClr val="0000FF"/>
                </a:solidFill>
              </a:rPr>
              <a:t>, valorables si son</a:t>
            </a:r>
          </a:p>
          <a:p>
            <a:pPr lvl="3">
              <a:lnSpc>
                <a:spcPct val="120000"/>
              </a:lnSpc>
            </a:pPr>
            <a:r>
              <a:rPr lang="es-ES" sz="3800" dirty="0"/>
              <a:t>congresos de calidad contrastada o</a:t>
            </a:r>
            <a:br>
              <a:rPr lang="es-ES" sz="3800" dirty="0"/>
            </a:br>
            <a:r>
              <a:rPr lang="es-ES" sz="3800" dirty="0"/>
              <a:t>congresos indexados en listas de referencia de reconocido prestigio</a:t>
            </a:r>
            <a:endParaRPr lang="es-ES" sz="3700" dirty="0"/>
          </a:p>
          <a:p>
            <a:pPr lvl="2">
              <a:lnSpc>
                <a:spcPct val="120000"/>
              </a:lnSpc>
            </a:pPr>
            <a:r>
              <a:rPr lang="es-ES" sz="3900" dirty="0"/>
              <a:t>conjuntos de datos o contribuciones a desarrollos tecnológicos</a:t>
            </a:r>
          </a:p>
        </p:txBody>
      </p:sp>
    </p:spTree>
    <p:extLst>
      <p:ext uri="{BB962C8B-B14F-4D97-AF65-F5344CB8AC3E}">
        <p14:creationId xmlns:p14="http://schemas.microsoft.com/office/powerpoint/2010/main" val="2346761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751E8-851A-48FD-BCE5-373BDBAD9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Dos efectos: no publico … o </a:t>
            </a:r>
            <a:r>
              <a:rPr lang="es-ES" dirty="0" err="1"/>
              <a:t>re-publico</a:t>
            </a:r>
            <a:r>
              <a:rPr lang="es-ES" dirty="0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0B7241-F9D2-4A7E-9998-E50CB269D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5E20F-1BAD-4C7C-B753-B733E108B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6</a:t>
            </a:fld>
            <a:endParaRPr lang="es-E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986F02-9CCB-4B81-B741-C7FF3C36F5C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897570"/>
            <a:ext cx="5702400" cy="540035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s-ES" dirty="0"/>
              <a:t>Estudio 2001</a:t>
            </a:r>
            <a:r>
              <a:rPr lang="es-ES" dirty="0">
                <a:latin typeface="Arial" panose="020B0604020202020204" pitchFamily="34" charset="0"/>
                <a:sym typeface="Symbol" panose="05050102010706020507" pitchFamily="18" charset="2"/>
              </a:rPr>
              <a:t>  </a:t>
            </a:r>
            <a:r>
              <a:rPr lang="es-ES" dirty="0"/>
              <a:t>2025,</a:t>
            </a:r>
            <a:br>
              <a:rPr lang="es-ES" dirty="0"/>
            </a:br>
            <a:r>
              <a:rPr lang="es-ES" dirty="0"/>
              <a:t>UE27 + Reino Unido,</a:t>
            </a:r>
            <a:br>
              <a:rPr lang="es-ES" dirty="0"/>
            </a:br>
            <a:r>
              <a:rPr lang="es-ES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A* y A de ICORE 2026</a:t>
            </a:r>
          </a:p>
          <a:p>
            <a:pPr lvl="1">
              <a:lnSpc>
                <a:spcPct val="110000"/>
              </a:lnSpc>
            </a:pPr>
            <a:r>
              <a:rPr lang="es-ES" dirty="0">
                <a:latin typeface="Arial" panose="020B0604020202020204" pitchFamily="34" charset="0"/>
              </a:rPr>
              <a:t>      5º </a:t>
            </a:r>
            <a:r>
              <a:rPr lang="es-ES" dirty="0"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ES" dirty="0">
                <a:latin typeface="Arial" panose="020B0604020202020204" pitchFamily="34" charset="0"/>
              </a:rPr>
              <a:t> 8º  en (A* </a:t>
            </a:r>
            <a:r>
              <a:rPr lang="es-ES" dirty="0">
                <a:latin typeface="Arial" panose="020B0604020202020204" pitchFamily="34" charset="0"/>
                <a:sym typeface="Symbol" panose="05050102010706020507" pitchFamily="18" charset="2"/>
              </a:rPr>
              <a:t> </a:t>
            </a:r>
            <a:r>
              <a:rPr lang="es-ES" dirty="0">
                <a:latin typeface="Arial" panose="020B0604020202020204" pitchFamily="34" charset="0"/>
              </a:rPr>
              <a:t> A)</a:t>
            </a:r>
          </a:p>
          <a:p>
            <a:pPr lvl="1">
              <a:lnSpc>
                <a:spcPct val="110000"/>
              </a:lnSpc>
            </a:pPr>
            <a:r>
              <a:rPr lang="es-ES" dirty="0">
                <a:latin typeface="Arial" panose="020B0604020202020204" pitchFamily="34" charset="0"/>
              </a:rPr>
              <a:t>      5º </a:t>
            </a:r>
            <a:r>
              <a:rPr lang="es-ES" dirty="0">
                <a:latin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es-ES" dirty="0">
                <a:latin typeface="Arial" panose="020B0604020202020204" pitchFamily="34" charset="0"/>
              </a:rPr>
              <a:t>9º  en A*</a:t>
            </a:r>
          </a:p>
          <a:p>
            <a:pPr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s-ES" sz="2800" dirty="0">
                <a:solidFill>
                  <a:srgbClr val="0000FF"/>
                </a:solidFill>
              </a:rPr>
              <a:t>1. Pérdida de relevancia internacional</a:t>
            </a:r>
          </a:p>
          <a:p>
            <a:pPr>
              <a:lnSpc>
                <a:spcPct val="110000"/>
              </a:lnSpc>
              <a:spcBef>
                <a:spcPts val="3000"/>
              </a:spcBef>
            </a:pPr>
            <a:r>
              <a:rPr lang="es-ES" dirty="0"/>
              <a:t>Después de publicar en un buen congreso voy a asegurar</a:t>
            </a:r>
          </a:p>
          <a:p>
            <a:pPr>
              <a:lnSpc>
                <a:spcPct val="110000"/>
              </a:lnSpc>
            </a:pPr>
            <a:r>
              <a:rPr lang="es-ES" dirty="0"/>
              <a:t>Artículo a revista procedente de congreso … OK, pero</a:t>
            </a:r>
            <a:br>
              <a:rPr lang="es-ES" dirty="0"/>
            </a:br>
            <a:r>
              <a:rPr lang="es-ES" dirty="0"/>
              <a:t>añada un 30% de material original …</a:t>
            </a:r>
          </a:p>
          <a:p>
            <a:pPr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s-ES" sz="2800" dirty="0">
                <a:solidFill>
                  <a:srgbClr val="0000FF"/>
                </a:solidFill>
              </a:rPr>
              <a:t>2. Pérdida de eficiencia</a:t>
            </a:r>
          </a:p>
          <a:p>
            <a:pPr marL="0" indent="0" algn="ctr">
              <a:buNone/>
            </a:pPr>
            <a:endParaRPr lang="es-ES" sz="2400" b="1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4CADC44-0354-4A49-AF7C-3905C0F0BB23}"/>
              </a:ext>
            </a:extLst>
          </p:cNvPr>
          <p:cNvGrpSpPr>
            <a:grpSpLocks noChangeAspect="1"/>
          </p:cNvGrpSpPr>
          <p:nvPr/>
        </p:nvGrpSpPr>
        <p:grpSpPr>
          <a:xfrm>
            <a:off x="5952000" y="1269000"/>
            <a:ext cx="6121022" cy="3176949"/>
            <a:chOff x="83903" y="3357454"/>
            <a:chExt cx="5571266" cy="288813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26300EB-1874-4F03-9949-45154283460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3903" y="3357454"/>
              <a:ext cx="5571266" cy="2888135"/>
              <a:chOff x="264000" y="3501000"/>
              <a:chExt cx="5144970" cy="2667145"/>
            </a:xfrm>
          </p:grpSpPr>
          <p:pic>
            <p:nvPicPr>
              <p:cNvPr id="7" name="Imagen 1">
                <a:extLst>
                  <a:ext uri="{FF2B5EF4-FFF2-40B4-BE49-F238E27FC236}">
                    <a16:creationId xmlns:a16="http://schemas.microsoft.com/office/drawing/2014/main" id="{EA34B908-053C-4E76-840E-A513EEB24AEF}"/>
                  </a:ext>
                </a:extLst>
              </p:cNvPr>
              <p:cNvPicPr/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995"/>
              <a:stretch/>
            </p:blipFill>
            <p:spPr bwMode="auto">
              <a:xfrm>
                <a:off x="696000" y="3525520"/>
                <a:ext cx="4712970" cy="26426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702C1A-75F2-4C59-9255-FA43020DEF08}"/>
                  </a:ext>
                </a:extLst>
              </p:cNvPr>
              <p:cNvSpPr txBox="1"/>
              <p:nvPr/>
            </p:nvSpPr>
            <p:spPr>
              <a:xfrm>
                <a:off x="264000" y="3501000"/>
                <a:ext cx="56335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r"/>
                <a:r>
                  <a:rPr lang="es-ES" sz="1200" dirty="0">
                    <a:solidFill>
                      <a:srgbClr val="1F77B4"/>
                    </a:solidFill>
                  </a:rPr>
                  <a:t>Cuota</a:t>
                </a:r>
              </a:p>
              <a:p>
                <a:pPr algn="r"/>
                <a:r>
                  <a:rPr lang="es-ES" sz="1200" dirty="0">
                    <a:solidFill>
                      <a:srgbClr val="1F77B4"/>
                    </a:solidFill>
                  </a:rPr>
                  <a:t>española</a:t>
                </a: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38F8391-5585-4FB0-8E5D-4BE8E1A3ED4E}"/>
                </a:ext>
              </a:extLst>
            </p:cNvPr>
            <p:cNvSpPr txBox="1"/>
            <p:nvPr/>
          </p:nvSpPr>
          <p:spPr>
            <a:xfrm>
              <a:off x="1272000" y="4181686"/>
              <a:ext cx="2376000" cy="156966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s-ES" sz="1600" i="1" dirty="0">
                  <a:solidFill>
                    <a:srgbClr val="0000FF"/>
                  </a:solidFill>
                </a:rPr>
                <a:t>Ojo !</a:t>
              </a:r>
            </a:p>
            <a:p>
              <a:pPr algn="ctr"/>
              <a:r>
                <a:rPr lang="es-ES" sz="1600" i="1" dirty="0">
                  <a:solidFill>
                    <a:srgbClr val="0000FF"/>
                  </a:solidFill>
                </a:rPr>
                <a:t>el número absoluto de publicaciones por quinquenio aumenta,</a:t>
              </a:r>
              <a:br>
                <a:rPr lang="es-ES" sz="1600" i="1" dirty="0">
                  <a:solidFill>
                    <a:srgbClr val="0000FF"/>
                  </a:solidFill>
                </a:rPr>
              </a:br>
              <a:r>
                <a:rPr lang="es-ES" sz="1600" i="1" dirty="0">
                  <a:solidFill>
                    <a:srgbClr val="0000FF"/>
                  </a:solidFill>
                </a:rPr>
                <a:t>PERO mas despacio que nuestro entorno !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063A5AB-ED32-493B-B1CC-45F1EA7D2507}"/>
              </a:ext>
            </a:extLst>
          </p:cNvPr>
          <p:cNvSpPr txBox="1"/>
          <p:nvPr/>
        </p:nvSpPr>
        <p:spPr>
          <a:xfrm>
            <a:off x="7032000" y="5292781"/>
            <a:ext cx="4968000" cy="80021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s-ES" sz="1200" b="1" dirty="0">
                <a:solidFill>
                  <a:srgbClr val="1F4E79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Presencia Española en Congresos Internacionales de Informática</a:t>
            </a:r>
            <a:endParaRPr lang="es-ES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r">
              <a:spcAft>
                <a:spcPts val="600"/>
              </a:spcAft>
            </a:pPr>
            <a:r>
              <a:rPr lang="es-ES" sz="1200" i="1" dirty="0">
                <a:solidFill>
                  <a:srgbClr val="2E75B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Análisis bibliométrico sobre el corpus CORE/ICORE 2026 A* y A</a:t>
            </a:r>
            <a:endParaRPr lang="es-ES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r"/>
            <a:r>
              <a:rPr lang="es-ES" sz="1200" dirty="0">
                <a:solidFill>
                  <a:srgbClr val="44444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Período 2001–2025, Antonio Vallecillo, SCIE, junio 2026</a:t>
            </a:r>
            <a:endParaRPr lang="es-ES" sz="1200" dirty="0"/>
          </a:p>
        </p:txBody>
      </p:sp>
      <p:pic>
        <p:nvPicPr>
          <p:cNvPr id="1032" name="Picture 8" descr="Round icon. Illustration of flag of Spain">
            <a:extLst>
              <a:ext uri="{FF2B5EF4-FFF2-40B4-BE49-F238E27FC236}">
                <a16:creationId xmlns:a16="http://schemas.microsoft.com/office/drawing/2014/main" id="{92A54041-CBAA-4626-8154-A8627F047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5405" y="1213337"/>
            <a:ext cx="449831" cy="338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Round icon. Illustration of flag of Spain">
            <a:extLst>
              <a:ext uri="{FF2B5EF4-FFF2-40B4-BE49-F238E27FC236}">
                <a16:creationId xmlns:a16="http://schemas.microsoft.com/office/drawing/2014/main" id="{2E78FA9D-40D4-411D-8E84-504DBCA06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146" y="2152957"/>
            <a:ext cx="376066" cy="283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 descr="Round icon. Illustration of flag of Spain">
            <a:extLst>
              <a:ext uri="{FF2B5EF4-FFF2-40B4-BE49-F238E27FC236}">
                <a16:creationId xmlns:a16="http://schemas.microsoft.com/office/drawing/2014/main" id="{4E8CA8AB-E51F-4CA1-AC51-17A0F3474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666" y="2534657"/>
            <a:ext cx="376066" cy="283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48" name="Group 1047">
            <a:extLst>
              <a:ext uri="{FF2B5EF4-FFF2-40B4-BE49-F238E27FC236}">
                <a16:creationId xmlns:a16="http://schemas.microsoft.com/office/drawing/2014/main" id="{88A1E0A4-778F-412A-B3E7-CC244D7D4590}"/>
              </a:ext>
            </a:extLst>
          </p:cNvPr>
          <p:cNvGrpSpPr/>
          <p:nvPr/>
        </p:nvGrpSpPr>
        <p:grpSpPr>
          <a:xfrm>
            <a:off x="1237725" y="3519569"/>
            <a:ext cx="4021746" cy="123662"/>
            <a:chOff x="1473200" y="3505200"/>
            <a:chExt cx="3683000" cy="152400"/>
          </a:xfrm>
        </p:grpSpPr>
        <p:cxnSp>
          <p:nvCxnSpPr>
            <p:cNvPr id="20" name="Cenefa curva 1">
              <a:extLst>
                <a:ext uri="{FF2B5EF4-FFF2-40B4-BE49-F238E27FC236}">
                  <a16:creationId xmlns:a16="http://schemas.microsoft.com/office/drawing/2014/main" id="{0DC12532-7BFF-4DA2-BBAE-EB3441B41145}"/>
                </a:ext>
              </a:extLst>
            </p:cNvPr>
            <p:cNvCxnSpPr/>
            <p:nvPr/>
          </p:nvCxnSpPr>
          <p:spPr>
            <a:xfrm>
              <a:off x="14732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enefa curva 2">
              <a:extLst>
                <a:ext uri="{FF2B5EF4-FFF2-40B4-BE49-F238E27FC236}">
                  <a16:creationId xmlns:a16="http://schemas.microsoft.com/office/drawing/2014/main" id="{25B1E3B7-1E1C-4BB7-AD04-E8EDA072E7F5}"/>
                </a:ext>
              </a:extLst>
            </p:cNvPr>
            <p:cNvCxnSpPr/>
            <p:nvPr/>
          </p:nvCxnSpPr>
          <p:spPr>
            <a:xfrm flipV="1">
              <a:off x="17018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enefa curva 3">
              <a:extLst>
                <a:ext uri="{FF2B5EF4-FFF2-40B4-BE49-F238E27FC236}">
                  <a16:creationId xmlns:a16="http://schemas.microsoft.com/office/drawing/2014/main" id="{B7D7021F-37A1-481A-9948-0978AF7651B4}"/>
                </a:ext>
              </a:extLst>
            </p:cNvPr>
            <p:cNvCxnSpPr/>
            <p:nvPr/>
          </p:nvCxnSpPr>
          <p:spPr>
            <a:xfrm>
              <a:off x="19304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enefa curva 4">
              <a:extLst>
                <a:ext uri="{FF2B5EF4-FFF2-40B4-BE49-F238E27FC236}">
                  <a16:creationId xmlns:a16="http://schemas.microsoft.com/office/drawing/2014/main" id="{C822E562-B0FC-4CF5-B4D2-E888AFFCB5BE}"/>
                </a:ext>
              </a:extLst>
            </p:cNvPr>
            <p:cNvCxnSpPr/>
            <p:nvPr/>
          </p:nvCxnSpPr>
          <p:spPr>
            <a:xfrm flipV="1">
              <a:off x="21590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enefa curva 5">
              <a:extLst>
                <a:ext uri="{FF2B5EF4-FFF2-40B4-BE49-F238E27FC236}">
                  <a16:creationId xmlns:a16="http://schemas.microsoft.com/office/drawing/2014/main" id="{2C5DCFE3-D860-4CF4-80A0-73F366618D36}"/>
                </a:ext>
              </a:extLst>
            </p:cNvPr>
            <p:cNvCxnSpPr/>
            <p:nvPr/>
          </p:nvCxnSpPr>
          <p:spPr>
            <a:xfrm>
              <a:off x="23876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enefa curva 6">
              <a:extLst>
                <a:ext uri="{FF2B5EF4-FFF2-40B4-BE49-F238E27FC236}">
                  <a16:creationId xmlns:a16="http://schemas.microsoft.com/office/drawing/2014/main" id="{4A5643B4-7977-463B-A0C1-BA00313394D0}"/>
                </a:ext>
              </a:extLst>
            </p:cNvPr>
            <p:cNvCxnSpPr/>
            <p:nvPr/>
          </p:nvCxnSpPr>
          <p:spPr>
            <a:xfrm flipV="1">
              <a:off x="26162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enefa curva 7">
              <a:extLst>
                <a:ext uri="{FF2B5EF4-FFF2-40B4-BE49-F238E27FC236}">
                  <a16:creationId xmlns:a16="http://schemas.microsoft.com/office/drawing/2014/main" id="{A3BC2B6D-042D-4C9D-B3CB-96228551ED54}"/>
                </a:ext>
              </a:extLst>
            </p:cNvPr>
            <p:cNvCxnSpPr/>
            <p:nvPr/>
          </p:nvCxnSpPr>
          <p:spPr>
            <a:xfrm>
              <a:off x="28575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enefa curva 8">
              <a:extLst>
                <a:ext uri="{FF2B5EF4-FFF2-40B4-BE49-F238E27FC236}">
                  <a16:creationId xmlns:a16="http://schemas.microsoft.com/office/drawing/2014/main" id="{46713997-26E7-415F-B174-835B2D838860}"/>
                </a:ext>
              </a:extLst>
            </p:cNvPr>
            <p:cNvCxnSpPr/>
            <p:nvPr/>
          </p:nvCxnSpPr>
          <p:spPr>
            <a:xfrm flipV="1">
              <a:off x="30861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enefa curva 9">
              <a:extLst>
                <a:ext uri="{FF2B5EF4-FFF2-40B4-BE49-F238E27FC236}">
                  <a16:creationId xmlns:a16="http://schemas.microsoft.com/office/drawing/2014/main" id="{4E8B92DA-1246-4145-B718-4C82866DCDBC}"/>
                </a:ext>
              </a:extLst>
            </p:cNvPr>
            <p:cNvCxnSpPr/>
            <p:nvPr/>
          </p:nvCxnSpPr>
          <p:spPr>
            <a:xfrm>
              <a:off x="33147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enefa curva 10">
              <a:extLst>
                <a:ext uri="{FF2B5EF4-FFF2-40B4-BE49-F238E27FC236}">
                  <a16:creationId xmlns:a16="http://schemas.microsoft.com/office/drawing/2014/main" id="{ABC8D9DD-B373-4975-A543-EEDD4B1DE610}"/>
                </a:ext>
              </a:extLst>
            </p:cNvPr>
            <p:cNvCxnSpPr/>
            <p:nvPr/>
          </p:nvCxnSpPr>
          <p:spPr>
            <a:xfrm flipV="1">
              <a:off x="35433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enefa curva 11">
              <a:extLst>
                <a:ext uri="{FF2B5EF4-FFF2-40B4-BE49-F238E27FC236}">
                  <a16:creationId xmlns:a16="http://schemas.microsoft.com/office/drawing/2014/main" id="{1581BD9D-D350-4605-8CA6-F31DEA16AC46}"/>
                </a:ext>
              </a:extLst>
            </p:cNvPr>
            <p:cNvCxnSpPr/>
            <p:nvPr/>
          </p:nvCxnSpPr>
          <p:spPr>
            <a:xfrm>
              <a:off x="37719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enefa curva 12">
              <a:extLst>
                <a:ext uri="{FF2B5EF4-FFF2-40B4-BE49-F238E27FC236}">
                  <a16:creationId xmlns:a16="http://schemas.microsoft.com/office/drawing/2014/main" id="{0D594F4E-B1D4-42FA-A4F7-EF991312DC15}"/>
                </a:ext>
              </a:extLst>
            </p:cNvPr>
            <p:cNvCxnSpPr/>
            <p:nvPr/>
          </p:nvCxnSpPr>
          <p:spPr>
            <a:xfrm flipV="1">
              <a:off x="40132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enefa curva 13">
              <a:extLst>
                <a:ext uri="{FF2B5EF4-FFF2-40B4-BE49-F238E27FC236}">
                  <a16:creationId xmlns:a16="http://schemas.microsoft.com/office/drawing/2014/main" id="{E2B93FC3-FA48-456F-B90A-B257F8677986}"/>
                </a:ext>
              </a:extLst>
            </p:cNvPr>
            <p:cNvCxnSpPr/>
            <p:nvPr/>
          </p:nvCxnSpPr>
          <p:spPr>
            <a:xfrm>
              <a:off x="42418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enefa curva 14">
              <a:extLst>
                <a:ext uri="{FF2B5EF4-FFF2-40B4-BE49-F238E27FC236}">
                  <a16:creationId xmlns:a16="http://schemas.microsoft.com/office/drawing/2014/main" id="{3FCF924C-D9FB-4DC8-A371-C7234DBF9629}"/>
                </a:ext>
              </a:extLst>
            </p:cNvPr>
            <p:cNvCxnSpPr/>
            <p:nvPr/>
          </p:nvCxnSpPr>
          <p:spPr>
            <a:xfrm flipV="1">
              <a:off x="44704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enefa curva 15">
              <a:extLst>
                <a:ext uri="{FF2B5EF4-FFF2-40B4-BE49-F238E27FC236}">
                  <a16:creationId xmlns:a16="http://schemas.microsoft.com/office/drawing/2014/main" id="{182F8255-838F-4910-9C9F-41BCD03D9057}"/>
                </a:ext>
              </a:extLst>
            </p:cNvPr>
            <p:cNvCxnSpPr/>
            <p:nvPr/>
          </p:nvCxnSpPr>
          <p:spPr>
            <a:xfrm>
              <a:off x="46990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enefa curva 16">
              <a:extLst>
                <a:ext uri="{FF2B5EF4-FFF2-40B4-BE49-F238E27FC236}">
                  <a16:creationId xmlns:a16="http://schemas.microsoft.com/office/drawing/2014/main" id="{A3532565-AC80-4A77-98BE-ABA5CD2BCC63}"/>
                </a:ext>
              </a:extLst>
            </p:cNvPr>
            <p:cNvCxnSpPr/>
            <p:nvPr/>
          </p:nvCxnSpPr>
          <p:spPr>
            <a:xfrm flipV="1">
              <a:off x="49276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3" name="Cenefa punto 1">
              <a:extLst>
                <a:ext uri="{FF2B5EF4-FFF2-40B4-BE49-F238E27FC236}">
                  <a16:creationId xmlns:a16="http://schemas.microsoft.com/office/drawing/2014/main" id="{3A066195-19E5-4E74-A6A7-D83F2D33C575}"/>
                </a:ext>
              </a:extLst>
            </p:cNvPr>
            <p:cNvSpPr/>
            <p:nvPr/>
          </p:nvSpPr>
          <p:spPr>
            <a:xfrm>
              <a:off x="16764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34" name="Cenefa punto 2">
              <a:extLst>
                <a:ext uri="{FF2B5EF4-FFF2-40B4-BE49-F238E27FC236}">
                  <a16:creationId xmlns:a16="http://schemas.microsoft.com/office/drawing/2014/main" id="{A9C2741B-C22A-47CD-849B-17EAE454B355}"/>
                </a:ext>
              </a:extLst>
            </p:cNvPr>
            <p:cNvSpPr/>
            <p:nvPr/>
          </p:nvSpPr>
          <p:spPr>
            <a:xfrm>
              <a:off x="19050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35" name="Cenefa punto 3">
              <a:extLst>
                <a:ext uri="{FF2B5EF4-FFF2-40B4-BE49-F238E27FC236}">
                  <a16:creationId xmlns:a16="http://schemas.microsoft.com/office/drawing/2014/main" id="{8F90B4BC-178F-4D97-8214-C9201E17752B}"/>
                </a:ext>
              </a:extLst>
            </p:cNvPr>
            <p:cNvSpPr/>
            <p:nvPr/>
          </p:nvSpPr>
          <p:spPr>
            <a:xfrm>
              <a:off x="21336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36" name="Cenefa punto 4">
              <a:extLst>
                <a:ext uri="{FF2B5EF4-FFF2-40B4-BE49-F238E27FC236}">
                  <a16:creationId xmlns:a16="http://schemas.microsoft.com/office/drawing/2014/main" id="{60E7967C-D598-4B23-A59D-48BDFAA8754C}"/>
                </a:ext>
              </a:extLst>
            </p:cNvPr>
            <p:cNvSpPr/>
            <p:nvPr/>
          </p:nvSpPr>
          <p:spPr>
            <a:xfrm>
              <a:off x="23622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37" name="Cenefa punto 5">
              <a:extLst>
                <a:ext uri="{FF2B5EF4-FFF2-40B4-BE49-F238E27FC236}">
                  <a16:creationId xmlns:a16="http://schemas.microsoft.com/office/drawing/2014/main" id="{4796EB69-F5E7-4547-A185-8E812388AC48}"/>
                </a:ext>
              </a:extLst>
            </p:cNvPr>
            <p:cNvSpPr/>
            <p:nvPr/>
          </p:nvSpPr>
          <p:spPr>
            <a:xfrm>
              <a:off x="25908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38" name="Cenefa punto 6">
              <a:extLst>
                <a:ext uri="{FF2B5EF4-FFF2-40B4-BE49-F238E27FC236}">
                  <a16:creationId xmlns:a16="http://schemas.microsoft.com/office/drawing/2014/main" id="{27B02A03-EF54-44B0-9052-2900A602392D}"/>
                </a:ext>
              </a:extLst>
            </p:cNvPr>
            <p:cNvSpPr/>
            <p:nvPr/>
          </p:nvSpPr>
          <p:spPr>
            <a:xfrm>
              <a:off x="28321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39" name="Cenefa punto 7">
              <a:extLst>
                <a:ext uri="{FF2B5EF4-FFF2-40B4-BE49-F238E27FC236}">
                  <a16:creationId xmlns:a16="http://schemas.microsoft.com/office/drawing/2014/main" id="{68CCC2F2-8CC9-45F4-9E46-6F902D3E9B8B}"/>
                </a:ext>
              </a:extLst>
            </p:cNvPr>
            <p:cNvSpPr/>
            <p:nvPr/>
          </p:nvSpPr>
          <p:spPr>
            <a:xfrm>
              <a:off x="30607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40" name="Cenefa punto 8">
              <a:extLst>
                <a:ext uri="{FF2B5EF4-FFF2-40B4-BE49-F238E27FC236}">
                  <a16:creationId xmlns:a16="http://schemas.microsoft.com/office/drawing/2014/main" id="{BA7F0CD1-9C9C-418C-A911-6A82F9B7817D}"/>
                </a:ext>
              </a:extLst>
            </p:cNvPr>
            <p:cNvSpPr/>
            <p:nvPr/>
          </p:nvSpPr>
          <p:spPr>
            <a:xfrm>
              <a:off x="32893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41" name="Cenefa punto 9">
              <a:extLst>
                <a:ext uri="{FF2B5EF4-FFF2-40B4-BE49-F238E27FC236}">
                  <a16:creationId xmlns:a16="http://schemas.microsoft.com/office/drawing/2014/main" id="{A4244595-9AE8-4834-B0DE-6E893918252D}"/>
                </a:ext>
              </a:extLst>
            </p:cNvPr>
            <p:cNvSpPr/>
            <p:nvPr/>
          </p:nvSpPr>
          <p:spPr>
            <a:xfrm>
              <a:off x="35179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42" name="Cenefa punto 10">
              <a:extLst>
                <a:ext uri="{FF2B5EF4-FFF2-40B4-BE49-F238E27FC236}">
                  <a16:creationId xmlns:a16="http://schemas.microsoft.com/office/drawing/2014/main" id="{F6567E9D-03F5-468E-BFF5-618E880AC4D3}"/>
                </a:ext>
              </a:extLst>
            </p:cNvPr>
            <p:cNvSpPr/>
            <p:nvPr/>
          </p:nvSpPr>
          <p:spPr>
            <a:xfrm>
              <a:off x="37465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43" name="Cenefa punto 11">
              <a:extLst>
                <a:ext uri="{FF2B5EF4-FFF2-40B4-BE49-F238E27FC236}">
                  <a16:creationId xmlns:a16="http://schemas.microsoft.com/office/drawing/2014/main" id="{AA6E694C-8E6F-4ACB-83B2-E7B1F5F7F996}"/>
                </a:ext>
              </a:extLst>
            </p:cNvPr>
            <p:cNvSpPr/>
            <p:nvPr/>
          </p:nvSpPr>
          <p:spPr>
            <a:xfrm>
              <a:off x="39878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44" name="Cenefa punto 12">
              <a:extLst>
                <a:ext uri="{FF2B5EF4-FFF2-40B4-BE49-F238E27FC236}">
                  <a16:creationId xmlns:a16="http://schemas.microsoft.com/office/drawing/2014/main" id="{FC70EC43-8568-4CA6-ADFB-ECF5F7868657}"/>
                </a:ext>
              </a:extLst>
            </p:cNvPr>
            <p:cNvSpPr/>
            <p:nvPr/>
          </p:nvSpPr>
          <p:spPr>
            <a:xfrm>
              <a:off x="42164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45" name="Cenefa punto 13">
              <a:extLst>
                <a:ext uri="{FF2B5EF4-FFF2-40B4-BE49-F238E27FC236}">
                  <a16:creationId xmlns:a16="http://schemas.microsoft.com/office/drawing/2014/main" id="{201F4A39-03DF-4E28-8B8E-880168B43E00}"/>
                </a:ext>
              </a:extLst>
            </p:cNvPr>
            <p:cNvSpPr/>
            <p:nvPr/>
          </p:nvSpPr>
          <p:spPr>
            <a:xfrm>
              <a:off x="44450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46" name="Cenefa punto 14">
              <a:extLst>
                <a:ext uri="{FF2B5EF4-FFF2-40B4-BE49-F238E27FC236}">
                  <a16:creationId xmlns:a16="http://schemas.microsoft.com/office/drawing/2014/main" id="{F4856C07-44EA-4785-AAE6-F5C5F1FED2DE}"/>
                </a:ext>
              </a:extLst>
            </p:cNvPr>
            <p:cNvSpPr/>
            <p:nvPr/>
          </p:nvSpPr>
          <p:spPr>
            <a:xfrm>
              <a:off x="46736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47" name="Cenefa punto 15">
              <a:extLst>
                <a:ext uri="{FF2B5EF4-FFF2-40B4-BE49-F238E27FC236}">
                  <a16:creationId xmlns:a16="http://schemas.microsoft.com/office/drawing/2014/main" id="{59DD5D65-B4CD-4021-9036-6F6501B83479}"/>
                </a:ext>
              </a:extLst>
            </p:cNvPr>
            <p:cNvSpPr/>
            <p:nvPr/>
          </p:nvSpPr>
          <p:spPr>
            <a:xfrm>
              <a:off x="49022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317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67328E-B0DA-4393-84F4-A1862470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AB33D9-246F-43D5-873C-3E28F4FF7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29575-561D-4601-9768-8C9B3FD1E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7</a:t>
            </a:fld>
            <a:endParaRPr lang="es-E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ABCEC6-0C84-4843-8225-5F79E334C6DE}"/>
              </a:ext>
            </a:extLst>
          </p:cNvPr>
          <p:cNvSpPr/>
          <p:nvPr/>
        </p:nvSpPr>
        <p:spPr>
          <a:xfrm>
            <a:off x="552000" y="1963325"/>
            <a:ext cx="7992000" cy="830287"/>
          </a:xfrm>
          <a:prstGeom prst="roundRect">
            <a:avLst/>
          </a:prstGeom>
          <a:noFill/>
          <a:ln w="57150">
            <a:solidFill>
              <a:srgbClr val="297F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6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5703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09D1823-A3E4-4466-ACCA-49CDB4399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Congresos de referencia en informática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77D87-C794-43F8-A25C-A811C86B8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523238-9FF7-4F3D-B2FB-C8BAC2778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8</a:t>
            </a:fld>
            <a:endParaRPr lang="es-E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B767F49-0009-4522-B019-B83ED02F16C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solidFill>
            <a:srgbClr val="EEF8E4"/>
          </a:solidFill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s-ES" sz="2800" b="1" dirty="0"/>
              <a:t>Que son</a:t>
            </a:r>
          </a:p>
          <a:p>
            <a:pPr>
              <a:lnSpc>
                <a:spcPct val="110000"/>
              </a:lnSpc>
            </a:pPr>
            <a:r>
              <a:rPr lang="es-ES" sz="2800" dirty="0"/>
              <a:t>Revisión por pares (muchos)</a:t>
            </a:r>
          </a:p>
          <a:p>
            <a:pPr>
              <a:lnSpc>
                <a:spcPct val="110000"/>
              </a:lnSpc>
            </a:pPr>
            <a:r>
              <a:rPr lang="es-ES" sz="2800" dirty="0"/>
              <a:t>Tasas de aceptación muy estrictas</a:t>
            </a:r>
          </a:p>
          <a:p>
            <a:pPr>
              <a:lnSpc>
                <a:spcPct val="110000"/>
              </a:lnSpc>
            </a:pPr>
            <a:r>
              <a:rPr lang="es-ES" sz="2800" dirty="0"/>
              <a:t>Comités de programa internacionales</a:t>
            </a:r>
          </a:p>
          <a:p>
            <a:pPr>
              <a:lnSpc>
                <a:spcPct val="110000"/>
              </a:lnSpc>
            </a:pPr>
            <a:r>
              <a:rPr lang="es-ES" sz="2800" dirty="0"/>
              <a:t>El artículo</a:t>
            </a:r>
          </a:p>
          <a:p>
            <a:pPr lvl="1">
              <a:lnSpc>
                <a:spcPct val="110000"/>
              </a:lnSpc>
            </a:pPr>
            <a:r>
              <a:rPr lang="es-ES" sz="2400" dirty="0"/>
              <a:t>contribución completa y definitiva, larga</a:t>
            </a:r>
          </a:p>
          <a:p>
            <a:pPr lvl="1">
              <a:lnSpc>
                <a:spcPct val="110000"/>
              </a:lnSpc>
            </a:pPr>
            <a:r>
              <a:rPr lang="es-ES" sz="2400" dirty="0"/>
              <a:t>indexado y accesible a través de buenas bases de datos: </a:t>
            </a:r>
            <a:r>
              <a:rPr lang="es-ES" sz="2400" i="1" dirty="0"/>
              <a:t>Google </a:t>
            </a:r>
            <a:r>
              <a:rPr lang="es-ES" sz="2400" i="1" dirty="0" err="1"/>
              <a:t>Scholar</a:t>
            </a:r>
            <a:r>
              <a:rPr lang="es-ES" sz="2400" dirty="0"/>
              <a:t>, </a:t>
            </a:r>
            <a:br>
              <a:rPr lang="es-ES" sz="2400" dirty="0"/>
            </a:br>
            <a:r>
              <a:rPr lang="es-ES" sz="2400" i="1" dirty="0" err="1"/>
              <a:t>Scopus</a:t>
            </a:r>
            <a:r>
              <a:rPr lang="es-ES" sz="2400" i="1" dirty="0"/>
              <a:t> de Elsevier</a:t>
            </a:r>
            <a:r>
              <a:rPr lang="es-ES" sz="2400" dirty="0"/>
              <a:t>, </a:t>
            </a:r>
            <a:r>
              <a:rPr lang="es-ES" sz="2400" i="1" dirty="0"/>
              <a:t>DBLP</a:t>
            </a:r>
            <a:r>
              <a:rPr lang="es-ES" sz="2400" dirty="0"/>
              <a:t>, </a:t>
            </a:r>
            <a:br>
              <a:rPr lang="es-ES" sz="2400" dirty="0"/>
            </a:br>
            <a:r>
              <a:rPr lang="es-ES" sz="2400" i="1" dirty="0"/>
              <a:t>ACM y IEEE </a:t>
            </a:r>
            <a:r>
              <a:rPr lang="es-ES" sz="2400" i="1" dirty="0" err="1"/>
              <a:t>Xplore</a:t>
            </a:r>
            <a:r>
              <a:rPr lang="es-ES" sz="2400" i="1" dirty="0"/>
              <a:t> Digital </a:t>
            </a:r>
            <a:r>
              <a:rPr lang="es-ES" sz="2400" i="1" dirty="0" err="1"/>
              <a:t>Libraries</a:t>
            </a:r>
            <a:r>
              <a:rPr lang="es-ES" sz="2400" dirty="0"/>
              <a:t> </a:t>
            </a:r>
          </a:p>
          <a:p>
            <a:r>
              <a:rPr lang="es-ES" sz="2800" dirty="0"/>
              <a:t>Rankings “libres” </a:t>
            </a:r>
            <a:r>
              <a:rPr lang="es-ES" sz="2800" dirty="0">
                <a:sym typeface="Symbol" panose="05050102010706020507" pitchFamily="18" charset="2"/>
              </a:rPr>
              <a:t></a:t>
            </a:r>
            <a:r>
              <a:rPr lang="es-ES" sz="2800" dirty="0">
                <a:sym typeface="Wingdings" panose="05000000000000000000" pitchFamily="2" charset="2"/>
              </a:rPr>
              <a:t> </a:t>
            </a:r>
            <a:r>
              <a:rPr lang="es-ES" sz="2800" dirty="0">
                <a:solidFill>
                  <a:srgbClr val="0000FF"/>
                </a:solidFill>
              </a:rPr>
              <a:t>ICORE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180527C-4E5D-4F2C-94AF-13BB50E199AB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solidFill>
            <a:srgbClr val="FFEBEB"/>
          </a:solidFill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s-ES" b="1" dirty="0"/>
              <a:t>Que no son</a:t>
            </a:r>
          </a:p>
          <a:p>
            <a:pPr>
              <a:lnSpc>
                <a:spcPct val="110000"/>
              </a:lnSpc>
            </a:pPr>
            <a:r>
              <a:rPr lang="es-ES" sz="2800" dirty="0"/>
              <a:t>El artículo </a:t>
            </a:r>
            <a:r>
              <a:rPr lang="es-ES" sz="2800" b="1" dirty="0"/>
              <a:t>no</a:t>
            </a:r>
            <a:r>
              <a:rPr lang="es-ES" sz="2800" dirty="0"/>
              <a:t> es una versión corta</a:t>
            </a:r>
          </a:p>
          <a:p>
            <a:pPr marL="0" indent="0" algn="ctr">
              <a:lnSpc>
                <a:spcPct val="110000"/>
              </a:lnSpc>
              <a:spcBef>
                <a:spcPts val="1200"/>
              </a:spcBef>
              <a:buNone/>
            </a:pPr>
            <a:r>
              <a:rPr lang="es-ES" dirty="0"/>
              <a:t>(Auto) </a:t>
            </a:r>
            <a:r>
              <a:rPr lang="es-ES" b="1" dirty="0"/>
              <a:t>Críticas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</a:pPr>
            <a:r>
              <a:rPr lang="es-ES" sz="2800" dirty="0"/>
              <a:t>Rechazo obsesivo a lo “incremental”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s-ES" sz="2800" dirty="0">
                <a:effectLst/>
                <a:ea typeface="Arial" panose="020B0604020202020204" pitchFamily="34" charset="0"/>
              </a:rPr>
              <a:t>Revisores con poco plazo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s-ES" sz="2800" dirty="0">
                <a:ea typeface="Arial" panose="020B0604020202020204" pitchFamily="34" charset="0"/>
              </a:rPr>
              <a:t>Posibilidad de repesca, si,</a:t>
            </a:r>
            <a:br>
              <a:rPr lang="es-ES" sz="2800" dirty="0">
                <a:ea typeface="Arial" panose="020B0604020202020204" pitchFamily="34" charset="0"/>
              </a:rPr>
            </a:br>
            <a:r>
              <a:rPr lang="es-ES" sz="2800" dirty="0">
                <a:ea typeface="Arial" panose="020B0604020202020204" pitchFamily="34" charset="0"/>
              </a:rPr>
              <a:t>pero muy estresante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s-ES" sz="2800" dirty="0">
                <a:effectLst/>
                <a:ea typeface="Arial" panose="020B0604020202020204" pitchFamily="34" charset="0"/>
              </a:rPr>
              <a:t>Coste de</a:t>
            </a:r>
            <a:r>
              <a:rPr lang="es-ES" sz="2800" dirty="0">
                <a:ea typeface="Arial" panose="020B0604020202020204" pitchFamily="34" charset="0"/>
              </a:rPr>
              <a:t>l</a:t>
            </a:r>
            <a:r>
              <a:rPr lang="es-ES" sz="2800" dirty="0">
                <a:effectLst/>
                <a:ea typeface="Arial" panose="020B0604020202020204" pitchFamily="34" charset="0"/>
              </a:rPr>
              <a:t> v</a:t>
            </a:r>
            <a:r>
              <a:rPr lang="es-ES" sz="2800" dirty="0">
                <a:ea typeface="Arial" panose="020B0604020202020204" pitchFamily="34" charset="0"/>
              </a:rPr>
              <a:t>iaje (ojo con los </a:t>
            </a:r>
            <a:r>
              <a:rPr lang="es-ES" sz="2800" dirty="0" err="1">
                <a:ea typeface="Arial" panose="020B0604020202020204" pitchFamily="34" charset="0"/>
              </a:rPr>
              <a:t>APCs</a:t>
            </a:r>
            <a:r>
              <a:rPr lang="es-ES" sz="2800" dirty="0">
                <a:ea typeface="Arial" panose="020B0604020202020204" pitchFamily="34" charset="0"/>
              </a:rPr>
              <a:t> !)</a:t>
            </a:r>
            <a:endParaRPr lang="es-ES" sz="2800" dirty="0">
              <a:effectLst/>
              <a:ea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s-ES" sz="2800" dirty="0">
                <a:ea typeface="Arial" panose="020B0604020202020204" pitchFamily="34" charset="0"/>
              </a:rPr>
              <a:t>L</a:t>
            </a:r>
            <a:r>
              <a:rPr lang="es-ES" sz="2800" dirty="0">
                <a:effectLst/>
                <a:ea typeface="Arial" panose="020B0604020202020204" pitchFamily="34" charset="0"/>
              </a:rPr>
              <a:t>a </a:t>
            </a:r>
            <a:r>
              <a:rPr lang="es-ES" sz="2800" i="1" dirty="0">
                <a:effectLst/>
                <a:ea typeface="Arial" panose="020B0604020202020204" pitchFamily="34" charset="0"/>
              </a:rPr>
              <a:t>Web </a:t>
            </a:r>
            <a:r>
              <a:rPr lang="es-ES" sz="2800" i="1" dirty="0" err="1">
                <a:effectLst/>
                <a:ea typeface="Arial" panose="020B0604020202020204" pitchFamily="34" charset="0"/>
              </a:rPr>
              <a:t>of</a:t>
            </a:r>
            <a:r>
              <a:rPr lang="es-ES" sz="2800" i="1" dirty="0">
                <a:effectLst/>
                <a:ea typeface="Arial" panose="020B0604020202020204" pitchFamily="34" charset="0"/>
              </a:rPr>
              <a:t> </a:t>
            </a:r>
            <a:r>
              <a:rPr lang="es-ES" sz="2800" i="1" dirty="0" err="1">
                <a:effectLst/>
                <a:ea typeface="Arial" panose="020B0604020202020204" pitchFamily="34" charset="0"/>
              </a:rPr>
              <a:t>Science</a:t>
            </a:r>
            <a:r>
              <a:rPr lang="es-ES" sz="2800" dirty="0">
                <a:effectLst/>
                <a:ea typeface="Arial" panose="020B0604020202020204" pitchFamily="34" charset="0"/>
              </a:rPr>
              <a:t> de </a:t>
            </a:r>
            <a:r>
              <a:rPr lang="es-ES" sz="2800" dirty="0" err="1">
                <a:effectLst/>
                <a:ea typeface="Arial" panose="020B0604020202020204" pitchFamily="34" charset="0"/>
              </a:rPr>
              <a:t>Clarivate</a:t>
            </a:r>
            <a:br>
              <a:rPr lang="es-ES" sz="2800" dirty="0">
                <a:ea typeface="Arial" panose="020B0604020202020204" pitchFamily="34" charset="0"/>
              </a:rPr>
            </a:br>
            <a:r>
              <a:rPr lang="es-ES" sz="2800" b="1" dirty="0">
                <a:effectLst/>
                <a:ea typeface="Arial" panose="020B0604020202020204" pitchFamily="34" charset="0"/>
              </a:rPr>
              <a:t>no</a:t>
            </a:r>
            <a:r>
              <a:rPr lang="es-ES" sz="2800" dirty="0">
                <a:effectLst/>
                <a:ea typeface="Arial" panose="020B0604020202020204" pitchFamily="34" charset="0"/>
              </a:rPr>
              <a:t> cubre bien los </a:t>
            </a:r>
            <a:r>
              <a:rPr lang="es-ES" sz="2800" dirty="0">
                <a:ea typeface="Arial" panose="020B0604020202020204" pitchFamily="34" charset="0"/>
              </a:rPr>
              <a:t>a</a:t>
            </a:r>
            <a:r>
              <a:rPr lang="es-ES" sz="2800" dirty="0">
                <a:effectLst/>
                <a:ea typeface="Arial" panose="020B0604020202020204" pitchFamily="34" charset="0"/>
              </a:rPr>
              <a:t>rtículos de congreso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1115787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6F96C1E-FB60-40DC-8749-1E31EE86D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ICORE: Australia, Italia y España </a:t>
            </a:r>
            <a:r>
              <a:rPr lang="es-ES" sz="2400" dirty="0"/>
              <a:t>(1 de 2)</a:t>
            </a:r>
            <a:endParaRPr lang="es-E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342A0-F8C7-45F9-85B2-B382F966E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Computing energy and power: efficiency and control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5DF72-99F9-4CE0-A6C7-5DDD95507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9</a:t>
            </a:fld>
            <a:endParaRPr lang="es-E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0699D30-0DE4-4F1D-8BA7-93774210C4A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599" y="980646"/>
            <a:ext cx="11022419" cy="5084874"/>
          </a:xfrm>
        </p:spPr>
        <p:txBody>
          <a:bodyPr>
            <a:normAutofit lnSpcReduction="10000"/>
          </a:bodyPr>
          <a:lstStyle/>
          <a:p>
            <a:r>
              <a:rPr lang="es-ES" dirty="0"/>
              <a:t>International Core, un consorcio de sociedades que se inicia en 2021:</a:t>
            </a:r>
          </a:p>
          <a:p>
            <a:pPr lvl="1">
              <a:tabLst>
                <a:tab pos="1435100" algn="l"/>
              </a:tabLst>
            </a:pPr>
            <a:r>
              <a:rPr lang="es-ES" dirty="0"/>
              <a:t>SCIE	Sociedad Científica Informática de España</a:t>
            </a:r>
          </a:p>
          <a:p>
            <a:pPr lvl="1">
              <a:tabLst>
                <a:tab pos="1435100" algn="l"/>
              </a:tabLst>
            </a:pPr>
            <a:r>
              <a:rPr lang="es-ES" dirty="0"/>
              <a:t>GII	</a:t>
            </a:r>
            <a:r>
              <a:rPr lang="es-ES" dirty="0" err="1"/>
              <a:t>Group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Italian</a:t>
            </a:r>
            <a:r>
              <a:rPr lang="es-ES" dirty="0"/>
              <a:t> </a:t>
            </a:r>
            <a:r>
              <a:rPr lang="es-ES" dirty="0" err="1"/>
              <a:t>Professors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Computer</a:t>
            </a:r>
            <a:r>
              <a:rPr lang="es-ES" dirty="0"/>
              <a:t> </a:t>
            </a:r>
            <a:r>
              <a:rPr lang="es-ES" dirty="0" err="1"/>
              <a:t>Engineering</a:t>
            </a:r>
            <a:endParaRPr lang="es-ES" dirty="0"/>
          </a:p>
          <a:p>
            <a:pPr lvl="1">
              <a:tabLst>
                <a:tab pos="1435100" algn="l"/>
              </a:tabLst>
            </a:pPr>
            <a:r>
              <a:rPr lang="es-ES" dirty="0"/>
              <a:t>GRIN	</a:t>
            </a:r>
            <a:r>
              <a:rPr lang="es-ES" dirty="0" err="1"/>
              <a:t>Group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Italian</a:t>
            </a:r>
            <a:r>
              <a:rPr lang="es-ES" dirty="0"/>
              <a:t> </a:t>
            </a:r>
            <a:r>
              <a:rPr lang="es-ES" dirty="0" err="1"/>
              <a:t>Professors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Computer</a:t>
            </a:r>
            <a:r>
              <a:rPr lang="es-ES" dirty="0"/>
              <a:t> </a:t>
            </a:r>
            <a:r>
              <a:rPr lang="es-ES" dirty="0" err="1"/>
              <a:t>Science</a:t>
            </a:r>
            <a:endParaRPr lang="es-ES" dirty="0"/>
          </a:p>
          <a:p>
            <a:pPr lvl="1">
              <a:tabLst>
                <a:tab pos="1435100" algn="l"/>
              </a:tabLst>
            </a:pPr>
            <a:r>
              <a:rPr lang="es-ES" dirty="0"/>
              <a:t>CORE	Computing </a:t>
            </a:r>
            <a:r>
              <a:rPr lang="es-ES" dirty="0" err="1"/>
              <a:t>Research</a:t>
            </a:r>
            <a:r>
              <a:rPr lang="es-ES" dirty="0"/>
              <a:t> and </a:t>
            </a:r>
            <a:r>
              <a:rPr lang="es-ES" dirty="0" err="1"/>
              <a:t>Education</a:t>
            </a:r>
            <a:r>
              <a:rPr lang="es-ES" dirty="0"/>
              <a:t> </a:t>
            </a:r>
            <a:r>
              <a:rPr lang="es-ES" dirty="0" err="1"/>
              <a:t>Association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Australasia</a:t>
            </a:r>
            <a:br>
              <a:rPr lang="es-ES" dirty="0"/>
            </a:br>
            <a:r>
              <a:rPr lang="es-ES" dirty="0"/>
              <a:t>	</a:t>
            </a:r>
            <a:r>
              <a:rPr lang="es-ES" i="1" dirty="0"/>
              <a:t>Versión australiana del ranking (se llamaba CORE) desde 2008 !</a:t>
            </a:r>
            <a:r>
              <a:rPr lang="es-ES" dirty="0"/>
              <a:t> </a:t>
            </a:r>
          </a:p>
          <a:p>
            <a:pPr>
              <a:spcBef>
                <a:spcPts val="1800"/>
              </a:spcBef>
            </a:pPr>
            <a:r>
              <a:rPr lang="es-ES"/>
              <a:t>Revisión bienal </a:t>
            </a:r>
            <a:r>
              <a:rPr lang="es-ES" dirty="0"/>
              <a:t>de congresos, última en enero 2026</a:t>
            </a:r>
          </a:p>
          <a:p>
            <a:pPr lvl="1"/>
            <a:r>
              <a:rPr lang="es-ES" dirty="0"/>
              <a:t>recopilación automática de datos</a:t>
            </a:r>
          </a:p>
          <a:p>
            <a:pPr lvl="1"/>
            <a:r>
              <a:rPr lang="es-ES" dirty="0"/>
              <a:t>propuestas de inclusión o reclasificación</a:t>
            </a:r>
            <a:br>
              <a:rPr lang="es-ES" dirty="0"/>
            </a:br>
            <a:r>
              <a:rPr lang="es-ES" dirty="0"/>
              <a:t>a petición de los propios comités de dirección de los congresos</a:t>
            </a:r>
          </a:p>
          <a:p>
            <a:pPr lvl="1"/>
            <a:r>
              <a:rPr lang="es-ES" dirty="0"/>
              <a:t>funcionamiento colegiado y transparente</a:t>
            </a:r>
          </a:p>
          <a:p>
            <a:pPr>
              <a:spcBef>
                <a:spcPts val="1800"/>
              </a:spcBef>
            </a:pPr>
            <a:r>
              <a:rPr lang="es-ES" dirty="0">
                <a:solidFill>
                  <a:srgbClr val="0000FF"/>
                </a:solidFill>
              </a:rPr>
              <a:t>Ranking de 4 categorías + “sin clasificar”</a:t>
            </a:r>
          </a:p>
        </p:txBody>
      </p:sp>
    </p:spTree>
    <p:extLst>
      <p:ext uri="{BB962C8B-B14F-4D97-AF65-F5344CB8AC3E}">
        <p14:creationId xmlns:p14="http://schemas.microsoft.com/office/powerpoint/2010/main" val="1773904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342A0-F8C7-45F9-85B2-B382F966E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Computing energy and power: efficiency and control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5DF72-99F9-4CE0-A6C7-5DDD95507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10</a:t>
            </a:fld>
            <a:endParaRPr lang="es-ES" dirty="0"/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AA895BBB-CB3D-417A-8F0F-AB5DC4E651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498598"/>
              </p:ext>
            </p:extLst>
          </p:nvPr>
        </p:nvGraphicFramePr>
        <p:xfrm>
          <a:off x="1416000" y="2277000"/>
          <a:ext cx="9396000" cy="222504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936000">
                  <a:extLst>
                    <a:ext uri="{9D8B030D-6E8A-4147-A177-3AD203B41FA5}">
                      <a16:colId xmlns:a16="http://schemas.microsoft.com/office/drawing/2014/main" val="641323099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78185827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586775959"/>
                    </a:ext>
                  </a:extLst>
                </a:gridCol>
                <a:gridCol w="2484000">
                  <a:extLst>
                    <a:ext uri="{9D8B030D-6E8A-4147-A177-3AD203B41FA5}">
                      <a16:colId xmlns:a16="http://schemas.microsoft.com/office/drawing/2014/main" val="1974350494"/>
                    </a:ext>
                  </a:extLst>
                </a:gridCol>
                <a:gridCol w="4104000">
                  <a:extLst>
                    <a:ext uri="{9D8B030D-6E8A-4147-A177-3AD203B41FA5}">
                      <a16:colId xmlns:a16="http://schemas.microsoft.com/office/drawing/2014/main" val="35246674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Cat.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Núm.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Descripción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Comentario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248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A*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tabLst>
                          <a:tab pos="361950" algn="dec"/>
                        </a:tabLst>
                      </a:pPr>
                      <a:r>
                        <a:rPr lang="en-US" dirty="0"/>
                        <a:t> 	7.75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Excepcional (</a:t>
                      </a:r>
                      <a:r>
                        <a:rPr lang="es-ES" dirty="0" err="1"/>
                        <a:t>flagship</a:t>
                      </a:r>
                      <a:r>
                        <a:rPr lang="es-E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 Si puedes vas, aunque no te acepten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167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tabLst>
                          <a:tab pos="361950" algn="dec"/>
                        </a:tabLst>
                      </a:pPr>
                      <a:r>
                        <a:rPr lang="en-US" dirty="0"/>
                        <a:t>	13.50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Excelentes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 Si no te aceptan, es posible que vayas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619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tabLst>
                          <a:tab pos="361950" algn="dec"/>
                        </a:tabLst>
                      </a:pPr>
                      <a:r>
                        <a:rPr lang="en-US" dirty="0"/>
                        <a:t>	31.13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Buenos – muy buenos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 No vas si no te aceptan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29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381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361950" algn="dec"/>
                        </a:tabLst>
                      </a:pPr>
                      <a:r>
                        <a:rPr lang="en-US" dirty="0"/>
                        <a:t>	47.62</a:t>
                      </a:r>
                      <a:endParaRPr lang="es-E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Solidos y satisfactorios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 Merece la pena un desvío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1926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800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67294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3266DEC-B3B6-4699-BE01-DF741831F4AE}"/>
              </a:ext>
            </a:extLst>
          </p:cNvPr>
          <p:cNvSpPr txBox="1"/>
          <p:nvPr/>
        </p:nvSpPr>
        <p:spPr>
          <a:xfrm>
            <a:off x="1416000" y="5692334"/>
            <a:ext cx="4536000" cy="36933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/>
            <a:r>
              <a:rPr lang="es-ES" dirty="0">
                <a:hlinkClick r:id="rId2"/>
              </a:rPr>
              <a:t>https://portal.core.edu.au/conf-ranks/</a:t>
            </a:r>
            <a:endParaRPr lang="es-E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D7C7E2-E9AB-4F81-8A56-9844EDD64B4C}"/>
              </a:ext>
            </a:extLst>
          </p:cNvPr>
          <p:cNvSpPr txBox="1"/>
          <p:nvPr/>
        </p:nvSpPr>
        <p:spPr>
          <a:xfrm>
            <a:off x="2424000" y="1701000"/>
            <a:ext cx="2160000" cy="4616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/>
            <a:r>
              <a:rPr lang="es-ES" sz="2400" dirty="0"/>
              <a:t>2026</a:t>
            </a:r>
            <a:endParaRPr lang="es-ES" dirty="0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07D0A817-75CB-46CC-B390-54488D49C8B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84000" y="-3023874"/>
            <a:ext cx="11022419" cy="5084874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lang="es-ES" dirty="0">
                <a:solidFill>
                  <a:schemeClr val="bg1"/>
                </a:solidFill>
              </a:rPr>
              <a:t>International Core, un consorcio de sociedades:</a:t>
            </a:r>
          </a:p>
          <a:p>
            <a:pPr lvl="1">
              <a:buClr>
                <a:schemeClr val="bg1"/>
              </a:buClr>
              <a:tabLst>
                <a:tab pos="1435100" algn="l"/>
              </a:tabLst>
            </a:pPr>
            <a:r>
              <a:rPr lang="es-ES" dirty="0">
                <a:solidFill>
                  <a:schemeClr val="bg1"/>
                </a:solidFill>
              </a:rPr>
              <a:t>SCIE	Sociedad Científica Informática de España</a:t>
            </a:r>
          </a:p>
          <a:p>
            <a:pPr lvl="1">
              <a:buClr>
                <a:schemeClr val="bg1"/>
              </a:buClr>
              <a:tabLst>
                <a:tab pos="1435100" algn="l"/>
              </a:tabLst>
            </a:pPr>
            <a:r>
              <a:rPr lang="es-ES" dirty="0">
                <a:solidFill>
                  <a:schemeClr val="bg1"/>
                </a:solidFill>
              </a:rPr>
              <a:t>GII	</a:t>
            </a:r>
            <a:r>
              <a:rPr lang="es-ES" dirty="0" err="1">
                <a:solidFill>
                  <a:schemeClr val="bg1"/>
                </a:solidFill>
              </a:rPr>
              <a:t>Group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of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Italian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Professors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of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Computer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Engineering</a:t>
            </a:r>
            <a:endParaRPr lang="es-ES" dirty="0">
              <a:solidFill>
                <a:schemeClr val="bg1"/>
              </a:solidFill>
            </a:endParaRPr>
          </a:p>
          <a:p>
            <a:pPr lvl="1">
              <a:buClr>
                <a:schemeClr val="bg1"/>
              </a:buClr>
              <a:tabLst>
                <a:tab pos="1435100" algn="l"/>
              </a:tabLst>
            </a:pPr>
            <a:r>
              <a:rPr lang="es-ES" dirty="0">
                <a:solidFill>
                  <a:schemeClr val="bg1"/>
                </a:solidFill>
              </a:rPr>
              <a:t>GRIN	</a:t>
            </a:r>
            <a:r>
              <a:rPr lang="es-ES" dirty="0" err="1">
                <a:solidFill>
                  <a:schemeClr val="bg1"/>
                </a:solidFill>
              </a:rPr>
              <a:t>Group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of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Italian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Professors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of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Computer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Science</a:t>
            </a:r>
            <a:endParaRPr lang="es-ES" dirty="0">
              <a:solidFill>
                <a:schemeClr val="bg1"/>
              </a:solidFill>
            </a:endParaRPr>
          </a:p>
          <a:p>
            <a:pPr lvl="1">
              <a:buClr>
                <a:schemeClr val="bg1"/>
              </a:buClr>
              <a:tabLst>
                <a:tab pos="1435100" algn="l"/>
              </a:tabLst>
            </a:pPr>
            <a:r>
              <a:rPr lang="es-ES" dirty="0">
                <a:solidFill>
                  <a:schemeClr val="bg1"/>
                </a:solidFill>
              </a:rPr>
              <a:t>CORE	Computing </a:t>
            </a:r>
            <a:r>
              <a:rPr lang="es-ES" dirty="0" err="1">
                <a:solidFill>
                  <a:schemeClr val="bg1"/>
                </a:solidFill>
              </a:rPr>
              <a:t>Research</a:t>
            </a:r>
            <a:r>
              <a:rPr lang="es-ES" dirty="0">
                <a:solidFill>
                  <a:schemeClr val="bg1"/>
                </a:solidFill>
              </a:rPr>
              <a:t> and </a:t>
            </a:r>
            <a:r>
              <a:rPr lang="es-ES" dirty="0" err="1">
                <a:solidFill>
                  <a:schemeClr val="bg1"/>
                </a:solidFill>
              </a:rPr>
              <a:t>Education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Association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of</a:t>
            </a:r>
            <a:r>
              <a:rPr lang="es-ES" dirty="0">
                <a:solidFill>
                  <a:schemeClr val="bg1"/>
                </a:solidFill>
              </a:rPr>
              <a:t> Australasia, </a:t>
            </a:r>
          </a:p>
          <a:p>
            <a:pPr>
              <a:spcBef>
                <a:spcPts val="1800"/>
              </a:spcBef>
              <a:buClr>
                <a:schemeClr val="bg1"/>
              </a:buClr>
            </a:pPr>
            <a:r>
              <a:rPr lang="es-ES" dirty="0">
                <a:solidFill>
                  <a:schemeClr val="bg1"/>
                </a:solidFill>
              </a:rPr>
              <a:t>Revisión bianual de congresos, última en enero 2026</a:t>
            </a:r>
          </a:p>
          <a:p>
            <a:pPr lvl="1">
              <a:buClr>
                <a:schemeClr val="bg1"/>
              </a:buClr>
            </a:pPr>
            <a:r>
              <a:rPr lang="es-ES" dirty="0">
                <a:solidFill>
                  <a:schemeClr val="bg1"/>
                </a:solidFill>
              </a:rPr>
              <a:t>recopilación automática de datos</a:t>
            </a:r>
          </a:p>
          <a:p>
            <a:pPr lvl="1">
              <a:buClr>
                <a:schemeClr val="bg1"/>
              </a:buClr>
            </a:pPr>
            <a:r>
              <a:rPr lang="es-ES" dirty="0">
                <a:solidFill>
                  <a:schemeClr val="bg1"/>
                </a:solidFill>
              </a:rPr>
              <a:t>propuestas de inclusión o reclasificación</a:t>
            </a:r>
            <a:br>
              <a:rPr lang="es-ES" dirty="0">
                <a:solidFill>
                  <a:schemeClr val="bg1"/>
                </a:solidFill>
              </a:rPr>
            </a:br>
            <a:r>
              <a:rPr lang="es-ES" dirty="0">
                <a:solidFill>
                  <a:schemeClr val="bg1"/>
                </a:solidFill>
              </a:rPr>
              <a:t>a partir de los propios comités de dirección</a:t>
            </a:r>
          </a:p>
          <a:p>
            <a:pPr>
              <a:spcBef>
                <a:spcPts val="1800"/>
              </a:spcBef>
            </a:pPr>
            <a:r>
              <a:rPr lang="es-ES" dirty="0">
                <a:solidFill>
                  <a:srgbClr val="0000FF"/>
                </a:solidFill>
              </a:rPr>
              <a:t>Ranking de 4 categorías + “sin clasificar”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6F96C1E-FB60-40DC-8749-1E31EE86D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ICORE: Australia, Italia y España </a:t>
            </a:r>
            <a:r>
              <a:rPr lang="es-ES" sz="2400" dirty="0"/>
              <a:t>(2 de 2)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60790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96F25E5-BA7D-43BF-8146-5B4559FD1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700" dirty="0"/>
              <a:t>Historia de los 62 congresos ICORE A*: 1958 -2026</a:t>
            </a:r>
            <a:endParaRPr lang="es-E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67BEF4-3D18-4586-9B2B-9C022CE36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0BCA8-69F3-499B-B228-5428314A7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11</a:t>
            </a:fld>
            <a:endParaRPr lang="es-ES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265DB370-3966-43FB-AC5F-97218F271B24}"/>
              </a:ext>
            </a:extLst>
          </p:cNvPr>
          <p:cNvSpPr/>
          <p:nvPr/>
        </p:nvSpPr>
        <p:spPr>
          <a:xfrm>
            <a:off x="1564659" y="847832"/>
            <a:ext cx="0" cy="5120199"/>
          </a:xfrm>
          <a:prstGeom prst="line">
            <a:avLst/>
          </a:prstGeom>
          <a:noFill/>
          <a:ln w="9525">
            <a:solidFill>
              <a:srgbClr val="E4E6EE"/>
            </a:solidFill>
            <a:prstDash val="solid"/>
          </a:ln>
        </p:spPr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FBFB41AE-34A8-4DD5-8B5B-FF2A795541DF}"/>
              </a:ext>
            </a:extLst>
          </p:cNvPr>
          <p:cNvSpPr txBox="1"/>
          <p:nvPr/>
        </p:nvSpPr>
        <p:spPr>
          <a:xfrm>
            <a:off x="1273463" y="5968031"/>
            <a:ext cx="582392" cy="21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</a:t>
            </a:r>
            <a:endParaRPr lang="en-US" sz="85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7FB5F1CD-4379-42BA-8A04-E36BA76C7426}"/>
              </a:ext>
            </a:extLst>
          </p:cNvPr>
          <p:cNvSpPr/>
          <p:nvPr/>
        </p:nvSpPr>
        <p:spPr>
          <a:xfrm>
            <a:off x="3120560" y="847832"/>
            <a:ext cx="0" cy="5120199"/>
          </a:xfrm>
          <a:prstGeom prst="line">
            <a:avLst/>
          </a:prstGeom>
          <a:noFill/>
          <a:ln w="9525">
            <a:solidFill>
              <a:srgbClr val="E4E6EE"/>
            </a:solidFill>
            <a:prstDash val="solid"/>
          </a:ln>
        </p:spPr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69A4A465-63A3-40AC-9531-729E0E03A739}"/>
              </a:ext>
            </a:extLst>
          </p:cNvPr>
          <p:cNvSpPr txBox="1"/>
          <p:nvPr/>
        </p:nvSpPr>
        <p:spPr>
          <a:xfrm>
            <a:off x="2829364" y="5968031"/>
            <a:ext cx="582392" cy="21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</a:t>
            </a:r>
            <a:endParaRPr lang="en-US" sz="85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FE17CD14-C58C-4237-8605-F53FBAE59DFC}"/>
              </a:ext>
            </a:extLst>
          </p:cNvPr>
          <p:cNvSpPr/>
          <p:nvPr/>
        </p:nvSpPr>
        <p:spPr>
          <a:xfrm>
            <a:off x="4676462" y="847832"/>
            <a:ext cx="0" cy="5120199"/>
          </a:xfrm>
          <a:prstGeom prst="line">
            <a:avLst/>
          </a:prstGeom>
          <a:noFill/>
          <a:ln w="9525">
            <a:solidFill>
              <a:srgbClr val="E4E6EE"/>
            </a:solidFill>
            <a:prstDash val="solid"/>
          </a:ln>
        </p:spPr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85841578-7C8C-4728-8764-CCD4E5DC0F02}"/>
              </a:ext>
            </a:extLst>
          </p:cNvPr>
          <p:cNvSpPr txBox="1"/>
          <p:nvPr/>
        </p:nvSpPr>
        <p:spPr>
          <a:xfrm>
            <a:off x="4385265" y="5968031"/>
            <a:ext cx="582392" cy="21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</a:t>
            </a:r>
            <a:endParaRPr lang="en-US" sz="85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6489D4C4-2E92-48DD-AF13-F88B92F342E1}"/>
              </a:ext>
            </a:extLst>
          </p:cNvPr>
          <p:cNvSpPr/>
          <p:nvPr/>
        </p:nvSpPr>
        <p:spPr>
          <a:xfrm>
            <a:off x="6232362" y="847832"/>
            <a:ext cx="0" cy="5120199"/>
          </a:xfrm>
          <a:prstGeom prst="line">
            <a:avLst/>
          </a:prstGeom>
          <a:noFill/>
          <a:ln w="9525">
            <a:solidFill>
              <a:srgbClr val="E4E6EE"/>
            </a:solidFill>
            <a:prstDash val="solid"/>
          </a:ln>
        </p:spPr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E66DA43D-3BA3-40A4-A826-E9D3FB5080BA}"/>
              </a:ext>
            </a:extLst>
          </p:cNvPr>
          <p:cNvSpPr txBox="1"/>
          <p:nvPr/>
        </p:nvSpPr>
        <p:spPr>
          <a:xfrm>
            <a:off x="5941166" y="5968031"/>
            <a:ext cx="582392" cy="21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</a:t>
            </a:r>
            <a:endParaRPr lang="en-US" sz="850" dirty="0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C1D31D05-F553-4E7D-B1B0-B8DD9E29DF3A}"/>
              </a:ext>
            </a:extLst>
          </p:cNvPr>
          <p:cNvSpPr/>
          <p:nvPr/>
        </p:nvSpPr>
        <p:spPr>
          <a:xfrm>
            <a:off x="7788264" y="847832"/>
            <a:ext cx="0" cy="5120199"/>
          </a:xfrm>
          <a:prstGeom prst="line">
            <a:avLst/>
          </a:prstGeom>
          <a:noFill/>
          <a:ln w="9525">
            <a:solidFill>
              <a:srgbClr val="E4E6EE"/>
            </a:solidFill>
            <a:prstDash val="solid"/>
          </a:ln>
        </p:spPr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F6021F53-288E-400A-B34B-F0373E0767D8}"/>
              </a:ext>
            </a:extLst>
          </p:cNvPr>
          <p:cNvSpPr txBox="1"/>
          <p:nvPr/>
        </p:nvSpPr>
        <p:spPr>
          <a:xfrm>
            <a:off x="7497068" y="5968031"/>
            <a:ext cx="582392" cy="21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85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57F9933F-F830-4498-804D-EF80F858A92E}"/>
              </a:ext>
            </a:extLst>
          </p:cNvPr>
          <p:cNvSpPr/>
          <p:nvPr/>
        </p:nvSpPr>
        <p:spPr>
          <a:xfrm>
            <a:off x="9344165" y="847832"/>
            <a:ext cx="0" cy="5120199"/>
          </a:xfrm>
          <a:prstGeom prst="line">
            <a:avLst/>
          </a:prstGeom>
          <a:noFill/>
          <a:ln w="9525">
            <a:solidFill>
              <a:srgbClr val="E4E6EE"/>
            </a:solidFill>
            <a:prstDash val="solid"/>
          </a:ln>
        </p:spPr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ED86D65D-F507-4AEE-99ED-7B4796A1700D}"/>
              </a:ext>
            </a:extLst>
          </p:cNvPr>
          <p:cNvSpPr txBox="1"/>
          <p:nvPr/>
        </p:nvSpPr>
        <p:spPr>
          <a:xfrm>
            <a:off x="9052969" y="5968031"/>
            <a:ext cx="582392" cy="21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850" dirty="0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D9B84C16-19D9-4D85-A637-957A3069C686}"/>
              </a:ext>
            </a:extLst>
          </p:cNvPr>
          <p:cNvSpPr/>
          <p:nvPr/>
        </p:nvSpPr>
        <p:spPr>
          <a:xfrm>
            <a:off x="10900066" y="847832"/>
            <a:ext cx="0" cy="5120199"/>
          </a:xfrm>
          <a:prstGeom prst="line">
            <a:avLst/>
          </a:prstGeom>
          <a:noFill/>
          <a:ln w="9525">
            <a:solidFill>
              <a:srgbClr val="E4E6EE"/>
            </a:solidFill>
            <a:prstDash val="solid"/>
          </a:ln>
        </p:spPr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378B00A4-8C9F-4652-9A04-ADE5067C3A1B}"/>
              </a:ext>
            </a:extLst>
          </p:cNvPr>
          <p:cNvSpPr txBox="1"/>
          <p:nvPr/>
        </p:nvSpPr>
        <p:spPr>
          <a:xfrm>
            <a:off x="10608870" y="5968031"/>
            <a:ext cx="582392" cy="21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850" dirty="0"/>
          </a:p>
        </p:txBody>
      </p:sp>
      <p:sp>
        <p:nvSpPr>
          <p:cNvPr id="42" name="Shape 35">
            <a:extLst>
              <a:ext uri="{FF2B5EF4-FFF2-40B4-BE49-F238E27FC236}">
                <a16:creationId xmlns:a16="http://schemas.microsoft.com/office/drawing/2014/main" id="{AC6786D0-18E7-49A8-990C-A7720B1B9F9A}"/>
              </a:ext>
            </a:extLst>
          </p:cNvPr>
          <p:cNvSpPr/>
          <p:nvPr/>
        </p:nvSpPr>
        <p:spPr>
          <a:xfrm>
            <a:off x="1253478" y="847832"/>
            <a:ext cx="10580129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43" name="Shape 36">
            <a:extLst>
              <a:ext uri="{FF2B5EF4-FFF2-40B4-BE49-F238E27FC236}">
                <a16:creationId xmlns:a16="http://schemas.microsoft.com/office/drawing/2014/main" id="{67553536-1C18-4BE8-81B6-9E76A945EC70}"/>
              </a:ext>
            </a:extLst>
          </p:cNvPr>
          <p:cNvSpPr/>
          <p:nvPr/>
        </p:nvSpPr>
        <p:spPr>
          <a:xfrm>
            <a:off x="1253478" y="5929205"/>
            <a:ext cx="10580129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44" name="Shape 37">
            <a:extLst>
              <a:ext uri="{FF2B5EF4-FFF2-40B4-BE49-F238E27FC236}">
                <a16:creationId xmlns:a16="http://schemas.microsoft.com/office/drawing/2014/main" id="{189A07F7-60AE-4E29-9F9C-48A4E998F9C3}"/>
              </a:ext>
            </a:extLst>
          </p:cNvPr>
          <p:cNvSpPr/>
          <p:nvPr/>
        </p:nvSpPr>
        <p:spPr>
          <a:xfrm>
            <a:off x="6246525" y="1693019"/>
            <a:ext cx="4307856" cy="5105"/>
          </a:xfrm>
          <a:prstGeom prst="line">
            <a:avLst/>
          </a:prstGeom>
          <a:noFill/>
          <a:ln w="12700">
            <a:solidFill>
              <a:srgbClr val="1E2761"/>
            </a:solidFill>
            <a:prstDash val="sysDot"/>
          </a:ln>
        </p:spPr>
      </p:sp>
      <p:sp>
        <p:nvSpPr>
          <p:cNvPr id="46" name="Shape 39">
            <a:extLst>
              <a:ext uri="{FF2B5EF4-FFF2-40B4-BE49-F238E27FC236}">
                <a16:creationId xmlns:a16="http://schemas.microsoft.com/office/drawing/2014/main" id="{35B27D58-5A7A-45F8-9A8C-6B2967FF84EB}"/>
              </a:ext>
            </a:extLst>
          </p:cNvPr>
          <p:cNvSpPr/>
          <p:nvPr/>
        </p:nvSpPr>
        <p:spPr>
          <a:xfrm>
            <a:off x="3826397" y="5650627"/>
            <a:ext cx="659532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ysDot"/>
          </a:ln>
        </p:spPr>
      </p:sp>
      <p:sp>
        <p:nvSpPr>
          <p:cNvPr id="47" name="Shape 40">
            <a:extLst>
              <a:ext uri="{FF2B5EF4-FFF2-40B4-BE49-F238E27FC236}">
                <a16:creationId xmlns:a16="http://schemas.microsoft.com/office/drawing/2014/main" id="{EA78D0E8-2E4E-438F-8BF2-698C5DA4CE7A}"/>
              </a:ext>
            </a:extLst>
          </p:cNvPr>
          <p:cNvSpPr/>
          <p:nvPr/>
        </p:nvSpPr>
        <p:spPr>
          <a:xfrm>
            <a:off x="5108288" y="5650627"/>
            <a:ext cx="77795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ysDot"/>
          </a:ln>
        </p:spPr>
      </p:sp>
      <p:sp>
        <p:nvSpPr>
          <p:cNvPr id="48" name="Shape 41">
            <a:extLst>
              <a:ext uri="{FF2B5EF4-FFF2-40B4-BE49-F238E27FC236}">
                <a16:creationId xmlns:a16="http://schemas.microsoft.com/office/drawing/2014/main" id="{29A4E959-5AFE-4ECC-9DD0-D524EE014BE1}"/>
              </a:ext>
            </a:extLst>
          </p:cNvPr>
          <p:cNvSpPr/>
          <p:nvPr/>
        </p:nvSpPr>
        <p:spPr>
          <a:xfrm>
            <a:off x="3707977" y="98663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Shape 42">
            <a:extLst>
              <a:ext uri="{FF2B5EF4-FFF2-40B4-BE49-F238E27FC236}">
                <a16:creationId xmlns:a16="http://schemas.microsoft.com/office/drawing/2014/main" id="{EAC8ED00-C14F-418F-8137-2DEA6B7D07F1}"/>
              </a:ext>
            </a:extLst>
          </p:cNvPr>
          <p:cNvSpPr/>
          <p:nvPr/>
        </p:nvSpPr>
        <p:spPr>
          <a:xfrm>
            <a:off x="8998042" y="98663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0" name="Shape 43">
            <a:extLst>
              <a:ext uri="{FF2B5EF4-FFF2-40B4-BE49-F238E27FC236}">
                <a16:creationId xmlns:a16="http://schemas.microsoft.com/office/drawing/2014/main" id="{852A9DE7-7A7A-49C9-ACE6-269A302F25D3}"/>
              </a:ext>
            </a:extLst>
          </p:cNvPr>
          <p:cNvSpPr/>
          <p:nvPr/>
        </p:nvSpPr>
        <p:spPr>
          <a:xfrm>
            <a:off x="5108288" y="98663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1" name="Shape 44">
            <a:extLst>
              <a:ext uri="{FF2B5EF4-FFF2-40B4-BE49-F238E27FC236}">
                <a16:creationId xmlns:a16="http://schemas.microsoft.com/office/drawing/2014/main" id="{FB06E0F8-A322-4B1A-B8F1-6439CE21E6E9}"/>
              </a:ext>
            </a:extLst>
          </p:cNvPr>
          <p:cNvSpPr/>
          <p:nvPr/>
        </p:nvSpPr>
        <p:spPr>
          <a:xfrm>
            <a:off x="5886239" y="98663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2" name="Shape 45">
            <a:extLst>
              <a:ext uri="{FF2B5EF4-FFF2-40B4-BE49-F238E27FC236}">
                <a16:creationId xmlns:a16="http://schemas.microsoft.com/office/drawing/2014/main" id="{1742F382-3F64-4B3D-83C1-0847BA79D9DD}"/>
              </a:ext>
            </a:extLst>
          </p:cNvPr>
          <p:cNvSpPr/>
          <p:nvPr/>
        </p:nvSpPr>
        <p:spPr>
          <a:xfrm>
            <a:off x="5263878" y="113029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3" name="Shape 46">
            <a:extLst>
              <a:ext uri="{FF2B5EF4-FFF2-40B4-BE49-F238E27FC236}">
                <a16:creationId xmlns:a16="http://schemas.microsoft.com/office/drawing/2014/main" id="{C30E81AE-ECFD-476B-9913-230F781BD251}"/>
              </a:ext>
            </a:extLst>
          </p:cNvPr>
          <p:cNvSpPr/>
          <p:nvPr/>
        </p:nvSpPr>
        <p:spPr>
          <a:xfrm>
            <a:off x="8686861" y="113029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4" name="Shape 47">
            <a:extLst>
              <a:ext uri="{FF2B5EF4-FFF2-40B4-BE49-F238E27FC236}">
                <a16:creationId xmlns:a16="http://schemas.microsoft.com/office/drawing/2014/main" id="{894B8061-1060-43F1-B7CE-2A3F400E28A3}"/>
              </a:ext>
            </a:extLst>
          </p:cNvPr>
          <p:cNvSpPr/>
          <p:nvPr/>
        </p:nvSpPr>
        <p:spPr>
          <a:xfrm>
            <a:off x="6664190" y="98663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5" name="Shape 48">
            <a:extLst>
              <a:ext uri="{FF2B5EF4-FFF2-40B4-BE49-F238E27FC236}">
                <a16:creationId xmlns:a16="http://schemas.microsoft.com/office/drawing/2014/main" id="{8BDEF309-9EA6-4861-97D1-02D6900CF147}"/>
              </a:ext>
            </a:extLst>
          </p:cNvPr>
          <p:cNvSpPr/>
          <p:nvPr/>
        </p:nvSpPr>
        <p:spPr>
          <a:xfrm>
            <a:off x="8064501" y="98663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6" name="Shape 49">
            <a:extLst>
              <a:ext uri="{FF2B5EF4-FFF2-40B4-BE49-F238E27FC236}">
                <a16:creationId xmlns:a16="http://schemas.microsoft.com/office/drawing/2014/main" id="{60F01680-6311-4B53-B389-AD14AECC4DAB}"/>
              </a:ext>
            </a:extLst>
          </p:cNvPr>
          <p:cNvSpPr/>
          <p:nvPr/>
        </p:nvSpPr>
        <p:spPr>
          <a:xfrm>
            <a:off x="4641517" y="1519524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7" name="Shape 50">
            <a:extLst>
              <a:ext uri="{FF2B5EF4-FFF2-40B4-BE49-F238E27FC236}">
                <a16:creationId xmlns:a16="http://schemas.microsoft.com/office/drawing/2014/main" id="{ECD15095-456A-4C11-89B5-E6C15F11903E}"/>
              </a:ext>
            </a:extLst>
          </p:cNvPr>
          <p:cNvSpPr/>
          <p:nvPr/>
        </p:nvSpPr>
        <p:spPr>
          <a:xfrm>
            <a:off x="2930027" y="137586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8" name="Shape 51">
            <a:extLst>
              <a:ext uri="{FF2B5EF4-FFF2-40B4-BE49-F238E27FC236}">
                <a16:creationId xmlns:a16="http://schemas.microsoft.com/office/drawing/2014/main" id="{4612E239-3497-4578-9228-BDFF56C05B4C}"/>
              </a:ext>
            </a:extLst>
          </p:cNvPr>
          <p:cNvSpPr/>
          <p:nvPr/>
        </p:nvSpPr>
        <p:spPr>
          <a:xfrm>
            <a:off x="5108288" y="137586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9" name="Shape 52">
            <a:extLst>
              <a:ext uri="{FF2B5EF4-FFF2-40B4-BE49-F238E27FC236}">
                <a16:creationId xmlns:a16="http://schemas.microsoft.com/office/drawing/2014/main" id="{69C6E50F-D9E2-4411-8BF4-DB70FAB76DE0}"/>
              </a:ext>
            </a:extLst>
          </p:cNvPr>
          <p:cNvSpPr/>
          <p:nvPr/>
        </p:nvSpPr>
        <p:spPr>
          <a:xfrm>
            <a:off x="5730649" y="1519524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0" name="Shape 53">
            <a:extLst>
              <a:ext uri="{FF2B5EF4-FFF2-40B4-BE49-F238E27FC236}">
                <a16:creationId xmlns:a16="http://schemas.microsoft.com/office/drawing/2014/main" id="{B95F3752-12E6-4771-A31D-CB3047C9D914}"/>
              </a:ext>
            </a:extLst>
          </p:cNvPr>
          <p:cNvSpPr/>
          <p:nvPr/>
        </p:nvSpPr>
        <p:spPr>
          <a:xfrm>
            <a:off x="6197419" y="180683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1" name="Shape 54">
            <a:extLst>
              <a:ext uri="{FF2B5EF4-FFF2-40B4-BE49-F238E27FC236}">
                <a16:creationId xmlns:a16="http://schemas.microsoft.com/office/drawing/2014/main" id="{255BDC4E-D238-4C57-91E2-513305A09770}"/>
              </a:ext>
            </a:extLst>
          </p:cNvPr>
          <p:cNvSpPr/>
          <p:nvPr/>
        </p:nvSpPr>
        <p:spPr>
          <a:xfrm>
            <a:off x="4641517" y="166318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2" name="Shape 55">
            <a:extLst>
              <a:ext uri="{FF2B5EF4-FFF2-40B4-BE49-F238E27FC236}">
                <a16:creationId xmlns:a16="http://schemas.microsoft.com/office/drawing/2014/main" id="{BA7F3B77-9C3C-4BB4-9996-2C6BBE172BB6}"/>
              </a:ext>
            </a:extLst>
          </p:cNvPr>
          <p:cNvSpPr/>
          <p:nvPr/>
        </p:nvSpPr>
        <p:spPr>
          <a:xfrm>
            <a:off x="5730649" y="166318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3" name="Shape 56">
            <a:extLst>
              <a:ext uri="{FF2B5EF4-FFF2-40B4-BE49-F238E27FC236}">
                <a16:creationId xmlns:a16="http://schemas.microsoft.com/office/drawing/2014/main" id="{5285EBAA-843A-4094-B11C-E63A7C2DB1AF}"/>
              </a:ext>
            </a:extLst>
          </p:cNvPr>
          <p:cNvSpPr/>
          <p:nvPr/>
        </p:nvSpPr>
        <p:spPr>
          <a:xfrm>
            <a:off x="10553943" y="166318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4" name="Shape 57">
            <a:extLst>
              <a:ext uri="{FF2B5EF4-FFF2-40B4-BE49-F238E27FC236}">
                <a16:creationId xmlns:a16="http://schemas.microsoft.com/office/drawing/2014/main" id="{4E56659A-F41F-4716-9736-7F77AA65369B}"/>
              </a:ext>
            </a:extLst>
          </p:cNvPr>
          <p:cNvSpPr/>
          <p:nvPr/>
        </p:nvSpPr>
        <p:spPr>
          <a:xfrm>
            <a:off x="9775991" y="137586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5" name="Shape 58">
            <a:extLst>
              <a:ext uri="{FF2B5EF4-FFF2-40B4-BE49-F238E27FC236}">
                <a16:creationId xmlns:a16="http://schemas.microsoft.com/office/drawing/2014/main" id="{D5875244-A511-434E-99ED-EDBADE3F3C06}"/>
              </a:ext>
            </a:extLst>
          </p:cNvPr>
          <p:cNvSpPr/>
          <p:nvPr/>
        </p:nvSpPr>
        <p:spPr>
          <a:xfrm>
            <a:off x="6975370" y="180683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6" name="Shape 59">
            <a:extLst>
              <a:ext uri="{FF2B5EF4-FFF2-40B4-BE49-F238E27FC236}">
                <a16:creationId xmlns:a16="http://schemas.microsoft.com/office/drawing/2014/main" id="{C2BE17FD-4FE8-4C74-98F9-1C6EB62C6B97}"/>
              </a:ext>
            </a:extLst>
          </p:cNvPr>
          <p:cNvSpPr/>
          <p:nvPr/>
        </p:nvSpPr>
        <p:spPr>
          <a:xfrm>
            <a:off x="7908911" y="137586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7" name="Shape 60">
            <a:extLst>
              <a:ext uri="{FF2B5EF4-FFF2-40B4-BE49-F238E27FC236}">
                <a16:creationId xmlns:a16="http://schemas.microsoft.com/office/drawing/2014/main" id="{90021DB1-23E9-4296-B0CF-6A0586E7DA85}"/>
              </a:ext>
            </a:extLst>
          </p:cNvPr>
          <p:cNvSpPr/>
          <p:nvPr/>
        </p:nvSpPr>
        <p:spPr>
          <a:xfrm>
            <a:off x="1864026" y="1216054"/>
            <a:ext cx="90" cy="389513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  <p:txBody>
          <a:bodyPr wrap="none" lIns="0" tIns="0" rIns="0" bIns="0" anchor="ctr" anchorCtr="0">
            <a:spAutoFit/>
          </a:bodyPr>
          <a:lstStyle/>
          <a:p>
            <a:endParaRPr lang="es-ES"/>
          </a:p>
        </p:txBody>
      </p:sp>
      <p:sp>
        <p:nvSpPr>
          <p:cNvPr id="68" name="Shape 61">
            <a:extLst>
              <a:ext uri="{FF2B5EF4-FFF2-40B4-BE49-F238E27FC236}">
                <a16:creationId xmlns:a16="http://schemas.microsoft.com/office/drawing/2014/main" id="{75FE4535-D257-4D63-B5F1-F297A5A56757}"/>
              </a:ext>
            </a:extLst>
          </p:cNvPr>
          <p:cNvSpPr/>
          <p:nvPr/>
        </p:nvSpPr>
        <p:spPr>
          <a:xfrm>
            <a:off x="7130959" y="209415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9" name="Shape 62">
            <a:extLst>
              <a:ext uri="{FF2B5EF4-FFF2-40B4-BE49-F238E27FC236}">
                <a16:creationId xmlns:a16="http://schemas.microsoft.com/office/drawing/2014/main" id="{E04E72BB-CC58-4935-8632-A3402C83CA3B}"/>
              </a:ext>
            </a:extLst>
          </p:cNvPr>
          <p:cNvSpPr/>
          <p:nvPr/>
        </p:nvSpPr>
        <p:spPr>
          <a:xfrm>
            <a:off x="4330337" y="137586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0" name="Shape 63">
            <a:extLst>
              <a:ext uri="{FF2B5EF4-FFF2-40B4-BE49-F238E27FC236}">
                <a16:creationId xmlns:a16="http://schemas.microsoft.com/office/drawing/2014/main" id="{7DDE2C04-FB00-4014-9218-2596B34F6702}"/>
              </a:ext>
            </a:extLst>
          </p:cNvPr>
          <p:cNvSpPr/>
          <p:nvPr/>
        </p:nvSpPr>
        <p:spPr>
          <a:xfrm>
            <a:off x="6819779" y="1950494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1" name="Shape 64">
            <a:extLst>
              <a:ext uri="{FF2B5EF4-FFF2-40B4-BE49-F238E27FC236}">
                <a16:creationId xmlns:a16="http://schemas.microsoft.com/office/drawing/2014/main" id="{51191D7A-361D-455B-88BD-8C7ACC8A7DC9}"/>
              </a:ext>
            </a:extLst>
          </p:cNvPr>
          <p:cNvSpPr/>
          <p:nvPr/>
        </p:nvSpPr>
        <p:spPr>
          <a:xfrm>
            <a:off x="6508600" y="1519524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2" name="Shape 65">
            <a:extLst>
              <a:ext uri="{FF2B5EF4-FFF2-40B4-BE49-F238E27FC236}">
                <a16:creationId xmlns:a16="http://schemas.microsoft.com/office/drawing/2014/main" id="{01F43D26-281F-458C-95DB-D58A81EC2035}"/>
              </a:ext>
            </a:extLst>
          </p:cNvPr>
          <p:cNvSpPr/>
          <p:nvPr/>
        </p:nvSpPr>
        <p:spPr>
          <a:xfrm>
            <a:off x="6041830" y="137586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3" name="Shape 66">
            <a:extLst>
              <a:ext uri="{FF2B5EF4-FFF2-40B4-BE49-F238E27FC236}">
                <a16:creationId xmlns:a16="http://schemas.microsoft.com/office/drawing/2014/main" id="{D2FDB872-85A8-498E-93D9-FA8A071D6D44}"/>
              </a:ext>
            </a:extLst>
          </p:cNvPr>
          <p:cNvSpPr/>
          <p:nvPr/>
        </p:nvSpPr>
        <p:spPr>
          <a:xfrm>
            <a:off x="6664190" y="137586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4" name="Shape 67">
            <a:extLst>
              <a:ext uri="{FF2B5EF4-FFF2-40B4-BE49-F238E27FC236}">
                <a16:creationId xmlns:a16="http://schemas.microsoft.com/office/drawing/2014/main" id="{7E31F7CF-9F34-405F-9690-0B636860AF6B}"/>
              </a:ext>
            </a:extLst>
          </p:cNvPr>
          <p:cNvSpPr/>
          <p:nvPr/>
        </p:nvSpPr>
        <p:spPr>
          <a:xfrm>
            <a:off x="5886239" y="2277605"/>
            <a:ext cx="69887" cy="69887"/>
          </a:xfrm>
          <a:prstGeom prst="ellipse">
            <a:avLst/>
          </a:prstGeom>
          <a:solidFill>
            <a:srgbClr val="4A4E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6" name="Shape 69">
            <a:extLst>
              <a:ext uri="{FF2B5EF4-FFF2-40B4-BE49-F238E27FC236}">
                <a16:creationId xmlns:a16="http://schemas.microsoft.com/office/drawing/2014/main" id="{D99AAC4D-DC46-4ABF-AA34-1CD83C2157BC}"/>
              </a:ext>
            </a:extLst>
          </p:cNvPr>
          <p:cNvSpPr/>
          <p:nvPr/>
        </p:nvSpPr>
        <p:spPr>
          <a:xfrm>
            <a:off x="2930027" y="2475619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7" name="Shape 70">
            <a:extLst>
              <a:ext uri="{FF2B5EF4-FFF2-40B4-BE49-F238E27FC236}">
                <a16:creationId xmlns:a16="http://schemas.microsoft.com/office/drawing/2014/main" id="{D7B1BBEF-EEE1-4829-8876-618EBD5A094F}"/>
              </a:ext>
            </a:extLst>
          </p:cNvPr>
          <p:cNvSpPr/>
          <p:nvPr/>
        </p:nvSpPr>
        <p:spPr>
          <a:xfrm>
            <a:off x="6197419" y="261927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8" name="Shape 71">
            <a:extLst>
              <a:ext uri="{FF2B5EF4-FFF2-40B4-BE49-F238E27FC236}">
                <a16:creationId xmlns:a16="http://schemas.microsoft.com/office/drawing/2014/main" id="{C75759DA-D261-40A8-B339-49E0140B91E7}"/>
              </a:ext>
            </a:extLst>
          </p:cNvPr>
          <p:cNvSpPr/>
          <p:nvPr/>
        </p:nvSpPr>
        <p:spPr>
          <a:xfrm>
            <a:off x="3396797" y="261927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9" name="Shape 72">
            <a:extLst>
              <a:ext uri="{FF2B5EF4-FFF2-40B4-BE49-F238E27FC236}">
                <a16:creationId xmlns:a16="http://schemas.microsoft.com/office/drawing/2014/main" id="{A682EEC5-27C3-467E-A707-54DD01DDFC67}"/>
              </a:ext>
            </a:extLst>
          </p:cNvPr>
          <p:cNvSpPr/>
          <p:nvPr/>
        </p:nvSpPr>
        <p:spPr>
          <a:xfrm>
            <a:off x="5419469" y="276293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0" name="Shape 73">
            <a:extLst>
              <a:ext uri="{FF2B5EF4-FFF2-40B4-BE49-F238E27FC236}">
                <a16:creationId xmlns:a16="http://schemas.microsoft.com/office/drawing/2014/main" id="{C013AA83-BF81-4A8B-9383-65F49B228ECF}"/>
              </a:ext>
            </a:extLst>
          </p:cNvPr>
          <p:cNvSpPr/>
          <p:nvPr/>
        </p:nvSpPr>
        <p:spPr>
          <a:xfrm>
            <a:off x="4797108" y="2475619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1" name="Shape 74">
            <a:extLst>
              <a:ext uri="{FF2B5EF4-FFF2-40B4-BE49-F238E27FC236}">
                <a16:creationId xmlns:a16="http://schemas.microsoft.com/office/drawing/2014/main" id="{6193DBB1-9A67-431A-A08A-B3FA232AC5E0}"/>
              </a:ext>
            </a:extLst>
          </p:cNvPr>
          <p:cNvSpPr/>
          <p:nvPr/>
        </p:nvSpPr>
        <p:spPr>
          <a:xfrm>
            <a:off x="4952698" y="261927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2" name="Shape 75">
            <a:extLst>
              <a:ext uri="{FF2B5EF4-FFF2-40B4-BE49-F238E27FC236}">
                <a16:creationId xmlns:a16="http://schemas.microsoft.com/office/drawing/2014/main" id="{5D6ADE0F-184C-443F-90FE-0C0EC6627324}"/>
              </a:ext>
            </a:extLst>
          </p:cNvPr>
          <p:cNvSpPr/>
          <p:nvPr/>
        </p:nvSpPr>
        <p:spPr>
          <a:xfrm>
            <a:off x="5575059" y="2906589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3" name="Shape 76">
            <a:extLst>
              <a:ext uri="{FF2B5EF4-FFF2-40B4-BE49-F238E27FC236}">
                <a16:creationId xmlns:a16="http://schemas.microsoft.com/office/drawing/2014/main" id="{B84FB6ED-DA52-4E6A-9707-D6BCDAE67B9A}"/>
              </a:ext>
            </a:extLst>
          </p:cNvPr>
          <p:cNvSpPr/>
          <p:nvPr/>
        </p:nvSpPr>
        <p:spPr>
          <a:xfrm>
            <a:off x="6041830" y="2475619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4" name="Shape 77">
            <a:extLst>
              <a:ext uri="{FF2B5EF4-FFF2-40B4-BE49-F238E27FC236}">
                <a16:creationId xmlns:a16="http://schemas.microsoft.com/office/drawing/2014/main" id="{88F7D77C-6F42-49E5-87E2-4FF078CA8957}"/>
              </a:ext>
            </a:extLst>
          </p:cNvPr>
          <p:cNvSpPr/>
          <p:nvPr/>
        </p:nvSpPr>
        <p:spPr>
          <a:xfrm>
            <a:off x="7597730" y="2475619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5" name="Shape 78">
            <a:extLst>
              <a:ext uri="{FF2B5EF4-FFF2-40B4-BE49-F238E27FC236}">
                <a16:creationId xmlns:a16="http://schemas.microsoft.com/office/drawing/2014/main" id="{3870FE9B-AEE7-4134-8A99-9BEEFCD0A917}"/>
              </a:ext>
            </a:extLst>
          </p:cNvPr>
          <p:cNvSpPr/>
          <p:nvPr/>
        </p:nvSpPr>
        <p:spPr>
          <a:xfrm>
            <a:off x="4952698" y="3090042"/>
            <a:ext cx="69887" cy="69887"/>
          </a:xfrm>
          <a:prstGeom prst="ellipse">
            <a:avLst/>
          </a:prstGeom>
          <a:solidFill>
            <a:srgbClr val="4A4E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6" name="Shape 79">
            <a:extLst>
              <a:ext uri="{FF2B5EF4-FFF2-40B4-BE49-F238E27FC236}">
                <a16:creationId xmlns:a16="http://schemas.microsoft.com/office/drawing/2014/main" id="{525AF1C7-7C42-4311-BD98-7985510E9F5E}"/>
              </a:ext>
            </a:extLst>
          </p:cNvPr>
          <p:cNvSpPr/>
          <p:nvPr/>
        </p:nvSpPr>
        <p:spPr>
          <a:xfrm>
            <a:off x="2618846" y="3288056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7" name="Shape 80">
            <a:extLst>
              <a:ext uri="{FF2B5EF4-FFF2-40B4-BE49-F238E27FC236}">
                <a16:creationId xmlns:a16="http://schemas.microsoft.com/office/drawing/2014/main" id="{17704BCB-A091-4206-8B94-FB6DF59252E0}"/>
              </a:ext>
            </a:extLst>
          </p:cNvPr>
          <p:cNvSpPr/>
          <p:nvPr/>
        </p:nvSpPr>
        <p:spPr>
          <a:xfrm>
            <a:off x="6819779" y="3288056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8" name="Shape 81">
            <a:extLst>
              <a:ext uri="{FF2B5EF4-FFF2-40B4-BE49-F238E27FC236}">
                <a16:creationId xmlns:a16="http://schemas.microsoft.com/office/drawing/2014/main" id="{B6735EB4-7249-41FE-8319-1C8A5FBBA7CD}"/>
              </a:ext>
            </a:extLst>
          </p:cNvPr>
          <p:cNvSpPr/>
          <p:nvPr/>
        </p:nvSpPr>
        <p:spPr>
          <a:xfrm>
            <a:off x="2774436" y="367728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9" name="Shape 82">
            <a:extLst>
              <a:ext uri="{FF2B5EF4-FFF2-40B4-BE49-F238E27FC236}">
                <a16:creationId xmlns:a16="http://schemas.microsoft.com/office/drawing/2014/main" id="{82616578-4799-4428-B99D-04CC2F8D6CD7}"/>
              </a:ext>
            </a:extLst>
          </p:cNvPr>
          <p:cNvSpPr/>
          <p:nvPr/>
        </p:nvSpPr>
        <p:spPr>
          <a:xfrm>
            <a:off x="3552388" y="353363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0" name="Shape 83">
            <a:extLst>
              <a:ext uri="{FF2B5EF4-FFF2-40B4-BE49-F238E27FC236}">
                <a16:creationId xmlns:a16="http://schemas.microsoft.com/office/drawing/2014/main" id="{5D4AB3F5-FFC1-4B5D-9711-3D5CFE4DF115}"/>
              </a:ext>
            </a:extLst>
          </p:cNvPr>
          <p:cNvSpPr/>
          <p:nvPr/>
        </p:nvSpPr>
        <p:spPr>
          <a:xfrm>
            <a:off x="4952698" y="353363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1" name="Shape 84">
            <a:extLst>
              <a:ext uri="{FF2B5EF4-FFF2-40B4-BE49-F238E27FC236}">
                <a16:creationId xmlns:a16="http://schemas.microsoft.com/office/drawing/2014/main" id="{1349F980-34FC-4751-928A-A73F2FCE0374}"/>
              </a:ext>
            </a:extLst>
          </p:cNvPr>
          <p:cNvSpPr/>
          <p:nvPr/>
        </p:nvSpPr>
        <p:spPr>
          <a:xfrm>
            <a:off x="6975370" y="353363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2" name="Shape 85">
            <a:extLst>
              <a:ext uri="{FF2B5EF4-FFF2-40B4-BE49-F238E27FC236}">
                <a16:creationId xmlns:a16="http://schemas.microsoft.com/office/drawing/2014/main" id="{D8713DA9-F44D-45E2-930C-92E53C42BF7B}"/>
              </a:ext>
            </a:extLst>
          </p:cNvPr>
          <p:cNvSpPr/>
          <p:nvPr/>
        </p:nvSpPr>
        <p:spPr>
          <a:xfrm>
            <a:off x="2152075" y="353363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3" name="Shape 86">
            <a:extLst>
              <a:ext uri="{FF2B5EF4-FFF2-40B4-BE49-F238E27FC236}">
                <a16:creationId xmlns:a16="http://schemas.microsoft.com/office/drawing/2014/main" id="{8B3306A8-AD24-4EBE-9737-688196A48391}"/>
              </a:ext>
            </a:extLst>
          </p:cNvPr>
          <p:cNvSpPr/>
          <p:nvPr/>
        </p:nvSpPr>
        <p:spPr>
          <a:xfrm>
            <a:off x="3552388" y="367728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4" name="Shape 87">
            <a:extLst>
              <a:ext uri="{FF2B5EF4-FFF2-40B4-BE49-F238E27FC236}">
                <a16:creationId xmlns:a16="http://schemas.microsoft.com/office/drawing/2014/main" id="{380234C5-3D12-4356-B95A-37E9304741BB}"/>
              </a:ext>
            </a:extLst>
          </p:cNvPr>
          <p:cNvSpPr/>
          <p:nvPr/>
        </p:nvSpPr>
        <p:spPr>
          <a:xfrm>
            <a:off x="6975370" y="3860742"/>
            <a:ext cx="69887" cy="69887"/>
          </a:xfrm>
          <a:prstGeom prst="ellipse">
            <a:avLst/>
          </a:prstGeom>
          <a:solidFill>
            <a:srgbClr val="4A4E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5" name="Shape 88">
            <a:extLst>
              <a:ext uri="{FF2B5EF4-FFF2-40B4-BE49-F238E27FC236}">
                <a16:creationId xmlns:a16="http://schemas.microsoft.com/office/drawing/2014/main" id="{A65FE5B2-0E64-4A63-B0F8-6CA8B0C01D98}"/>
              </a:ext>
            </a:extLst>
          </p:cNvPr>
          <p:cNvSpPr/>
          <p:nvPr/>
        </p:nvSpPr>
        <p:spPr>
          <a:xfrm>
            <a:off x="8220091" y="3860742"/>
            <a:ext cx="69887" cy="69887"/>
          </a:xfrm>
          <a:prstGeom prst="ellipse">
            <a:avLst/>
          </a:prstGeom>
          <a:solidFill>
            <a:srgbClr val="4A4E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6" name="Shape 89">
            <a:extLst>
              <a:ext uri="{FF2B5EF4-FFF2-40B4-BE49-F238E27FC236}">
                <a16:creationId xmlns:a16="http://schemas.microsoft.com/office/drawing/2014/main" id="{B9E6FA9D-9C21-445D-A567-0A0C95605B39}"/>
              </a:ext>
            </a:extLst>
          </p:cNvPr>
          <p:cNvSpPr/>
          <p:nvPr/>
        </p:nvSpPr>
        <p:spPr>
          <a:xfrm>
            <a:off x="5108288" y="4202411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7" name="Shape 90">
            <a:extLst>
              <a:ext uri="{FF2B5EF4-FFF2-40B4-BE49-F238E27FC236}">
                <a16:creationId xmlns:a16="http://schemas.microsoft.com/office/drawing/2014/main" id="{0F1E7A52-F6AE-49E7-9FF8-63BBF070D42B}"/>
              </a:ext>
            </a:extLst>
          </p:cNvPr>
          <p:cNvSpPr/>
          <p:nvPr/>
        </p:nvSpPr>
        <p:spPr>
          <a:xfrm>
            <a:off x="4952698" y="405875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8" name="Shape 91">
            <a:extLst>
              <a:ext uri="{FF2B5EF4-FFF2-40B4-BE49-F238E27FC236}">
                <a16:creationId xmlns:a16="http://schemas.microsoft.com/office/drawing/2014/main" id="{D68FE704-FB7F-4E04-839E-1C2A3E8B80B3}"/>
              </a:ext>
            </a:extLst>
          </p:cNvPr>
          <p:cNvSpPr/>
          <p:nvPr/>
        </p:nvSpPr>
        <p:spPr>
          <a:xfrm>
            <a:off x="4641517" y="444798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9" name="Shape 92">
            <a:extLst>
              <a:ext uri="{FF2B5EF4-FFF2-40B4-BE49-F238E27FC236}">
                <a16:creationId xmlns:a16="http://schemas.microsoft.com/office/drawing/2014/main" id="{F0C97875-D80F-4FB9-8CCB-FC6D97A69EAE}"/>
              </a:ext>
            </a:extLst>
          </p:cNvPr>
          <p:cNvSpPr/>
          <p:nvPr/>
        </p:nvSpPr>
        <p:spPr>
          <a:xfrm>
            <a:off x="6664190" y="444798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" name="Shape 93">
            <a:extLst>
              <a:ext uri="{FF2B5EF4-FFF2-40B4-BE49-F238E27FC236}">
                <a16:creationId xmlns:a16="http://schemas.microsoft.com/office/drawing/2014/main" id="{D39D76CF-79DA-479F-AE14-5BA08613B435}"/>
              </a:ext>
            </a:extLst>
          </p:cNvPr>
          <p:cNvSpPr/>
          <p:nvPr/>
        </p:nvSpPr>
        <p:spPr>
          <a:xfrm>
            <a:off x="6664190" y="4591644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" name="Shape 94">
            <a:extLst>
              <a:ext uri="{FF2B5EF4-FFF2-40B4-BE49-F238E27FC236}">
                <a16:creationId xmlns:a16="http://schemas.microsoft.com/office/drawing/2014/main" id="{5984735D-55F3-465E-8B20-A935336461B7}"/>
              </a:ext>
            </a:extLst>
          </p:cNvPr>
          <p:cNvSpPr/>
          <p:nvPr/>
        </p:nvSpPr>
        <p:spPr>
          <a:xfrm>
            <a:off x="6664190" y="4735301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" name="Shape 95">
            <a:extLst>
              <a:ext uri="{FF2B5EF4-FFF2-40B4-BE49-F238E27FC236}">
                <a16:creationId xmlns:a16="http://schemas.microsoft.com/office/drawing/2014/main" id="{A400528D-EB03-4332-B95B-00F0A62B5ADE}"/>
              </a:ext>
            </a:extLst>
          </p:cNvPr>
          <p:cNvSpPr/>
          <p:nvPr/>
        </p:nvSpPr>
        <p:spPr>
          <a:xfrm>
            <a:off x="3863568" y="4980876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3" name="Shape 96">
            <a:extLst>
              <a:ext uri="{FF2B5EF4-FFF2-40B4-BE49-F238E27FC236}">
                <a16:creationId xmlns:a16="http://schemas.microsoft.com/office/drawing/2014/main" id="{D437F923-7309-4AE4-AAA7-ACBA52F01D83}"/>
              </a:ext>
            </a:extLst>
          </p:cNvPr>
          <p:cNvSpPr/>
          <p:nvPr/>
        </p:nvSpPr>
        <p:spPr>
          <a:xfrm>
            <a:off x="3863568" y="512453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4" name="Shape 97">
            <a:extLst>
              <a:ext uri="{FF2B5EF4-FFF2-40B4-BE49-F238E27FC236}">
                <a16:creationId xmlns:a16="http://schemas.microsoft.com/office/drawing/2014/main" id="{AE8BFCAE-449D-436C-8F5C-55C762142944}"/>
              </a:ext>
            </a:extLst>
          </p:cNvPr>
          <p:cNvSpPr/>
          <p:nvPr/>
        </p:nvSpPr>
        <p:spPr>
          <a:xfrm>
            <a:off x="4952698" y="4980876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5" name="Shape 98">
            <a:extLst>
              <a:ext uri="{FF2B5EF4-FFF2-40B4-BE49-F238E27FC236}">
                <a16:creationId xmlns:a16="http://schemas.microsoft.com/office/drawing/2014/main" id="{57FB486E-8C3E-4B91-BB40-25CDB6DEC141}"/>
              </a:ext>
            </a:extLst>
          </p:cNvPr>
          <p:cNvSpPr/>
          <p:nvPr/>
        </p:nvSpPr>
        <p:spPr>
          <a:xfrm>
            <a:off x="5263878" y="512453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6" name="Shape 99">
            <a:extLst>
              <a:ext uri="{FF2B5EF4-FFF2-40B4-BE49-F238E27FC236}">
                <a16:creationId xmlns:a16="http://schemas.microsoft.com/office/drawing/2014/main" id="{AA537FD0-DB0A-4320-A858-1E0073A26725}"/>
              </a:ext>
            </a:extLst>
          </p:cNvPr>
          <p:cNvSpPr/>
          <p:nvPr/>
        </p:nvSpPr>
        <p:spPr>
          <a:xfrm>
            <a:off x="3863568" y="5370109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7" name="Shape 100">
            <a:extLst>
              <a:ext uri="{FF2B5EF4-FFF2-40B4-BE49-F238E27FC236}">
                <a16:creationId xmlns:a16="http://schemas.microsoft.com/office/drawing/2014/main" id="{3D1AF202-42DD-45B2-A275-E26749BD9A69}"/>
              </a:ext>
            </a:extLst>
          </p:cNvPr>
          <p:cNvSpPr/>
          <p:nvPr/>
        </p:nvSpPr>
        <p:spPr>
          <a:xfrm>
            <a:off x="6664190" y="5370109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8" name="Shape 101">
            <a:extLst>
              <a:ext uri="{FF2B5EF4-FFF2-40B4-BE49-F238E27FC236}">
                <a16:creationId xmlns:a16="http://schemas.microsoft.com/office/drawing/2014/main" id="{389E9C7D-14AC-4722-9BDB-FB6522E305F8}"/>
              </a:ext>
            </a:extLst>
          </p:cNvPr>
          <p:cNvSpPr/>
          <p:nvPr/>
        </p:nvSpPr>
        <p:spPr>
          <a:xfrm>
            <a:off x="11487484" y="5370109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9" name="Shape 102">
            <a:extLst>
              <a:ext uri="{FF2B5EF4-FFF2-40B4-BE49-F238E27FC236}">
                <a16:creationId xmlns:a16="http://schemas.microsoft.com/office/drawing/2014/main" id="{5309BD0C-CA4D-4E11-A398-9062936BF09A}"/>
              </a:ext>
            </a:extLst>
          </p:cNvPr>
          <p:cNvSpPr/>
          <p:nvPr/>
        </p:nvSpPr>
        <p:spPr>
          <a:xfrm>
            <a:off x="5575059" y="5370109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0" name="Shape 103">
            <a:extLst>
              <a:ext uri="{FF2B5EF4-FFF2-40B4-BE49-F238E27FC236}">
                <a16:creationId xmlns:a16="http://schemas.microsoft.com/office/drawing/2014/main" id="{B53B6FEF-C1EF-4262-8480-1FE677DA0ACF}"/>
              </a:ext>
            </a:extLst>
          </p:cNvPr>
          <p:cNvSpPr/>
          <p:nvPr/>
        </p:nvSpPr>
        <p:spPr>
          <a:xfrm>
            <a:off x="3552388" y="5759340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1" name="Shape 104">
            <a:extLst>
              <a:ext uri="{FF2B5EF4-FFF2-40B4-BE49-F238E27FC236}">
                <a16:creationId xmlns:a16="http://schemas.microsoft.com/office/drawing/2014/main" id="{661A0B4F-D21D-4CF3-A0C1-4A5B5E4EF29C}"/>
              </a:ext>
            </a:extLst>
          </p:cNvPr>
          <p:cNvSpPr/>
          <p:nvPr/>
        </p:nvSpPr>
        <p:spPr>
          <a:xfrm>
            <a:off x="3085616" y="5615684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2" name="Shape 105">
            <a:extLst>
              <a:ext uri="{FF2B5EF4-FFF2-40B4-BE49-F238E27FC236}">
                <a16:creationId xmlns:a16="http://schemas.microsoft.com/office/drawing/2014/main" id="{06FAC3C8-A355-463D-8539-E8D9574247F4}"/>
              </a:ext>
            </a:extLst>
          </p:cNvPr>
          <p:cNvSpPr/>
          <p:nvPr/>
        </p:nvSpPr>
        <p:spPr>
          <a:xfrm>
            <a:off x="4485928" y="5615684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3" name="Shape 106">
            <a:extLst>
              <a:ext uri="{FF2B5EF4-FFF2-40B4-BE49-F238E27FC236}">
                <a16:creationId xmlns:a16="http://schemas.microsoft.com/office/drawing/2014/main" id="{CF0EFFB0-1F91-4C93-9723-1F4F32364C47}"/>
              </a:ext>
            </a:extLst>
          </p:cNvPr>
          <p:cNvSpPr/>
          <p:nvPr/>
        </p:nvSpPr>
        <p:spPr>
          <a:xfrm>
            <a:off x="5886239" y="5615684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4" name="Text 107">
            <a:extLst>
              <a:ext uri="{FF2B5EF4-FFF2-40B4-BE49-F238E27FC236}">
                <a16:creationId xmlns:a16="http://schemas.microsoft.com/office/drawing/2014/main" id="{A1BDA80B-F315-47ED-9CD7-295CF83DA9E0}"/>
              </a:ext>
            </a:extLst>
          </p:cNvPr>
          <p:cNvSpPr txBox="1"/>
          <p:nvPr/>
        </p:nvSpPr>
        <p:spPr>
          <a:xfrm>
            <a:off x="3826397" y="934220"/>
            <a:ext cx="79283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SIGGRAPH '74</a:t>
            </a:r>
            <a:endParaRPr lang="en-US" sz="750" dirty="0"/>
          </a:p>
        </p:txBody>
      </p:sp>
      <p:sp>
        <p:nvSpPr>
          <p:cNvPr id="115" name="Text 108">
            <a:extLst>
              <a:ext uri="{FF2B5EF4-FFF2-40B4-BE49-F238E27FC236}">
                <a16:creationId xmlns:a16="http://schemas.microsoft.com/office/drawing/2014/main" id="{21044D3A-1373-43FC-A854-8EAF830A597A}"/>
              </a:ext>
            </a:extLst>
          </p:cNvPr>
          <p:cNvSpPr txBox="1"/>
          <p:nvPr/>
        </p:nvSpPr>
        <p:spPr>
          <a:xfrm>
            <a:off x="9116460" y="934220"/>
            <a:ext cx="1091306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SIGGRAPH Asia '08</a:t>
            </a:r>
            <a:endParaRPr lang="en-US" sz="750" dirty="0"/>
          </a:p>
        </p:txBody>
      </p:sp>
      <p:sp>
        <p:nvSpPr>
          <p:cNvPr id="116" name="Text 109">
            <a:extLst>
              <a:ext uri="{FF2B5EF4-FFF2-40B4-BE49-F238E27FC236}">
                <a16:creationId xmlns:a16="http://schemas.microsoft.com/office/drawing/2014/main" id="{175D1205-3C4F-41DB-860F-F6D223DC024F}"/>
              </a:ext>
            </a:extLst>
          </p:cNvPr>
          <p:cNvSpPr txBox="1"/>
          <p:nvPr/>
        </p:nvSpPr>
        <p:spPr>
          <a:xfrm>
            <a:off x="5226708" y="934220"/>
            <a:ext cx="49435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'83</a:t>
            </a:r>
            <a:endParaRPr lang="en-US" sz="750" dirty="0"/>
          </a:p>
        </p:txBody>
      </p:sp>
      <p:sp>
        <p:nvSpPr>
          <p:cNvPr id="117" name="Text 110">
            <a:extLst>
              <a:ext uri="{FF2B5EF4-FFF2-40B4-BE49-F238E27FC236}">
                <a16:creationId xmlns:a16="http://schemas.microsoft.com/office/drawing/2014/main" id="{E821E651-830C-4DE7-A493-E064CEB6EC61}"/>
              </a:ext>
            </a:extLst>
          </p:cNvPr>
          <p:cNvSpPr txBox="1"/>
          <p:nvPr/>
        </p:nvSpPr>
        <p:spPr>
          <a:xfrm>
            <a:off x="6004659" y="934220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UIST '88</a:t>
            </a:r>
            <a:endParaRPr lang="en-US" sz="750" dirty="0"/>
          </a:p>
        </p:txBody>
      </p:sp>
      <p:sp>
        <p:nvSpPr>
          <p:cNvPr id="118" name="Text 111">
            <a:extLst>
              <a:ext uri="{FF2B5EF4-FFF2-40B4-BE49-F238E27FC236}">
                <a16:creationId xmlns:a16="http://schemas.microsoft.com/office/drawing/2014/main" id="{2D27F2BB-DB36-4311-861D-96053BFC3BFD}"/>
              </a:ext>
            </a:extLst>
          </p:cNvPr>
          <p:cNvSpPr txBox="1"/>
          <p:nvPr/>
        </p:nvSpPr>
        <p:spPr>
          <a:xfrm>
            <a:off x="5382299" y="1077878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ICRA '84</a:t>
            </a:r>
            <a:endParaRPr lang="en-US" sz="750" dirty="0"/>
          </a:p>
        </p:txBody>
      </p:sp>
      <p:sp>
        <p:nvSpPr>
          <p:cNvPr id="119" name="Text 112">
            <a:extLst>
              <a:ext uri="{FF2B5EF4-FFF2-40B4-BE49-F238E27FC236}">
                <a16:creationId xmlns:a16="http://schemas.microsoft.com/office/drawing/2014/main" id="{8DA76D69-4AEF-4ACC-8929-6AC3A376068F}"/>
              </a:ext>
            </a:extLst>
          </p:cNvPr>
          <p:cNvSpPr txBox="1"/>
          <p:nvPr/>
        </p:nvSpPr>
        <p:spPr>
          <a:xfrm>
            <a:off x="8805281" y="1077878"/>
            <a:ext cx="49435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 '06</a:t>
            </a:r>
            <a:endParaRPr lang="en-US" sz="750" dirty="0"/>
          </a:p>
        </p:txBody>
      </p:sp>
      <p:sp>
        <p:nvSpPr>
          <p:cNvPr id="120" name="Text 113">
            <a:extLst>
              <a:ext uri="{FF2B5EF4-FFF2-40B4-BE49-F238E27FC236}">
                <a16:creationId xmlns:a16="http://schemas.microsoft.com/office/drawing/2014/main" id="{0D8EFAD7-870B-4CFF-8C73-A1B297726637}"/>
              </a:ext>
            </a:extLst>
          </p:cNvPr>
          <p:cNvSpPr txBox="1"/>
          <p:nvPr/>
        </p:nvSpPr>
        <p:spPr>
          <a:xfrm>
            <a:off x="6782609" y="934220"/>
            <a:ext cx="73313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VR '93</a:t>
            </a:r>
            <a:endParaRPr lang="en-US" sz="750" dirty="0"/>
          </a:p>
        </p:txBody>
      </p:sp>
      <p:sp>
        <p:nvSpPr>
          <p:cNvPr id="121" name="Text 114">
            <a:extLst>
              <a:ext uri="{FF2B5EF4-FFF2-40B4-BE49-F238E27FC236}">
                <a16:creationId xmlns:a16="http://schemas.microsoft.com/office/drawing/2014/main" id="{CDB4FFCA-ED9B-4982-B15D-D550A1989F5A}"/>
              </a:ext>
            </a:extLst>
          </p:cNvPr>
          <p:cNvSpPr txBox="1"/>
          <p:nvPr/>
        </p:nvSpPr>
        <p:spPr>
          <a:xfrm>
            <a:off x="8182920" y="934220"/>
            <a:ext cx="61374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ISMAR '02</a:t>
            </a:r>
            <a:endParaRPr lang="en-US" sz="750" dirty="0"/>
          </a:p>
        </p:txBody>
      </p:sp>
      <p:sp>
        <p:nvSpPr>
          <p:cNvPr id="122" name="Text 115">
            <a:extLst>
              <a:ext uri="{FF2B5EF4-FFF2-40B4-BE49-F238E27FC236}">
                <a16:creationId xmlns:a16="http://schemas.microsoft.com/office/drawing/2014/main" id="{038B339E-83C1-4FB2-918B-EC61466B2DD5}"/>
              </a:ext>
            </a:extLst>
          </p:cNvPr>
          <p:cNvSpPr txBox="1"/>
          <p:nvPr/>
        </p:nvSpPr>
        <p:spPr>
          <a:xfrm>
            <a:off x="4759938" y="1467109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AAAI '80</a:t>
            </a:r>
            <a:endParaRPr lang="en-US" sz="750" dirty="0"/>
          </a:p>
        </p:txBody>
      </p:sp>
      <p:sp>
        <p:nvSpPr>
          <p:cNvPr id="123" name="Text 116">
            <a:extLst>
              <a:ext uri="{FF2B5EF4-FFF2-40B4-BE49-F238E27FC236}">
                <a16:creationId xmlns:a16="http://schemas.microsoft.com/office/drawing/2014/main" id="{18516F4E-5E36-4258-A316-547EC26CCA4F}"/>
              </a:ext>
            </a:extLst>
          </p:cNvPr>
          <p:cNvSpPr txBox="1"/>
          <p:nvPr/>
        </p:nvSpPr>
        <p:spPr>
          <a:xfrm>
            <a:off x="3048446" y="1323452"/>
            <a:ext cx="61374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IJCAI '69</a:t>
            </a:r>
            <a:endParaRPr lang="en-US" sz="750" dirty="0"/>
          </a:p>
        </p:txBody>
      </p:sp>
      <p:sp>
        <p:nvSpPr>
          <p:cNvPr id="124" name="Text 117">
            <a:extLst>
              <a:ext uri="{FF2B5EF4-FFF2-40B4-BE49-F238E27FC236}">
                <a16:creationId xmlns:a16="http://schemas.microsoft.com/office/drawing/2014/main" id="{87383833-A278-41A2-B3DC-BAB5D32B5CFE}"/>
              </a:ext>
            </a:extLst>
          </p:cNvPr>
          <p:cNvSpPr txBox="1"/>
          <p:nvPr/>
        </p:nvSpPr>
        <p:spPr>
          <a:xfrm>
            <a:off x="5226708" y="1323452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CVPR '83</a:t>
            </a:r>
            <a:endParaRPr lang="en-US" sz="750" dirty="0"/>
          </a:p>
        </p:txBody>
      </p:sp>
      <p:sp>
        <p:nvSpPr>
          <p:cNvPr id="125" name="Text 118">
            <a:extLst>
              <a:ext uri="{FF2B5EF4-FFF2-40B4-BE49-F238E27FC236}">
                <a16:creationId xmlns:a16="http://schemas.microsoft.com/office/drawing/2014/main" id="{BBC9CE1A-0843-4F7E-9459-1E14B212DF58}"/>
              </a:ext>
            </a:extLst>
          </p:cNvPr>
          <p:cNvSpPr txBox="1"/>
          <p:nvPr/>
        </p:nvSpPr>
        <p:spPr>
          <a:xfrm>
            <a:off x="5849069" y="1467109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ICCV '87</a:t>
            </a:r>
            <a:endParaRPr lang="en-US" sz="750" dirty="0"/>
          </a:p>
        </p:txBody>
      </p:sp>
      <p:sp>
        <p:nvSpPr>
          <p:cNvPr id="126" name="Text 119">
            <a:extLst>
              <a:ext uri="{FF2B5EF4-FFF2-40B4-BE49-F238E27FC236}">
                <a16:creationId xmlns:a16="http://schemas.microsoft.com/office/drawing/2014/main" id="{FB0D739B-BA60-4861-8189-7A2B5AAA5C0F}"/>
              </a:ext>
            </a:extLst>
          </p:cNvPr>
          <p:cNvSpPr txBox="1"/>
          <p:nvPr/>
        </p:nvSpPr>
        <p:spPr>
          <a:xfrm>
            <a:off x="6315840" y="1754423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ECCV '90</a:t>
            </a:r>
            <a:endParaRPr lang="en-US" sz="750" dirty="0"/>
          </a:p>
        </p:txBody>
      </p:sp>
      <p:sp>
        <p:nvSpPr>
          <p:cNvPr id="127" name="Text 120">
            <a:extLst>
              <a:ext uri="{FF2B5EF4-FFF2-40B4-BE49-F238E27FC236}">
                <a16:creationId xmlns:a16="http://schemas.microsoft.com/office/drawing/2014/main" id="{7BBE850C-8DE5-474E-9626-1B57DD7B205D}"/>
              </a:ext>
            </a:extLst>
          </p:cNvPr>
          <p:cNvSpPr txBox="1"/>
          <p:nvPr/>
        </p:nvSpPr>
        <p:spPr>
          <a:xfrm>
            <a:off x="4759938" y="1610766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ICML '80</a:t>
            </a:r>
            <a:endParaRPr lang="en-US" sz="750" dirty="0"/>
          </a:p>
        </p:txBody>
      </p:sp>
      <p:sp>
        <p:nvSpPr>
          <p:cNvPr id="128" name="Text 121">
            <a:extLst>
              <a:ext uri="{FF2B5EF4-FFF2-40B4-BE49-F238E27FC236}">
                <a16:creationId xmlns:a16="http://schemas.microsoft.com/office/drawing/2014/main" id="{622547FE-C1A7-48D8-A019-8325501DB9DB}"/>
              </a:ext>
            </a:extLst>
          </p:cNvPr>
          <p:cNvSpPr txBox="1"/>
          <p:nvPr/>
        </p:nvSpPr>
        <p:spPr>
          <a:xfrm>
            <a:off x="5849069" y="1610766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NIPS '87</a:t>
            </a:r>
            <a:endParaRPr lang="en-US" sz="750" dirty="0"/>
          </a:p>
        </p:txBody>
      </p:sp>
      <p:sp>
        <p:nvSpPr>
          <p:cNvPr id="129" name="Text 122">
            <a:extLst>
              <a:ext uri="{FF2B5EF4-FFF2-40B4-BE49-F238E27FC236}">
                <a16:creationId xmlns:a16="http://schemas.microsoft.com/office/drawing/2014/main" id="{4C5BD25B-E593-413D-ADBD-19489240F0C1}"/>
              </a:ext>
            </a:extLst>
          </p:cNvPr>
          <p:cNvSpPr txBox="1"/>
          <p:nvPr/>
        </p:nvSpPr>
        <p:spPr>
          <a:xfrm>
            <a:off x="10672362" y="1610766"/>
            <a:ext cx="852526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NeurIPS '18</a:t>
            </a:r>
            <a:endParaRPr lang="en-US" sz="750" dirty="0"/>
          </a:p>
        </p:txBody>
      </p:sp>
      <p:sp>
        <p:nvSpPr>
          <p:cNvPr id="130" name="Text 123">
            <a:extLst>
              <a:ext uri="{FF2B5EF4-FFF2-40B4-BE49-F238E27FC236}">
                <a16:creationId xmlns:a16="http://schemas.microsoft.com/office/drawing/2014/main" id="{34CA22D2-163D-495D-AC63-9AC1C15106C4}"/>
              </a:ext>
            </a:extLst>
          </p:cNvPr>
          <p:cNvSpPr txBox="1"/>
          <p:nvPr/>
        </p:nvSpPr>
        <p:spPr>
          <a:xfrm>
            <a:off x="9894412" y="1323452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'13</a:t>
            </a:r>
            <a:endParaRPr lang="en-US" sz="750" dirty="0"/>
          </a:p>
        </p:txBody>
      </p:sp>
      <p:sp>
        <p:nvSpPr>
          <p:cNvPr id="131" name="Text 124">
            <a:extLst>
              <a:ext uri="{FF2B5EF4-FFF2-40B4-BE49-F238E27FC236}">
                <a16:creationId xmlns:a16="http://schemas.microsoft.com/office/drawing/2014/main" id="{2B608165-1071-4D47-BBC4-E607A18EEFF1}"/>
              </a:ext>
            </a:extLst>
          </p:cNvPr>
          <p:cNvSpPr txBox="1"/>
          <p:nvPr/>
        </p:nvSpPr>
        <p:spPr>
          <a:xfrm>
            <a:off x="7093789" y="1754423"/>
            <a:ext cx="49435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KDD '95</a:t>
            </a:r>
            <a:endParaRPr lang="en-US" sz="750" dirty="0"/>
          </a:p>
        </p:txBody>
      </p:sp>
      <p:sp>
        <p:nvSpPr>
          <p:cNvPr id="132" name="Text 125">
            <a:extLst>
              <a:ext uri="{FF2B5EF4-FFF2-40B4-BE49-F238E27FC236}">
                <a16:creationId xmlns:a16="http://schemas.microsoft.com/office/drawing/2014/main" id="{29CF83B2-837F-4E13-83C8-6DE0C97C1F49}"/>
              </a:ext>
            </a:extLst>
          </p:cNvPr>
          <p:cNvSpPr txBox="1"/>
          <p:nvPr/>
        </p:nvSpPr>
        <p:spPr>
          <a:xfrm>
            <a:off x="8027330" y="1323452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ICDM '01</a:t>
            </a:r>
            <a:endParaRPr lang="en-US" sz="750" dirty="0"/>
          </a:p>
        </p:txBody>
      </p:sp>
      <p:sp>
        <p:nvSpPr>
          <p:cNvPr id="133" name="Text 126">
            <a:extLst>
              <a:ext uri="{FF2B5EF4-FFF2-40B4-BE49-F238E27FC236}">
                <a16:creationId xmlns:a16="http://schemas.microsoft.com/office/drawing/2014/main" id="{8747AB99-9668-4566-A1D2-F29FC832D883}"/>
              </a:ext>
            </a:extLst>
          </p:cNvPr>
          <p:cNvSpPr txBox="1"/>
          <p:nvPr/>
        </p:nvSpPr>
        <p:spPr>
          <a:xfrm>
            <a:off x="2033715" y="1323452"/>
            <a:ext cx="49435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'63</a:t>
            </a:r>
            <a:endParaRPr lang="en-US" sz="750" dirty="0"/>
          </a:p>
        </p:txBody>
      </p:sp>
      <p:sp>
        <p:nvSpPr>
          <p:cNvPr id="134" name="Text 127">
            <a:extLst>
              <a:ext uri="{FF2B5EF4-FFF2-40B4-BE49-F238E27FC236}">
                <a16:creationId xmlns:a16="http://schemas.microsoft.com/office/drawing/2014/main" id="{F8A02A5F-F582-495B-8604-5C524353A45E}"/>
              </a:ext>
            </a:extLst>
          </p:cNvPr>
          <p:cNvSpPr txBox="1"/>
          <p:nvPr/>
        </p:nvSpPr>
        <p:spPr>
          <a:xfrm>
            <a:off x="7249380" y="2041736"/>
            <a:ext cx="61374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EMNLP '96</a:t>
            </a:r>
            <a:endParaRPr lang="en-US" sz="750" dirty="0"/>
          </a:p>
        </p:txBody>
      </p:sp>
      <p:sp>
        <p:nvSpPr>
          <p:cNvPr id="135" name="Text 128">
            <a:extLst>
              <a:ext uri="{FF2B5EF4-FFF2-40B4-BE49-F238E27FC236}">
                <a16:creationId xmlns:a16="http://schemas.microsoft.com/office/drawing/2014/main" id="{F5CEA790-54AE-490D-B362-6460338179C8}"/>
              </a:ext>
            </a:extLst>
          </p:cNvPr>
          <p:cNvSpPr txBox="1"/>
          <p:nvPr/>
        </p:nvSpPr>
        <p:spPr>
          <a:xfrm>
            <a:off x="4448758" y="1323452"/>
            <a:ext cx="61374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SIGIR '78</a:t>
            </a:r>
            <a:endParaRPr lang="en-US" sz="750" dirty="0"/>
          </a:p>
        </p:txBody>
      </p:sp>
      <p:sp>
        <p:nvSpPr>
          <p:cNvPr id="136" name="Text 129">
            <a:extLst>
              <a:ext uri="{FF2B5EF4-FFF2-40B4-BE49-F238E27FC236}">
                <a16:creationId xmlns:a16="http://schemas.microsoft.com/office/drawing/2014/main" id="{6003852B-4DFE-4407-A494-310C99BDCD91}"/>
              </a:ext>
            </a:extLst>
          </p:cNvPr>
          <p:cNvSpPr txBox="1"/>
          <p:nvPr/>
        </p:nvSpPr>
        <p:spPr>
          <a:xfrm>
            <a:off x="6938200" y="1898079"/>
            <a:ext cx="49435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 '94</a:t>
            </a:r>
            <a:endParaRPr lang="en-US" sz="750" dirty="0"/>
          </a:p>
        </p:txBody>
      </p:sp>
      <p:sp>
        <p:nvSpPr>
          <p:cNvPr id="137" name="Text 130">
            <a:extLst>
              <a:ext uri="{FF2B5EF4-FFF2-40B4-BE49-F238E27FC236}">
                <a16:creationId xmlns:a16="http://schemas.microsoft.com/office/drawing/2014/main" id="{F134E759-EAEB-470F-9298-4EC212271E03}"/>
              </a:ext>
            </a:extLst>
          </p:cNvPr>
          <p:cNvSpPr txBox="1"/>
          <p:nvPr/>
        </p:nvSpPr>
        <p:spPr>
          <a:xfrm>
            <a:off x="6627019" y="1467109"/>
            <a:ext cx="61374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ICAPS '92</a:t>
            </a:r>
            <a:endParaRPr lang="en-US" sz="750" dirty="0"/>
          </a:p>
        </p:txBody>
      </p:sp>
      <p:sp>
        <p:nvSpPr>
          <p:cNvPr id="138" name="Text 131">
            <a:extLst>
              <a:ext uri="{FF2B5EF4-FFF2-40B4-BE49-F238E27FC236}">
                <a16:creationId xmlns:a16="http://schemas.microsoft.com/office/drawing/2014/main" id="{B1063831-3C1E-46EC-9AEB-B89A2E9A46F8}"/>
              </a:ext>
            </a:extLst>
          </p:cNvPr>
          <p:cNvSpPr txBox="1"/>
          <p:nvPr/>
        </p:nvSpPr>
        <p:spPr>
          <a:xfrm>
            <a:off x="6160249" y="1323452"/>
            <a:ext cx="434659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'89</a:t>
            </a:r>
            <a:endParaRPr lang="en-US" sz="750" dirty="0"/>
          </a:p>
        </p:txBody>
      </p:sp>
      <p:sp>
        <p:nvSpPr>
          <p:cNvPr id="139" name="Text 132">
            <a:extLst>
              <a:ext uri="{FF2B5EF4-FFF2-40B4-BE49-F238E27FC236}">
                <a16:creationId xmlns:a16="http://schemas.microsoft.com/office/drawing/2014/main" id="{73609269-3DC0-4BC4-A6A2-AD1AC3B88A4F}"/>
              </a:ext>
            </a:extLst>
          </p:cNvPr>
          <p:cNvSpPr txBox="1"/>
          <p:nvPr/>
        </p:nvSpPr>
        <p:spPr>
          <a:xfrm>
            <a:off x="6782609" y="1323452"/>
            <a:ext cx="67344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MM '93</a:t>
            </a:r>
            <a:endParaRPr lang="en-US" sz="750" dirty="0"/>
          </a:p>
        </p:txBody>
      </p:sp>
      <p:sp>
        <p:nvSpPr>
          <p:cNvPr id="141" name="Text 134">
            <a:extLst>
              <a:ext uri="{FF2B5EF4-FFF2-40B4-BE49-F238E27FC236}">
                <a16:creationId xmlns:a16="http://schemas.microsoft.com/office/drawing/2014/main" id="{B526E674-732A-4064-BD55-AAB65AEAC64D}"/>
              </a:ext>
            </a:extLst>
          </p:cNvPr>
          <p:cNvSpPr txBox="1"/>
          <p:nvPr/>
        </p:nvSpPr>
        <p:spPr>
          <a:xfrm>
            <a:off x="1698009" y="2423203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FOCS '60</a:t>
            </a:r>
            <a:endParaRPr lang="en-US" sz="750" dirty="0"/>
          </a:p>
        </p:txBody>
      </p:sp>
      <p:sp>
        <p:nvSpPr>
          <p:cNvPr id="142" name="Text 135">
            <a:extLst>
              <a:ext uri="{FF2B5EF4-FFF2-40B4-BE49-F238E27FC236}">
                <a16:creationId xmlns:a16="http://schemas.microsoft.com/office/drawing/2014/main" id="{79CC87A0-9238-4BA7-B1B3-3D6AA028CBB0}"/>
              </a:ext>
            </a:extLst>
          </p:cNvPr>
          <p:cNvSpPr txBox="1"/>
          <p:nvPr/>
        </p:nvSpPr>
        <p:spPr>
          <a:xfrm>
            <a:off x="3048446" y="2423203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 '69</a:t>
            </a:r>
            <a:endParaRPr lang="en-US" sz="750" dirty="0"/>
          </a:p>
        </p:txBody>
      </p:sp>
      <p:sp>
        <p:nvSpPr>
          <p:cNvPr id="143" name="Text 136">
            <a:extLst>
              <a:ext uri="{FF2B5EF4-FFF2-40B4-BE49-F238E27FC236}">
                <a16:creationId xmlns:a16="http://schemas.microsoft.com/office/drawing/2014/main" id="{4637D1C7-D7CF-41C0-8253-37950EAE4525}"/>
              </a:ext>
            </a:extLst>
          </p:cNvPr>
          <p:cNvSpPr txBox="1"/>
          <p:nvPr/>
        </p:nvSpPr>
        <p:spPr>
          <a:xfrm>
            <a:off x="6315840" y="2566860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SODA '90</a:t>
            </a:r>
            <a:endParaRPr lang="en-US" sz="750" dirty="0"/>
          </a:p>
        </p:txBody>
      </p:sp>
      <p:sp>
        <p:nvSpPr>
          <p:cNvPr id="144" name="Text 137">
            <a:extLst>
              <a:ext uri="{FF2B5EF4-FFF2-40B4-BE49-F238E27FC236}">
                <a16:creationId xmlns:a16="http://schemas.microsoft.com/office/drawing/2014/main" id="{249FD4AC-3B4E-499D-B3DE-D848F6300706}"/>
              </a:ext>
            </a:extLst>
          </p:cNvPr>
          <p:cNvSpPr txBox="1"/>
          <p:nvPr/>
        </p:nvSpPr>
        <p:spPr>
          <a:xfrm>
            <a:off x="3515217" y="2566860"/>
            <a:ext cx="61374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ICALP '72</a:t>
            </a:r>
            <a:endParaRPr lang="en-US" sz="750" dirty="0"/>
          </a:p>
        </p:txBody>
      </p:sp>
      <p:sp>
        <p:nvSpPr>
          <p:cNvPr id="145" name="Text 138">
            <a:extLst>
              <a:ext uri="{FF2B5EF4-FFF2-40B4-BE49-F238E27FC236}">
                <a16:creationId xmlns:a16="http://schemas.microsoft.com/office/drawing/2014/main" id="{14FC31F3-8DE8-46D1-891C-7EDFB124CBBB}"/>
              </a:ext>
            </a:extLst>
          </p:cNvPr>
          <p:cNvSpPr txBox="1"/>
          <p:nvPr/>
        </p:nvSpPr>
        <p:spPr>
          <a:xfrm>
            <a:off x="5537888" y="2710517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SoCG '85</a:t>
            </a:r>
            <a:endParaRPr lang="en-US" sz="750" dirty="0"/>
          </a:p>
        </p:txBody>
      </p:sp>
      <p:sp>
        <p:nvSpPr>
          <p:cNvPr id="146" name="Text 139">
            <a:extLst>
              <a:ext uri="{FF2B5EF4-FFF2-40B4-BE49-F238E27FC236}">
                <a16:creationId xmlns:a16="http://schemas.microsoft.com/office/drawing/2014/main" id="{F8EE1E6B-4277-4650-8427-6BDC77DBEF6D}"/>
              </a:ext>
            </a:extLst>
          </p:cNvPr>
          <p:cNvSpPr txBox="1"/>
          <p:nvPr/>
        </p:nvSpPr>
        <p:spPr>
          <a:xfrm>
            <a:off x="4915528" y="2423203"/>
            <a:ext cx="67344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'81</a:t>
            </a:r>
            <a:endParaRPr lang="en-US" sz="750" dirty="0"/>
          </a:p>
        </p:txBody>
      </p:sp>
      <p:sp>
        <p:nvSpPr>
          <p:cNvPr id="147" name="Text 140">
            <a:extLst>
              <a:ext uri="{FF2B5EF4-FFF2-40B4-BE49-F238E27FC236}">
                <a16:creationId xmlns:a16="http://schemas.microsoft.com/office/drawing/2014/main" id="{BA753246-8F5D-49CB-8CA8-09A97A74FAD2}"/>
              </a:ext>
            </a:extLst>
          </p:cNvPr>
          <p:cNvSpPr txBox="1"/>
          <p:nvPr/>
        </p:nvSpPr>
        <p:spPr>
          <a:xfrm>
            <a:off x="5071118" y="2566860"/>
            <a:ext cx="852526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Eurocrypt '82</a:t>
            </a:r>
            <a:endParaRPr lang="en-US" sz="750" dirty="0"/>
          </a:p>
        </p:txBody>
      </p:sp>
      <p:sp>
        <p:nvSpPr>
          <p:cNvPr id="148" name="Text 141">
            <a:extLst>
              <a:ext uri="{FF2B5EF4-FFF2-40B4-BE49-F238E27FC236}">
                <a16:creationId xmlns:a16="http://schemas.microsoft.com/office/drawing/2014/main" id="{6E60FDA9-EEF9-41C8-9360-9F8304B175E6}"/>
              </a:ext>
            </a:extLst>
          </p:cNvPr>
          <p:cNvSpPr txBox="1"/>
          <p:nvPr/>
        </p:nvSpPr>
        <p:spPr>
          <a:xfrm>
            <a:off x="5693479" y="2854174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LICS '86</a:t>
            </a:r>
            <a:endParaRPr lang="en-US" sz="750" dirty="0"/>
          </a:p>
        </p:txBody>
      </p:sp>
      <p:sp>
        <p:nvSpPr>
          <p:cNvPr id="149" name="Text 142">
            <a:extLst>
              <a:ext uri="{FF2B5EF4-FFF2-40B4-BE49-F238E27FC236}">
                <a16:creationId xmlns:a16="http://schemas.microsoft.com/office/drawing/2014/main" id="{6481EF63-389D-4E91-8204-356F36F92AD2}"/>
              </a:ext>
            </a:extLst>
          </p:cNvPr>
          <p:cNvSpPr txBox="1"/>
          <p:nvPr/>
        </p:nvSpPr>
        <p:spPr>
          <a:xfrm>
            <a:off x="6160249" y="2423203"/>
            <a:ext cx="49435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 '89</a:t>
            </a:r>
            <a:endParaRPr lang="en-US" sz="750" dirty="0"/>
          </a:p>
        </p:txBody>
      </p:sp>
      <p:sp>
        <p:nvSpPr>
          <p:cNvPr id="150" name="Text 143">
            <a:extLst>
              <a:ext uri="{FF2B5EF4-FFF2-40B4-BE49-F238E27FC236}">
                <a16:creationId xmlns:a16="http://schemas.microsoft.com/office/drawing/2014/main" id="{723D3A29-74EF-4C06-8326-AAD8B1AAFB7E}"/>
              </a:ext>
            </a:extLst>
          </p:cNvPr>
          <p:cNvSpPr txBox="1"/>
          <p:nvPr/>
        </p:nvSpPr>
        <p:spPr>
          <a:xfrm>
            <a:off x="7716150" y="2423203"/>
            <a:ext cx="67344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EC '99</a:t>
            </a:r>
            <a:endParaRPr lang="en-US" sz="750" dirty="0"/>
          </a:p>
        </p:txBody>
      </p:sp>
      <p:sp>
        <p:nvSpPr>
          <p:cNvPr id="152" name="Text 145">
            <a:extLst>
              <a:ext uri="{FF2B5EF4-FFF2-40B4-BE49-F238E27FC236}">
                <a16:creationId xmlns:a16="http://schemas.microsoft.com/office/drawing/2014/main" id="{8A32BFC2-8532-4B51-AB01-BE577C3A0A83}"/>
              </a:ext>
            </a:extLst>
          </p:cNvPr>
          <p:cNvSpPr txBox="1"/>
          <p:nvPr/>
        </p:nvSpPr>
        <p:spPr>
          <a:xfrm>
            <a:off x="2737266" y="3235641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SOSP '67</a:t>
            </a:r>
            <a:endParaRPr lang="en-US" sz="750" dirty="0"/>
          </a:p>
        </p:txBody>
      </p:sp>
      <p:sp>
        <p:nvSpPr>
          <p:cNvPr id="153" name="Text 146">
            <a:extLst>
              <a:ext uri="{FF2B5EF4-FFF2-40B4-BE49-F238E27FC236}">
                <a16:creationId xmlns:a16="http://schemas.microsoft.com/office/drawing/2014/main" id="{7860AE67-231F-4908-A81B-0B2D1D6205BF}"/>
              </a:ext>
            </a:extLst>
          </p:cNvPr>
          <p:cNvSpPr txBox="1"/>
          <p:nvPr/>
        </p:nvSpPr>
        <p:spPr>
          <a:xfrm>
            <a:off x="6938200" y="3235641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OSDI '94</a:t>
            </a:r>
            <a:endParaRPr lang="en-US" sz="750" dirty="0"/>
          </a:p>
        </p:txBody>
      </p:sp>
      <p:sp>
        <p:nvSpPr>
          <p:cNvPr id="154" name="Text 147">
            <a:extLst>
              <a:ext uri="{FF2B5EF4-FFF2-40B4-BE49-F238E27FC236}">
                <a16:creationId xmlns:a16="http://schemas.microsoft.com/office/drawing/2014/main" id="{4B4C26E9-8B4E-47A9-A56F-6D307A0F75C4}"/>
              </a:ext>
            </a:extLst>
          </p:cNvPr>
          <p:cNvSpPr txBox="1"/>
          <p:nvPr/>
        </p:nvSpPr>
        <p:spPr>
          <a:xfrm>
            <a:off x="2892857" y="3624872"/>
            <a:ext cx="61374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'68</a:t>
            </a:r>
            <a:endParaRPr lang="en-US" sz="750" dirty="0"/>
          </a:p>
        </p:txBody>
      </p:sp>
      <p:sp>
        <p:nvSpPr>
          <p:cNvPr id="155" name="Text 148">
            <a:extLst>
              <a:ext uri="{FF2B5EF4-FFF2-40B4-BE49-F238E27FC236}">
                <a16:creationId xmlns:a16="http://schemas.microsoft.com/office/drawing/2014/main" id="{47BA3EE2-22E3-4D15-8B57-2DB66B6C6B88}"/>
              </a:ext>
            </a:extLst>
          </p:cNvPr>
          <p:cNvSpPr txBox="1"/>
          <p:nvPr/>
        </p:nvSpPr>
        <p:spPr>
          <a:xfrm>
            <a:off x="3670807" y="3481216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ISCA '73</a:t>
            </a:r>
            <a:endParaRPr lang="en-US" sz="750" dirty="0"/>
          </a:p>
        </p:txBody>
      </p:sp>
      <p:sp>
        <p:nvSpPr>
          <p:cNvPr id="156" name="Text 149">
            <a:extLst>
              <a:ext uri="{FF2B5EF4-FFF2-40B4-BE49-F238E27FC236}">
                <a16:creationId xmlns:a16="http://schemas.microsoft.com/office/drawing/2014/main" id="{EED0B1EE-FB0F-448B-B5E1-F1A3771FA66D}"/>
              </a:ext>
            </a:extLst>
          </p:cNvPr>
          <p:cNvSpPr txBox="1"/>
          <p:nvPr/>
        </p:nvSpPr>
        <p:spPr>
          <a:xfrm>
            <a:off x="5071118" y="3481216"/>
            <a:ext cx="67344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ASPLOS '82</a:t>
            </a:r>
            <a:endParaRPr lang="en-US" sz="750" dirty="0"/>
          </a:p>
        </p:txBody>
      </p:sp>
      <p:sp>
        <p:nvSpPr>
          <p:cNvPr id="157" name="Text 150">
            <a:extLst>
              <a:ext uri="{FF2B5EF4-FFF2-40B4-BE49-F238E27FC236}">
                <a16:creationId xmlns:a16="http://schemas.microsoft.com/office/drawing/2014/main" id="{643AFE83-ED24-43FA-AAA0-01EE60110D38}"/>
              </a:ext>
            </a:extLst>
          </p:cNvPr>
          <p:cNvSpPr txBox="1"/>
          <p:nvPr/>
        </p:nvSpPr>
        <p:spPr>
          <a:xfrm>
            <a:off x="7093789" y="3481216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HPCA '95</a:t>
            </a:r>
            <a:endParaRPr lang="en-US" sz="750" dirty="0"/>
          </a:p>
        </p:txBody>
      </p:sp>
      <p:sp>
        <p:nvSpPr>
          <p:cNvPr id="158" name="Text 151">
            <a:extLst>
              <a:ext uri="{FF2B5EF4-FFF2-40B4-BE49-F238E27FC236}">
                <a16:creationId xmlns:a16="http://schemas.microsoft.com/office/drawing/2014/main" id="{9BF0B26F-4EEF-42E5-9056-DEFE275277CC}"/>
              </a:ext>
            </a:extLst>
          </p:cNvPr>
          <p:cNvSpPr txBox="1"/>
          <p:nvPr/>
        </p:nvSpPr>
        <p:spPr>
          <a:xfrm>
            <a:off x="2270496" y="3481216"/>
            <a:ext cx="49435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'64</a:t>
            </a:r>
            <a:endParaRPr lang="en-US" sz="750" dirty="0"/>
          </a:p>
        </p:txBody>
      </p:sp>
      <p:sp>
        <p:nvSpPr>
          <p:cNvPr id="159" name="Text 152">
            <a:extLst>
              <a:ext uri="{FF2B5EF4-FFF2-40B4-BE49-F238E27FC236}">
                <a16:creationId xmlns:a16="http://schemas.microsoft.com/office/drawing/2014/main" id="{AC1E7FCF-8ABD-4161-8EA7-A4E79023F7CD}"/>
              </a:ext>
            </a:extLst>
          </p:cNvPr>
          <p:cNvSpPr txBox="1"/>
          <p:nvPr/>
        </p:nvSpPr>
        <p:spPr>
          <a:xfrm>
            <a:off x="3670807" y="3624872"/>
            <a:ext cx="912221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SIGMETRICS '73</a:t>
            </a:r>
            <a:endParaRPr lang="en-US" sz="750" dirty="0"/>
          </a:p>
        </p:txBody>
      </p:sp>
      <p:sp>
        <p:nvSpPr>
          <p:cNvPr id="162" name="Text 155">
            <a:extLst>
              <a:ext uri="{FF2B5EF4-FFF2-40B4-BE49-F238E27FC236}">
                <a16:creationId xmlns:a16="http://schemas.microsoft.com/office/drawing/2014/main" id="{0CD342A8-A01F-4626-BD9C-B3E498B08981}"/>
              </a:ext>
            </a:extLst>
          </p:cNvPr>
          <p:cNvSpPr txBox="1"/>
          <p:nvPr/>
        </p:nvSpPr>
        <p:spPr>
          <a:xfrm>
            <a:off x="5226708" y="4149996"/>
            <a:ext cx="73313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SIGCOMM '83</a:t>
            </a:r>
            <a:endParaRPr lang="en-US" sz="750" dirty="0"/>
          </a:p>
        </p:txBody>
      </p:sp>
      <p:sp>
        <p:nvSpPr>
          <p:cNvPr id="163" name="Text 156">
            <a:extLst>
              <a:ext uri="{FF2B5EF4-FFF2-40B4-BE49-F238E27FC236}">
                <a16:creationId xmlns:a16="http://schemas.microsoft.com/office/drawing/2014/main" id="{75C462DE-023E-43FB-B029-6D1BFD41C66F}"/>
              </a:ext>
            </a:extLst>
          </p:cNvPr>
          <p:cNvSpPr txBox="1"/>
          <p:nvPr/>
        </p:nvSpPr>
        <p:spPr>
          <a:xfrm>
            <a:off x="5071118" y="4006340"/>
            <a:ext cx="73313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INFOCOM '82</a:t>
            </a:r>
            <a:endParaRPr lang="en-US" sz="750" dirty="0"/>
          </a:p>
        </p:txBody>
      </p:sp>
      <p:sp>
        <p:nvSpPr>
          <p:cNvPr id="164" name="Text 157">
            <a:extLst>
              <a:ext uri="{FF2B5EF4-FFF2-40B4-BE49-F238E27FC236}">
                <a16:creationId xmlns:a16="http://schemas.microsoft.com/office/drawing/2014/main" id="{66ABFB16-27C3-4BA5-977C-5E5C6D2F99E9}"/>
              </a:ext>
            </a:extLst>
          </p:cNvPr>
          <p:cNvSpPr txBox="1"/>
          <p:nvPr/>
        </p:nvSpPr>
        <p:spPr>
          <a:xfrm>
            <a:off x="4759938" y="4395572"/>
            <a:ext cx="79283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S&amp;P '80</a:t>
            </a:r>
            <a:endParaRPr lang="en-US" sz="750" dirty="0"/>
          </a:p>
        </p:txBody>
      </p:sp>
      <p:sp>
        <p:nvSpPr>
          <p:cNvPr id="165" name="Text 158">
            <a:extLst>
              <a:ext uri="{FF2B5EF4-FFF2-40B4-BE49-F238E27FC236}">
                <a16:creationId xmlns:a16="http://schemas.microsoft.com/office/drawing/2014/main" id="{9BDCBA47-E78B-45E3-987C-AE74C021E987}"/>
              </a:ext>
            </a:extLst>
          </p:cNvPr>
          <p:cNvSpPr txBox="1"/>
          <p:nvPr/>
        </p:nvSpPr>
        <p:spPr>
          <a:xfrm>
            <a:off x="6782609" y="4395572"/>
            <a:ext cx="49435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'93</a:t>
            </a:r>
            <a:endParaRPr lang="en-US" sz="750" dirty="0"/>
          </a:p>
        </p:txBody>
      </p:sp>
      <p:sp>
        <p:nvSpPr>
          <p:cNvPr id="166" name="Text 159">
            <a:extLst>
              <a:ext uri="{FF2B5EF4-FFF2-40B4-BE49-F238E27FC236}">
                <a16:creationId xmlns:a16="http://schemas.microsoft.com/office/drawing/2014/main" id="{6748AC71-CC1B-49BD-AB63-973180E44D26}"/>
              </a:ext>
            </a:extLst>
          </p:cNvPr>
          <p:cNvSpPr txBox="1"/>
          <p:nvPr/>
        </p:nvSpPr>
        <p:spPr>
          <a:xfrm>
            <a:off x="6782609" y="4539228"/>
            <a:ext cx="971916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USENIX Sec. '93</a:t>
            </a:r>
            <a:endParaRPr lang="en-US" sz="750" dirty="0"/>
          </a:p>
        </p:txBody>
      </p:sp>
      <p:sp>
        <p:nvSpPr>
          <p:cNvPr id="167" name="Text 160">
            <a:extLst>
              <a:ext uri="{FF2B5EF4-FFF2-40B4-BE49-F238E27FC236}">
                <a16:creationId xmlns:a16="http://schemas.microsoft.com/office/drawing/2014/main" id="{09B37A78-1BB0-4165-9038-1CC65E46A7A1}"/>
              </a:ext>
            </a:extLst>
          </p:cNvPr>
          <p:cNvSpPr txBox="1"/>
          <p:nvPr/>
        </p:nvSpPr>
        <p:spPr>
          <a:xfrm>
            <a:off x="6782609" y="4682885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NDSS '93</a:t>
            </a:r>
            <a:endParaRPr lang="en-US" sz="750" dirty="0"/>
          </a:p>
        </p:txBody>
      </p:sp>
      <p:sp>
        <p:nvSpPr>
          <p:cNvPr id="168" name="Text 161">
            <a:extLst>
              <a:ext uri="{FF2B5EF4-FFF2-40B4-BE49-F238E27FC236}">
                <a16:creationId xmlns:a16="http://schemas.microsoft.com/office/drawing/2014/main" id="{1C400E95-400F-43AF-951A-7604F58A5C3A}"/>
              </a:ext>
            </a:extLst>
          </p:cNvPr>
          <p:cNvSpPr txBox="1"/>
          <p:nvPr/>
        </p:nvSpPr>
        <p:spPr>
          <a:xfrm>
            <a:off x="3981986" y="4928461"/>
            <a:ext cx="67344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SIGMOD '75</a:t>
            </a:r>
            <a:endParaRPr lang="en-US" sz="750" dirty="0"/>
          </a:p>
        </p:txBody>
      </p:sp>
      <p:sp>
        <p:nvSpPr>
          <p:cNvPr id="169" name="Text 162">
            <a:extLst>
              <a:ext uri="{FF2B5EF4-FFF2-40B4-BE49-F238E27FC236}">
                <a16:creationId xmlns:a16="http://schemas.microsoft.com/office/drawing/2014/main" id="{0E2DA715-27DA-45F5-AC38-AA9AEB3E5A3F}"/>
              </a:ext>
            </a:extLst>
          </p:cNvPr>
          <p:cNvSpPr txBox="1"/>
          <p:nvPr/>
        </p:nvSpPr>
        <p:spPr>
          <a:xfrm>
            <a:off x="3981986" y="5072117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VLDB '75</a:t>
            </a:r>
            <a:endParaRPr lang="en-US" sz="750" dirty="0"/>
          </a:p>
        </p:txBody>
      </p:sp>
      <p:sp>
        <p:nvSpPr>
          <p:cNvPr id="170" name="Text 163">
            <a:extLst>
              <a:ext uri="{FF2B5EF4-FFF2-40B4-BE49-F238E27FC236}">
                <a16:creationId xmlns:a16="http://schemas.microsoft.com/office/drawing/2014/main" id="{F6948118-B8AD-4203-83F6-17A089BE8703}"/>
              </a:ext>
            </a:extLst>
          </p:cNvPr>
          <p:cNvSpPr txBox="1"/>
          <p:nvPr/>
        </p:nvSpPr>
        <p:spPr>
          <a:xfrm>
            <a:off x="5071118" y="4928461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'82</a:t>
            </a:r>
            <a:endParaRPr lang="en-US" sz="750" dirty="0"/>
          </a:p>
        </p:txBody>
      </p:sp>
      <p:sp>
        <p:nvSpPr>
          <p:cNvPr id="171" name="Text 164">
            <a:extLst>
              <a:ext uri="{FF2B5EF4-FFF2-40B4-BE49-F238E27FC236}">
                <a16:creationId xmlns:a16="http://schemas.microsoft.com/office/drawing/2014/main" id="{70C3C36E-D7C0-43D0-8C0D-F5B469713392}"/>
              </a:ext>
            </a:extLst>
          </p:cNvPr>
          <p:cNvSpPr txBox="1"/>
          <p:nvPr/>
        </p:nvSpPr>
        <p:spPr>
          <a:xfrm>
            <a:off x="5382299" y="5072117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ICDE '84</a:t>
            </a:r>
            <a:endParaRPr lang="en-US" sz="750" dirty="0"/>
          </a:p>
        </p:txBody>
      </p:sp>
      <p:sp>
        <p:nvSpPr>
          <p:cNvPr id="172" name="Text 165">
            <a:extLst>
              <a:ext uri="{FF2B5EF4-FFF2-40B4-BE49-F238E27FC236}">
                <a16:creationId xmlns:a16="http://schemas.microsoft.com/office/drawing/2014/main" id="{FD46967D-5F7F-42A9-9AD4-B9F080FC82AD}"/>
              </a:ext>
            </a:extLst>
          </p:cNvPr>
          <p:cNvSpPr txBox="1"/>
          <p:nvPr/>
        </p:nvSpPr>
        <p:spPr>
          <a:xfrm>
            <a:off x="3981986" y="5317693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ICSE '75</a:t>
            </a:r>
            <a:endParaRPr lang="en-US" sz="750" dirty="0"/>
          </a:p>
        </p:txBody>
      </p:sp>
      <p:sp>
        <p:nvSpPr>
          <p:cNvPr id="173" name="Text 166">
            <a:extLst>
              <a:ext uri="{FF2B5EF4-FFF2-40B4-BE49-F238E27FC236}">
                <a16:creationId xmlns:a16="http://schemas.microsoft.com/office/drawing/2014/main" id="{5A415373-765C-425E-9D06-D3C839BD5DB1}"/>
              </a:ext>
            </a:extLst>
          </p:cNvPr>
          <p:cNvSpPr txBox="1"/>
          <p:nvPr/>
        </p:nvSpPr>
        <p:spPr>
          <a:xfrm>
            <a:off x="6782609" y="5317693"/>
            <a:ext cx="79283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ESEC/FSE '93</a:t>
            </a:r>
            <a:endParaRPr lang="en-US" sz="750" dirty="0"/>
          </a:p>
        </p:txBody>
      </p:sp>
      <p:sp>
        <p:nvSpPr>
          <p:cNvPr id="174" name="Text 167">
            <a:extLst>
              <a:ext uri="{FF2B5EF4-FFF2-40B4-BE49-F238E27FC236}">
                <a16:creationId xmlns:a16="http://schemas.microsoft.com/office/drawing/2014/main" id="{DB9C054A-6670-4CC3-9699-DFEF827CB936}"/>
              </a:ext>
            </a:extLst>
          </p:cNvPr>
          <p:cNvSpPr txBox="1"/>
          <p:nvPr/>
        </p:nvSpPr>
        <p:spPr>
          <a:xfrm>
            <a:off x="11605903" y="5317693"/>
            <a:ext cx="61374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FSE '24</a:t>
            </a:r>
            <a:endParaRPr lang="en-US" sz="750" dirty="0"/>
          </a:p>
        </p:txBody>
      </p:sp>
      <p:sp>
        <p:nvSpPr>
          <p:cNvPr id="175" name="Text 168">
            <a:extLst>
              <a:ext uri="{FF2B5EF4-FFF2-40B4-BE49-F238E27FC236}">
                <a16:creationId xmlns:a16="http://schemas.microsoft.com/office/drawing/2014/main" id="{AF9C1A08-B0C9-48A8-99B0-E29447F206A3}"/>
              </a:ext>
            </a:extLst>
          </p:cNvPr>
          <p:cNvSpPr txBox="1"/>
          <p:nvPr/>
        </p:nvSpPr>
        <p:spPr>
          <a:xfrm>
            <a:off x="5693479" y="5317693"/>
            <a:ext cx="49435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 '86</a:t>
            </a:r>
            <a:endParaRPr lang="en-US" sz="750" dirty="0"/>
          </a:p>
        </p:txBody>
      </p:sp>
      <p:sp>
        <p:nvSpPr>
          <p:cNvPr id="176" name="Text 169">
            <a:extLst>
              <a:ext uri="{FF2B5EF4-FFF2-40B4-BE49-F238E27FC236}">
                <a16:creationId xmlns:a16="http://schemas.microsoft.com/office/drawing/2014/main" id="{BE609106-E566-4836-ACED-9F60FFBD058E}"/>
              </a:ext>
            </a:extLst>
          </p:cNvPr>
          <p:cNvSpPr txBox="1"/>
          <p:nvPr/>
        </p:nvSpPr>
        <p:spPr>
          <a:xfrm>
            <a:off x="3670807" y="5706925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POPL '73</a:t>
            </a:r>
            <a:endParaRPr lang="en-US" sz="750" dirty="0"/>
          </a:p>
        </p:txBody>
      </p:sp>
      <p:sp>
        <p:nvSpPr>
          <p:cNvPr id="177" name="Text 170">
            <a:extLst>
              <a:ext uri="{FF2B5EF4-FFF2-40B4-BE49-F238E27FC236}">
                <a16:creationId xmlns:a16="http://schemas.microsoft.com/office/drawing/2014/main" id="{E4C90472-3C00-4D74-99C3-66F3ECB2BC36}"/>
              </a:ext>
            </a:extLst>
          </p:cNvPr>
          <p:cNvSpPr txBox="1"/>
          <p:nvPr/>
        </p:nvSpPr>
        <p:spPr>
          <a:xfrm>
            <a:off x="3204037" y="5563268"/>
            <a:ext cx="79283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Simposio '70</a:t>
            </a:r>
            <a:endParaRPr lang="en-US" sz="750" dirty="0"/>
          </a:p>
        </p:txBody>
      </p:sp>
      <p:sp>
        <p:nvSpPr>
          <p:cNvPr id="178" name="Text 171">
            <a:extLst>
              <a:ext uri="{FF2B5EF4-FFF2-40B4-BE49-F238E27FC236}">
                <a16:creationId xmlns:a16="http://schemas.microsoft.com/office/drawing/2014/main" id="{8A72BEA4-79E3-478A-97B2-CAEA9413148B}"/>
              </a:ext>
            </a:extLst>
          </p:cNvPr>
          <p:cNvSpPr txBox="1"/>
          <p:nvPr/>
        </p:nvSpPr>
        <p:spPr>
          <a:xfrm>
            <a:off x="4604347" y="5563268"/>
            <a:ext cx="61374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SCC '79</a:t>
            </a:r>
            <a:endParaRPr lang="en-US" sz="750" dirty="0"/>
          </a:p>
        </p:txBody>
      </p:sp>
      <p:sp>
        <p:nvSpPr>
          <p:cNvPr id="179" name="Text 172">
            <a:extLst>
              <a:ext uri="{FF2B5EF4-FFF2-40B4-BE49-F238E27FC236}">
                <a16:creationId xmlns:a16="http://schemas.microsoft.com/office/drawing/2014/main" id="{0DC46ED9-9E1B-4D26-AA03-76FD9AE0BD26}"/>
              </a:ext>
            </a:extLst>
          </p:cNvPr>
          <p:cNvSpPr txBox="1"/>
          <p:nvPr/>
        </p:nvSpPr>
        <p:spPr>
          <a:xfrm>
            <a:off x="6004659" y="5563268"/>
            <a:ext cx="67344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PLDI '88</a:t>
            </a:r>
            <a:endParaRPr lang="en-US" sz="75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5B51D575-CA41-4BD7-B907-05BBB9900AC3}"/>
              </a:ext>
            </a:extLst>
          </p:cNvPr>
          <p:cNvSpPr txBox="1"/>
          <p:nvPr/>
        </p:nvSpPr>
        <p:spPr>
          <a:xfrm>
            <a:off x="120000" y="1004904"/>
            <a:ext cx="1769715" cy="16158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 anchorCtr="0">
            <a:sp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Interacción, Gráficos y Robótica</a:t>
            </a:r>
            <a:endParaRPr lang="en-US" sz="1050" dirty="0">
              <a:solidFill>
                <a:srgbClr val="0000FF"/>
              </a:solidFill>
            </a:endParaRP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5D56B649-DEF9-4D48-A3EA-BCD5889E9892}"/>
              </a:ext>
            </a:extLst>
          </p:cNvPr>
          <p:cNvSpPr txBox="1"/>
          <p:nvPr/>
        </p:nvSpPr>
        <p:spPr>
          <a:xfrm>
            <a:off x="301140" y="1689161"/>
            <a:ext cx="1588575" cy="16158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 anchorCtr="0">
            <a:sp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/ Aprendizaje Automático</a:t>
            </a:r>
            <a:endParaRPr lang="en-US" sz="1050" dirty="0">
              <a:solidFill>
                <a:srgbClr val="0000FF"/>
              </a:solidFill>
            </a:endParaRP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8B5F5073-0337-42AE-A71F-EF9FEC2E3394}"/>
              </a:ext>
            </a:extLst>
          </p:cNvPr>
          <p:cNvSpPr txBox="1"/>
          <p:nvPr/>
        </p:nvSpPr>
        <p:spPr>
          <a:xfrm>
            <a:off x="1533334" y="2693947"/>
            <a:ext cx="354264" cy="16158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 anchorCtr="0">
            <a:sp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</a:t>
            </a:r>
            <a:endParaRPr lang="en-US" sz="1050" dirty="0">
              <a:solidFill>
                <a:srgbClr val="0000FF"/>
              </a:solidFill>
            </a:endParaRPr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1D9016D1-7FED-4000-9A5D-348869903611}"/>
              </a:ext>
            </a:extLst>
          </p:cNvPr>
          <p:cNvSpPr txBox="1"/>
          <p:nvPr/>
        </p:nvSpPr>
        <p:spPr>
          <a:xfrm>
            <a:off x="748377" y="3204101"/>
            <a:ext cx="1141338" cy="16158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 anchorCtr="0">
            <a:sp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Operativos</a:t>
            </a:r>
            <a:endParaRPr lang="en-US" sz="1050" dirty="0">
              <a:solidFill>
                <a:srgbClr val="0000FF"/>
              </a:solidFill>
            </a:endParaRP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E3DB4632-0380-4FB3-9ED0-3D3E3CDC6F5D}"/>
              </a:ext>
            </a:extLst>
          </p:cNvPr>
          <p:cNvSpPr txBox="1"/>
          <p:nvPr/>
        </p:nvSpPr>
        <p:spPr>
          <a:xfrm>
            <a:off x="161715" y="3572575"/>
            <a:ext cx="1700246" cy="161583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r">
              <a:buNone/>
            </a:pPr>
            <a:r>
              <a:rPr lang="es-E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Computadores, H</a:t>
            </a:r>
            <a:r>
              <a:rPr lang="en-U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050" dirty="0">
              <a:solidFill>
                <a:srgbClr val="0000FF"/>
              </a:solidFill>
            </a:endParaRPr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01E3084D-C2D1-4383-8BAE-2955F49A2372}"/>
              </a:ext>
            </a:extLst>
          </p:cNvPr>
          <p:cNvSpPr txBox="1"/>
          <p:nvPr/>
        </p:nvSpPr>
        <p:spPr>
          <a:xfrm>
            <a:off x="1529796" y="4046629"/>
            <a:ext cx="336631" cy="161583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</a:t>
            </a:r>
            <a:endParaRPr lang="en-US" sz="1050" dirty="0">
              <a:solidFill>
                <a:srgbClr val="0000FF"/>
              </a:solidFill>
            </a:endParaRPr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C0C62AF1-1485-4B88-A54E-6C74B5A01E14}"/>
              </a:ext>
            </a:extLst>
          </p:cNvPr>
          <p:cNvSpPr txBox="1"/>
          <p:nvPr/>
        </p:nvSpPr>
        <p:spPr>
          <a:xfrm>
            <a:off x="1330267" y="4545794"/>
            <a:ext cx="559448" cy="16158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 anchorCtr="0">
            <a:sp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050" dirty="0">
              <a:solidFill>
                <a:srgbClr val="0000FF"/>
              </a:solidFill>
            </a:endParaRPr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5392B0E7-F914-44A2-A5E0-6C3EC81F88C5}"/>
              </a:ext>
            </a:extLst>
          </p:cNvPr>
          <p:cNvSpPr txBox="1"/>
          <p:nvPr/>
        </p:nvSpPr>
        <p:spPr>
          <a:xfrm>
            <a:off x="1048138" y="4992038"/>
            <a:ext cx="841576" cy="16158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 anchorCtr="0">
            <a:sp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</a:t>
            </a:r>
            <a:endParaRPr lang="en-US" sz="1050" dirty="0">
              <a:solidFill>
                <a:srgbClr val="0000FF"/>
              </a:solidFill>
            </a:endParaRPr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DA816B79-1CC5-4179-84BA-E2727E1A4C77}"/>
              </a:ext>
            </a:extLst>
          </p:cNvPr>
          <p:cNvSpPr txBox="1"/>
          <p:nvPr/>
        </p:nvSpPr>
        <p:spPr>
          <a:xfrm>
            <a:off x="588076" y="5315792"/>
            <a:ext cx="1301638" cy="16158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 anchorCtr="0">
            <a:sp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del Software</a:t>
            </a:r>
            <a:endParaRPr lang="en-US" sz="1050" dirty="0">
              <a:solidFill>
                <a:srgbClr val="0000FF"/>
              </a:solidFill>
            </a:endParaRPr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C9AD2D4E-6710-41CE-AA63-D59207726732}"/>
              </a:ext>
            </a:extLst>
          </p:cNvPr>
          <p:cNvSpPr txBox="1"/>
          <p:nvPr/>
        </p:nvSpPr>
        <p:spPr>
          <a:xfrm>
            <a:off x="355641" y="5641665"/>
            <a:ext cx="1534073" cy="16158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 anchorCtr="0">
            <a:sp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Programación</a:t>
            </a:r>
            <a:endParaRPr lang="en-US" sz="1050" dirty="0">
              <a:solidFill>
                <a:srgbClr val="0000FF"/>
              </a:solidFill>
            </a:endParaRPr>
          </a:p>
        </p:txBody>
      </p:sp>
      <p:sp>
        <p:nvSpPr>
          <p:cNvPr id="75" name="Shape 68">
            <a:extLst>
              <a:ext uri="{FF2B5EF4-FFF2-40B4-BE49-F238E27FC236}">
                <a16:creationId xmlns:a16="http://schemas.microsoft.com/office/drawing/2014/main" id="{CAAE59E3-632D-4CB9-9F0C-8D1735A2798C}"/>
              </a:ext>
            </a:extLst>
          </p:cNvPr>
          <p:cNvSpPr/>
          <p:nvPr/>
        </p:nvSpPr>
        <p:spPr>
          <a:xfrm>
            <a:off x="1728597" y="2315805"/>
            <a:ext cx="90" cy="389513"/>
          </a:xfrm>
          <a:prstGeom prst="ellipse">
            <a:avLst/>
          </a:prstGeom>
          <a:solidFill>
            <a:schemeClr val="bg1"/>
          </a:solidFill>
          <a:ln w="9525">
            <a:solidFill>
              <a:srgbClr val="FFFFFF"/>
            </a:solidFill>
            <a:prstDash val="solid"/>
          </a:ln>
        </p:spPr>
        <p:txBody>
          <a:bodyPr wrap="none" lIns="0" tIns="0" rIns="0" bIns="0" anchor="ctr" anchorCtr="0">
            <a:spAutoFit/>
          </a:bodyPr>
          <a:lstStyle/>
          <a:p>
            <a:endParaRPr lang="es-ES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7AA84F8B-2C78-4BC2-9A98-A796DF5FE954}"/>
              </a:ext>
            </a:extLst>
          </p:cNvPr>
          <p:cNvSpPr/>
          <p:nvPr/>
        </p:nvSpPr>
        <p:spPr>
          <a:xfrm>
            <a:off x="1253478" y="1280743"/>
            <a:ext cx="10580129" cy="0"/>
          </a:xfrm>
          <a:prstGeom prst="line">
            <a:avLst/>
          </a:prstGeom>
          <a:noFill/>
          <a:ln w="12700">
            <a:solidFill>
              <a:srgbClr val="9AA0B4"/>
            </a:solidFill>
            <a:prstDash val="dash"/>
          </a:ln>
        </p:spPr>
      </p:sp>
      <p:sp>
        <p:nvSpPr>
          <p:cNvPr id="34" name="Shape 27">
            <a:extLst>
              <a:ext uri="{FF2B5EF4-FFF2-40B4-BE49-F238E27FC236}">
                <a16:creationId xmlns:a16="http://schemas.microsoft.com/office/drawing/2014/main" id="{C8356D5F-1A43-4E7C-8291-8F4ED79ABF3E}"/>
              </a:ext>
            </a:extLst>
          </p:cNvPr>
          <p:cNvSpPr/>
          <p:nvPr/>
        </p:nvSpPr>
        <p:spPr>
          <a:xfrm>
            <a:off x="1253478" y="2312549"/>
            <a:ext cx="10580129" cy="0"/>
          </a:xfrm>
          <a:prstGeom prst="line">
            <a:avLst/>
          </a:prstGeom>
          <a:noFill/>
          <a:ln w="12700">
            <a:solidFill>
              <a:srgbClr val="9AA0B4"/>
            </a:solidFill>
            <a:prstDash val="dash"/>
          </a:ln>
        </p:spPr>
        <p:txBody>
          <a:bodyPr/>
          <a:lstStyle/>
          <a:p>
            <a:endParaRPr lang="es-ES" dirty="0"/>
          </a:p>
        </p:txBody>
      </p:sp>
      <p:sp>
        <p:nvSpPr>
          <p:cNvPr id="35" name="Shape 28">
            <a:extLst>
              <a:ext uri="{FF2B5EF4-FFF2-40B4-BE49-F238E27FC236}">
                <a16:creationId xmlns:a16="http://schemas.microsoft.com/office/drawing/2014/main" id="{E9AFF8AC-43DA-486C-93A8-4742ECE019D7}"/>
              </a:ext>
            </a:extLst>
          </p:cNvPr>
          <p:cNvSpPr/>
          <p:nvPr/>
        </p:nvSpPr>
        <p:spPr>
          <a:xfrm>
            <a:off x="1253478" y="3124986"/>
            <a:ext cx="10580129" cy="0"/>
          </a:xfrm>
          <a:prstGeom prst="line">
            <a:avLst/>
          </a:prstGeom>
          <a:noFill/>
          <a:ln w="12700">
            <a:solidFill>
              <a:srgbClr val="9AA0B4"/>
            </a:solidFill>
            <a:prstDash val="dash"/>
          </a:ln>
        </p:spPr>
      </p:sp>
      <p:sp>
        <p:nvSpPr>
          <p:cNvPr id="36" name="Shape 29">
            <a:extLst>
              <a:ext uri="{FF2B5EF4-FFF2-40B4-BE49-F238E27FC236}">
                <a16:creationId xmlns:a16="http://schemas.microsoft.com/office/drawing/2014/main" id="{BE926843-F56D-47B3-B0AA-3788286566C0}"/>
              </a:ext>
            </a:extLst>
          </p:cNvPr>
          <p:cNvSpPr/>
          <p:nvPr/>
        </p:nvSpPr>
        <p:spPr>
          <a:xfrm>
            <a:off x="1253478" y="3438508"/>
            <a:ext cx="10580129" cy="0"/>
          </a:xfrm>
          <a:prstGeom prst="line">
            <a:avLst/>
          </a:prstGeom>
          <a:noFill/>
          <a:ln w="12700">
            <a:solidFill>
              <a:srgbClr val="9AA0B4"/>
            </a:solidFill>
            <a:prstDash val="dash"/>
          </a:ln>
        </p:spPr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2025F395-487F-419E-AC4E-3121985A2EC6}"/>
              </a:ext>
            </a:extLst>
          </p:cNvPr>
          <p:cNvSpPr/>
          <p:nvPr/>
        </p:nvSpPr>
        <p:spPr>
          <a:xfrm>
            <a:off x="1253478" y="3895686"/>
            <a:ext cx="10580129" cy="0"/>
          </a:xfrm>
          <a:prstGeom prst="line">
            <a:avLst/>
          </a:prstGeom>
          <a:noFill/>
          <a:ln w="12700">
            <a:solidFill>
              <a:srgbClr val="9AA0B4"/>
            </a:solidFill>
            <a:prstDash val="dash"/>
          </a:ln>
        </p:spPr>
        <p:txBody>
          <a:bodyPr/>
          <a:lstStyle/>
          <a:p>
            <a:endParaRPr lang="es-ES" dirty="0"/>
          </a:p>
        </p:txBody>
      </p:sp>
      <p:sp>
        <p:nvSpPr>
          <p:cNvPr id="38" name="Shape 31">
            <a:extLst>
              <a:ext uri="{FF2B5EF4-FFF2-40B4-BE49-F238E27FC236}">
                <a16:creationId xmlns:a16="http://schemas.microsoft.com/office/drawing/2014/main" id="{A34475CC-3D3A-4D9B-9465-998CE5F22869}"/>
              </a:ext>
            </a:extLst>
          </p:cNvPr>
          <p:cNvSpPr/>
          <p:nvPr/>
        </p:nvSpPr>
        <p:spPr>
          <a:xfrm>
            <a:off x="1253478" y="4352863"/>
            <a:ext cx="10580129" cy="0"/>
          </a:xfrm>
          <a:prstGeom prst="line">
            <a:avLst/>
          </a:prstGeom>
          <a:noFill/>
          <a:ln w="12700">
            <a:solidFill>
              <a:srgbClr val="9AA0B4"/>
            </a:solidFill>
            <a:prstDash val="dash"/>
          </a:ln>
        </p:spPr>
      </p:sp>
      <p:sp>
        <p:nvSpPr>
          <p:cNvPr id="39" name="Shape 32">
            <a:extLst>
              <a:ext uri="{FF2B5EF4-FFF2-40B4-BE49-F238E27FC236}">
                <a16:creationId xmlns:a16="http://schemas.microsoft.com/office/drawing/2014/main" id="{9CB21F7D-28C1-47E3-A9B0-D4ACB08BCA91}"/>
              </a:ext>
            </a:extLst>
          </p:cNvPr>
          <p:cNvSpPr/>
          <p:nvPr/>
        </p:nvSpPr>
        <p:spPr>
          <a:xfrm>
            <a:off x="1253478" y="4885752"/>
            <a:ext cx="10580129" cy="0"/>
          </a:xfrm>
          <a:prstGeom prst="line">
            <a:avLst/>
          </a:prstGeom>
          <a:noFill/>
          <a:ln w="12700">
            <a:solidFill>
              <a:srgbClr val="9AA0B4"/>
            </a:solidFill>
            <a:prstDash val="dash"/>
          </a:ln>
        </p:spPr>
      </p:sp>
      <p:sp>
        <p:nvSpPr>
          <p:cNvPr id="40" name="Shape 33">
            <a:extLst>
              <a:ext uri="{FF2B5EF4-FFF2-40B4-BE49-F238E27FC236}">
                <a16:creationId xmlns:a16="http://schemas.microsoft.com/office/drawing/2014/main" id="{8305194F-F3A5-4294-A83C-CE4BCF37613C}"/>
              </a:ext>
            </a:extLst>
          </p:cNvPr>
          <p:cNvSpPr/>
          <p:nvPr/>
        </p:nvSpPr>
        <p:spPr>
          <a:xfrm>
            <a:off x="1253478" y="5274984"/>
            <a:ext cx="10580129" cy="0"/>
          </a:xfrm>
          <a:prstGeom prst="line">
            <a:avLst/>
          </a:prstGeom>
          <a:noFill/>
          <a:ln w="12700">
            <a:solidFill>
              <a:srgbClr val="9AA0B4"/>
            </a:solidFill>
            <a:prstDash val="dash"/>
          </a:ln>
        </p:spPr>
      </p:sp>
      <p:sp>
        <p:nvSpPr>
          <p:cNvPr id="41" name="Shape 34">
            <a:extLst>
              <a:ext uri="{FF2B5EF4-FFF2-40B4-BE49-F238E27FC236}">
                <a16:creationId xmlns:a16="http://schemas.microsoft.com/office/drawing/2014/main" id="{719C5F83-068B-4623-8D5E-5644A68B101D}"/>
              </a:ext>
            </a:extLst>
          </p:cNvPr>
          <p:cNvSpPr/>
          <p:nvPr/>
        </p:nvSpPr>
        <p:spPr>
          <a:xfrm>
            <a:off x="1253478" y="5520560"/>
            <a:ext cx="10580129" cy="0"/>
          </a:xfrm>
          <a:prstGeom prst="line">
            <a:avLst/>
          </a:prstGeom>
          <a:noFill/>
          <a:ln w="12700">
            <a:solidFill>
              <a:srgbClr val="9AA0B4"/>
            </a:solidFill>
            <a:prstDash val="dash"/>
          </a:ln>
        </p:spPr>
      </p:sp>
      <p:sp>
        <p:nvSpPr>
          <p:cNvPr id="45" name="Shape 38">
            <a:extLst>
              <a:ext uri="{FF2B5EF4-FFF2-40B4-BE49-F238E27FC236}">
                <a16:creationId xmlns:a16="http://schemas.microsoft.com/office/drawing/2014/main" id="{7C884322-35ED-4A1D-8E32-E99885D60E58}"/>
              </a:ext>
            </a:extLst>
          </p:cNvPr>
          <p:cNvSpPr/>
          <p:nvPr/>
        </p:nvSpPr>
        <p:spPr>
          <a:xfrm>
            <a:off x="7397359" y="5405052"/>
            <a:ext cx="4090124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ysDot"/>
          </a:ln>
        </p:spPr>
      </p:sp>
      <p:sp>
        <p:nvSpPr>
          <p:cNvPr id="140" name="Text 133">
            <a:extLst>
              <a:ext uri="{FF2B5EF4-FFF2-40B4-BE49-F238E27FC236}">
                <a16:creationId xmlns:a16="http://schemas.microsoft.com/office/drawing/2014/main" id="{9E6BABF4-3E5B-43E1-8FA4-E2DEE9BF87CF}"/>
              </a:ext>
            </a:extLst>
          </p:cNvPr>
          <p:cNvSpPr txBox="1"/>
          <p:nvPr/>
        </p:nvSpPr>
        <p:spPr>
          <a:xfrm>
            <a:off x="5982425" y="2225190"/>
            <a:ext cx="494696" cy="174718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35941" tIns="35941" rIns="35941" bIns="35941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COLT '88 †</a:t>
            </a:r>
            <a:endParaRPr lang="en-US" sz="750" dirty="0"/>
          </a:p>
        </p:txBody>
      </p:sp>
      <p:sp>
        <p:nvSpPr>
          <p:cNvPr id="151" name="Text 144">
            <a:extLst>
              <a:ext uri="{FF2B5EF4-FFF2-40B4-BE49-F238E27FC236}">
                <a16:creationId xmlns:a16="http://schemas.microsoft.com/office/drawing/2014/main" id="{BE4E42FE-DCB5-4289-9170-0F906A165B39}"/>
              </a:ext>
            </a:extLst>
          </p:cNvPr>
          <p:cNvSpPr txBox="1"/>
          <p:nvPr/>
        </p:nvSpPr>
        <p:spPr>
          <a:xfrm>
            <a:off x="5057289" y="3037627"/>
            <a:ext cx="494695" cy="174718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 '82 †</a:t>
            </a:r>
            <a:endParaRPr lang="en-US" sz="750" dirty="0"/>
          </a:p>
        </p:txBody>
      </p:sp>
      <p:sp>
        <p:nvSpPr>
          <p:cNvPr id="161" name="Text 154">
            <a:extLst>
              <a:ext uri="{FF2B5EF4-FFF2-40B4-BE49-F238E27FC236}">
                <a16:creationId xmlns:a16="http://schemas.microsoft.com/office/drawing/2014/main" id="{B30AF778-23E5-4905-BFC1-BF2468C6A9CF}"/>
              </a:ext>
            </a:extLst>
          </p:cNvPr>
          <p:cNvSpPr txBox="1"/>
          <p:nvPr/>
        </p:nvSpPr>
        <p:spPr>
          <a:xfrm>
            <a:off x="8317885" y="3808327"/>
            <a:ext cx="559673" cy="174718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35941" tIns="35941" rIns="35941" bIns="35941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PerCom '03 †</a:t>
            </a:r>
            <a:endParaRPr lang="en-US" sz="750" dirty="0"/>
          </a:p>
        </p:txBody>
      </p:sp>
      <p:sp>
        <p:nvSpPr>
          <p:cNvPr id="160" name="Text 153">
            <a:extLst>
              <a:ext uri="{FF2B5EF4-FFF2-40B4-BE49-F238E27FC236}">
                <a16:creationId xmlns:a16="http://schemas.microsoft.com/office/drawing/2014/main" id="{9FC80B02-9C87-4E30-9F45-94B78FE14374}"/>
              </a:ext>
            </a:extLst>
          </p:cNvPr>
          <p:cNvSpPr txBox="1"/>
          <p:nvPr/>
        </p:nvSpPr>
        <p:spPr>
          <a:xfrm>
            <a:off x="7075313" y="3808327"/>
            <a:ext cx="632507" cy="174718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35941" tIns="35941" rIns="35941" bIns="35941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MobiCom '95 †</a:t>
            </a:r>
            <a:endParaRPr lang="en-US" sz="750" dirty="0"/>
          </a:p>
        </p:txBody>
      </p:sp>
      <p:sp>
        <p:nvSpPr>
          <p:cNvPr id="180" name="Shape 69">
            <a:extLst>
              <a:ext uri="{FF2B5EF4-FFF2-40B4-BE49-F238E27FC236}">
                <a16:creationId xmlns:a16="http://schemas.microsoft.com/office/drawing/2014/main" id="{0C22F8C3-599B-4766-86AD-1C62C24F9A5B}"/>
              </a:ext>
            </a:extLst>
          </p:cNvPr>
          <p:cNvSpPr/>
          <p:nvPr/>
        </p:nvSpPr>
        <p:spPr>
          <a:xfrm>
            <a:off x="1529715" y="247986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1" name="Shape 50">
            <a:extLst>
              <a:ext uri="{FF2B5EF4-FFF2-40B4-BE49-F238E27FC236}">
                <a16:creationId xmlns:a16="http://schemas.microsoft.com/office/drawing/2014/main" id="{1548A25A-76F6-4E1A-9A8C-155921FB20C2}"/>
              </a:ext>
            </a:extLst>
          </p:cNvPr>
          <p:cNvSpPr/>
          <p:nvPr/>
        </p:nvSpPr>
        <p:spPr>
          <a:xfrm>
            <a:off x="1961715" y="1385577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3712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139A5-15AB-45A6-96E9-7200D0608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4C525B-37AF-46C2-9185-5A871C666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13AE1-DA7D-40BC-94DE-A4669DD15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12</a:t>
            </a:fld>
            <a:endParaRPr lang="es-E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5B90303-EB78-4FE5-8D4F-08E057ED7F9C}"/>
              </a:ext>
            </a:extLst>
          </p:cNvPr>
          <p:cNvSpPr/>
          <p:nvPr/>
        </p:nvSpPr>
        <p:spPr>
          <a:xfrm>
            <a:off x="552000" y="2777043"/>
            <a:ext cx="7992000" cy="830287"/>
          </a:xfrm>
          <a:prstGeom prst="roundRect">
            <a:avLst/>
          </a:prstGeom>
          <a:noFill/>
          <a:ln w="57150">
            <a:solidFill>
              <a:srgbClr val="297F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6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0097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FC3FC-BABE-4B2F-BD21-EB422A355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00" y="281706"/>
            <a:ext cx="11880000" cy="559930"/>
          </a:xfrm>
        </p:spPr>
        <p:txBody>
          <a:bodyPr lIns="0" rIns="0"/>
          <a:lstStyle/>
          <a:p>
            <a:r>
              <a:rPr lang="es-ES" sz="2600" dirty="0"/>
              <a:t>Pero, realmente tiene impacto publicar en un congreso informático</a:t>
            </a:r>
            <a:r>
              <a:rPr lang="es-ES" sz="1800" dirty="0"/>
              <a:t> </a:t>
            </a:r>
            <a:r>
              <a:rPr lang="es-ES" sz="2600" dirty="0"/>
              <a:t>?</a:t>
            </a:r>
            <a:r>
              <a:rPr lang="es-ES" sz="1400" dirty="0"/>
              <a:t> (1 de 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3C38E-4541-499D-BA5F-C86279F29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2574922" cy="356528"/>
          </a:xfrm>
        </p:spPr>
        <p:txBody>
          <a:bodyPr/>
          <a:lstStyle/>
          <a:p>
            <a:fld id="{4A490C5D-AEA8-4823-B9B3-806910A0ECF7}" type="slidenum">
              <a:rPr lang="es-ES" smtClean="0"/>
              <a:pPr/>
              <a:t>13</a:t>
            </a:fld>
            <a:endParaRPr lang="es-E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804057-135A-42AB-A4C5-4F9CE9FF78F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884949"/>
            <a:ext cx="10972800" cy="5108776"/>
          </a:xfrm>
        </p:spPr>
        <p:txBody>
          <a:bodyPr/>
          <a:lstStyle/>
          <a:p>
            <a:r>
              <a:rPr lang="es-ES" sz="2000" dirty="0"/>
              <a:t>Tres de los diez artículos científicos más citados del siglo XXI en todas las disciplinas,</a:t>
            </a:r>
            <a:br>
              <a:rPr lang="es-ES" sz="2000" dirty="0"/>
            </a:br>
            <a:r>
              <a:rPr lang="es-ES" sz="2000" dirty="0"/>
              <a:t>son artículos en congresos de informática A* </a:t>
            </a:r>
            <a:r>
              <a:rPr lang="es-ES" sz="1800" dirty="0">
                <a:sym typeface="Symbol" panose="05050102010706020507" pitchFamily="18" charset="2"/>
              </a:rPr>
              <a:t> </a:t>
            </a:r>
            <a:r>
              <a:rPr lang="es-ES" sz="1800" dirty="0" err="1"/>
              <a:t>Nature</a:t>
            </a:r>
            <a:r>
              <a:rPr lang="es-ES" sz="1800" dirty="0"/>
              <a:t>, abril 2025 </a:t>
            </a:r>
            <a:r>
              <a:rPr lang="es-ES" sz="1800" dirty="0">
                <a:solidFill>
                  <a:srgbClr val="FF0000"/>
                </a:solidFill>
              </a:rPr>
              <a:t>[3]</a:t>
            </a:r>
            <a:r>
              <a:rPr lang="es-ES" sz="2000" dirty="0"/>
              <a:t> 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pPr marL="0" indent="0">
              <a:buNone/>
            </a:pPr>
            <a:endParaRPr lang="es-ES" dirty="0"/>
          </a:p>
          <a:p>
            <a:pPr>
              <a:spcBef>
                <a:spcPts val="2000"/>
              </a:spcBef>
            </a:pPr>
            <a:r>
              <a:rPr lang="es-ES" sz="1800" dirty="0">
                <a:ea typeface="Arial" panose="020B0604020202020204" pitchFamily="34" charset="0"/>
              </a:rPr>
              <a:t>Pero t</a:t>
            </a:r>
            <a:r>
              <a:rPr lang="es-ES" sz="1800" dirty="0">
                <a:effectLst/>
                <a:ea typeface="Arial" panose="020B0604020202020204" pitchFamily="34" charset="0"/>
              </a:rPr>
              <a:t>ambién hay </a:t>
            </a:r>
            <a:r>
              <a:rPr lang="es-ES" sz="1800" b="1" dirty="0">
                <a:effectLst/>
                <a:ea typeface="Arial" panose="020B0604020202020204" pitchFamily="34" charset="0"/>
              </a:rPr>
              <a:t>resultados fundacionales </a:t>
            </a:r>
            <a:r>
              <a:rPr lang="es-ES" sz="1800" dirty="0">
                <a:effectLst/>
                <a:ea typeface="Arial" panose="020B0604020202020204" pitchFamily="34" charset="0"/>
              </a:rPr>
              <a:t>en otras áreas,</a:t>
            </a:r>
            <a:br>
              <a:rPr lang="es-ES" sz="1800" dirty="0">
                <a:effectLst/>
                <a:ea typeface="Arial" panose="020B0604020202020204" pitchFamily="34" charset="0"/>
              </a:rPr>
            </a:br>
            <a:r>
              <a:rPr lang="es-ES" sz="1800" dirty="0">
                <a:effectLst/>
                <a:ea typeface="Arial" panose="020B0604020202020204" pitchFamily="34" charset="0"/>
              </a:rPr>
              <a:t>sistemas distribuidos, redes, bases de datos, aprendizaje automático aplicado, arquitectura de computadores, … </a:t>
            </a:r>
            <a:endParaRPr lang="es-E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B1917A-08F8-46BC-A366-BF9480FCB3DE}"/>
              </a:ext>
            </a:extLst>
          </p:cNvPr>
          <p:cNvSpPr txBox="1"/>
          <p:nvPr/>
        </p:nvSpPr>
        <p:spPr>
          <a:xfrm>
            <a:off x="1272000" y="6208639"/>
            <a:ext cx="4968000" cy="67197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spcAft>
                <a:spcPts val="200"/>
              </a:spcAft>
            </a:pPr>
            <a:r>
              <a:rPr lang="es-ES" sz="1200" b="1" dirty="0">
                <a:solidFill>
                  <a:srgbClr val="1F4E79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Las publicaciones en congresos de informática: hacia una evaluación científica adecuada a la disciplina</a:t>
            </a:r>
            <a:endParaRPr lang="es-ES" sz="1200" dirty="0">
              <a:solidFill>
                <a:srgbClr val="444444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s-ES" sz="1200" dirty="0">
                <a:solidFill>
                  <a:srgbClr val="44444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Antonio Vallecillo y Víctor Viñals, SCIE, </a:t>
            </a:r>
            <a:r>
              <a:rPr lang="es-ES" sz="12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septiembre</a:t>
            </a:r>
            <a:r>
              <a:rPr lang="es-ES" sz="1200" dirty="0">
                <a:solidFill>
                  <a:srgbClr val="44444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2026</a:t>
            </a:r>
            <a:endParaRPr lang="es-E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A9326-37E3-42EB-8289-6376BAEBC5C9}"/>
              </a:ext>
            </a:extLst>
          </p:cNvPr>
          <p:cNvSpPr txBox="1"/>
          <p:nvPr/>
        </p:nvSpPr>
        <p:spPr>
          <a:xfrm>
            <a:off x="7176000" y="6215734"/>
            <a:ext cx="4842600" cy="4616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[3]</a:t>
            </a:r>
            <a:r>
              <a:rPr lang="en-US" sz="1200" dirty="0">
                <a:solidFill>
                  <a:srgbClr val="44444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Pearson, H. et al. (2025). Exclusive: the most-cited papers</a:t>
            </a:r>
            <a:br>
              <a:rPr lang="en-US" sz="1200" dirty="0">
                <a:solidFill>
                  <a:srgbClr val="44444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1200" dirty="0">
                <a:solidFill>
                  <a:srgbClr val="44444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of the twenty-first century. Nature 640, 588. </a:t>
            </a:r>
            <a:endParaRPr lang="es-ES" sz="1200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56566690-BDA2-4750-BDDE-D59B1BA07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971279"/>
              </p:ext>
            </p:extLst>
          </p:nvPr>
        </p:nvGraphicFramePr>
        <p:xfrm>
          <a:off x="1578000" y="1626569"/>
          <a:ext cx="9036000" cy="1925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2000">
                  <a:extLst>
                    <a:ext uri="{9D8B030D-6E8A-4147-A177-3AD203B41FA5}">
                      <a16:colId xmlns:a16="http://schemas.microsoft.com/office/drawing/2014/main" val="1648554744"/>
                    </a:ext>
                  </a:extLst>
                </a:gridCol>
                <a:gridCol w="1332000">
                  <a:extLst>
                    <a:ext uri="{9D8B030D-6E8A-4147-A177-3AD203B41FA5}">
                      <a16:colId xmlns:a16="http://schemas.microsoft.com/office/drawing/2014/main" val="3357192583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1906502413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304962123"/>
                    </a:ext>
                  </a:extLst>
                </a:gridCol>
                <a:gridCol w="4536000">
                  <a:extLst>
                    <a:ext uri="{9D8B030D-6E8A-4147-A177-3AD203B41FA5}">
                      <a16:colId xmlns:a16="http://schemas.microsoft.com/office/drawing/2014/main" val="2728984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Hito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Congreso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 err="1"/>
                        <a:t>Pos</a:t>
                      </a:r>
                      <a:r>
                        <a:rPr lang="es-ES" sz="16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Nº citas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Tema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7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 err="1"/>
                        <a:t>ResNet</a:t>
                      </a:r>
                      <a:endParaRPr lang="es-E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CVPR’16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~318.000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Arquitecturas residuales profundas;</a:t>
                      </a:r>
                      <a:br>
                        <a:rPr lang="es-ES" sz="1400" dirty="0">
                          <a:effectLst/>
                        </a:rPr>
                      </a:br>
                      <a:r>
                        <a:rPr lang="es-ES" sz="1400" dirty="0">
                          <a:effectLst/>
                        </a:rPr>
                        <a:t>base de gran parte de la visión por computador moderna </a:t>
                      </a:r>
                      <a:endParaRPr lang="es-ES" sz="14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5512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 err="1"/>
                        <a:t>Transformer</a:t>
                      </a:r>
                      <a:endParaRPr lang="es-E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NeurIPS’17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~244.800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Arquitectura base de la IA generativa moderna</a:t>
                      </a:r>
                      <a:br>
                        <a:rPr lang="es-ES" sz="1400" dirty="0">
                          <a:effectLst/>
                        </a:rPr>
                      </a:br>
                      <a:r>
                        <a:rPr lang="es-ES" sz="1400" dirty="0">
                          <a:effectLst/>
                        </a:rPr>
                        <a:t>y de los grandes modelos de lenguaje</a:t>
                      </a:r>
                      <a:endParaRPr lang="es-ES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754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 err="1"/>
                        <a:t>AlexNet</a:t>
                      </a:r>
                      <a:endParaRPr lang="es-E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NeurIPS’12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~154.800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effectLst/>
                        </a:rPr>
                        <a:t>Inicio de la fase moderna del aprendizaje profundo</a:t>
                      </a:r>
                      <a:br>
                        <a:rPr lang="es-ES" sz="1400" dirty="0">
                          <a:effectLst/>
                        </a:rPr>
                      </a:br>
                      <a:r>
                        <a:rPr lang="es-ES" sz="1400" dirty="0">
                          <a:effectLst/>
                        </a:rPr>
                        <a:t>en visión por computador</a:t>
                      </a:r>
                      <a:endParaRPr lang="es-ES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11042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D4644DC-AD53-4357-B6A8-1E39701253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641158"/>
              </p:ext>
            </p:extLst>
          </p:nvPr>
        </p:nvGraphicFramePr>
        <p:xfrm>
          <a:off x="480000" y="4276596"/>
          <a:ext cx="11232000" cy="19177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384000">
                  <a:extLst>
                    <a:ext uri="{9D8B030D-6E8A-4147-A177-3AD203B41FA5}">
                      <a16:colId xmlns:a16="http://schemas.microsoft.com/office/drawing/2014/main" val="1648554744"/>
                    </a:ext>
                  </a:extLst>
                </a:gridCol>
                <a:gridCol w="1332000">
                  <a:extLst>
                    <a:ext uri="{9D8B030D-6E8A-4147-A177-3AD203B41FA5}">
                      <a16:colId xmlns:a16="http://schemas.microsoft.com/office/drawing/2014/main" val="3357192583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304962123"/>
                    </a:ext>
                  </a:extLst>
                </a:gridCol>
                <a:gridCol w="5364000">
                  <a:extLst>
                    <a:ext uri="{9D8B030D-6E8A-4147-A177-3AD203B41FA5}">
                      <a16:colId xmlns:a16="http://schemas.microsoft.com/office/drawing/2014/main" val="2728984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latin typeface="+mn-lt"/>
                        </a:rPr>
                        <a:t>Hito</a:t>
                      </a:r>
                      <a:endParaRPr lang="es-ES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latin typeface="+mn-lt"/>
                        </a:rPr>
                        <a:t>Congreso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latin typeface="+mn-lt"/>
                        </a:rPr>
                        <a:t>Nº citas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latin typeface="+mn-lt"/>
                        </a:rPr>
                        <a:t>Tema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7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0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Dean &amp; Ghemawat. </a:t>
                      </a:r>
                      <a:r>
                        <a:rPr lang="en-GB" sz="1400" b="0" i="1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MapReduce:</a:t>
                      </a:r>
                      <a:br>
                        <a:rPr lang="en-GB" sz="1400" b="0" i="1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</a:br>
                      <a:r>
                        <a:rPr lang="en-GB" sz="1400" b="0" i="1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Simplified Data Processing on Large Clusters</a:t>
                      </a:r>
                      <a:endParaRPr lang="en-GB" sz="1600" b="0" i="1" noProof="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OSDI</a:t>
                      </a:r>
                      <a:r>
                        <a:rPr lang="es-ES" sz="1400" dirty="0"/>
                        <a:t>’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04</a:t>
                      </a:r>
                      <a:endParaRPr lang="es-ES" sz="180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~25.000</a:t>
                      </a:r>
                      <a:endParaRPr lang="es-ES" sz="180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Sistemas distribuidos.</a:t>
                      </a:r>
                      <a:b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</a:b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Paradigma de computación paralela a gran escala; base de Hadoop</a:t>
                      </a:r>
                      <a:endParaRPr lang="es-ES" sz="180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1565512424"/>
                  </a:ext>
                </a:extLst>
              </a:tr>
              <a:tr h="323521">
                <a:tc>
                  <a:txBody>
                    <a:bodyPr/>
                    <a:lstStyle/>
                    <a:p>
                      <a:r>
                        <a:rPr lang="en-GB" sz="1400" b="0" noProof="0" dirty="0" err="1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Stoica</a:t>
                      </a:r>
                      <a:r>
                        <a:rPr lang="en-GB" sz="1400" b="0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 et al. </a:t>
                      </a:r>
                      <a:r>
                        <a:rPr lang="en-GB" sz="1400" b="0" i="1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Chord: </a:t>
                      </a:r>
                      <a:br>
                        <a:rPr lang="en-GB" sz="1400" b="0" i="1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</a:br>
                      <a:r>
                        <a:rPr lang="en-GB" sz="1400" b="0" i="1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A Scalable Peer-to-peer Lookup Service</a:t>
                      </a:r>
                      <a:endParaRPr lang="en-GB" sz="1600" b="0" i="1" noProof="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SIGCOMM</a:t>
                      </a:r>
                      <a:r>
                        <a:rPr lang="es-ES" sz="1400" dirty="0"/>
                        <a:t>’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01</a:t>
                      </a:r>
                      <a:endParaRPr lang="es-ES" sz="180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~14.800</a:t>
                      </a:r>
                      <a:endParaRPr lang="es-ES" sz="180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Redes P2P. Protocolo de búsqueda distribuida;</a:t>
                      </a:r>
                      <a:b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</a:b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referencia fundacional en sistemas peer-</a:t>
                      </a:r>
                      <a:r>
                        <a:rPr lang="es-ES" sz="14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to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-peer y </a:t>
                      </a:r>
                      <a:r>
                        <a:rPr lang="es-ES" sz="14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Distr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. Hash Table</a:t>
                      </a:r>
                      <a:endParaRPr lang="es-ES" sz="180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4132754732"/>
                  </a:ext>
                </a:extLst>
              </a:tr>
              <a:tr h="258561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400" b="0" kern="1200" noProof="0" dirty="0" err="1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  <a:t>Zaharia</a:t>
                      </a:r>
                      <a:r>
                        <a:rPr kumimoji="0" lang="en-US" sz="1400" b="0" kern="1200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  <a:t> et al.</a:t>
                      </a:r>
                      <a:br>
                        <a:rPr kumimoji="0" lang="en-US" sz="1400" b="0" kern="1200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</a:br>
                      <a:r>
                        <a:rPr kumimoji="0" lang="en-US" sz="1400" b="0" i="1" kern="1200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  <a:t>Resilient Distributed Datasets; …</a:t>
                      </a: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s-ES" sz="1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  <a:t>NSDI</a:t>
                      </a:r>
                      <a:r>
                        <a:rPr lang="es-ES" sz="1400" dirty="0"/>
                        <a:t>’</a:t>
                      </a:r>
                      <a:r>
                        <a:rPr kumimoji="0" lang="es-ES" sz="1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  <a:t>12</a:t>
                      </a: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s-ES" sz="1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  <a:t>~15.000</a:t>
                      </a: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r>
                        <a:rPr kumimoji="0" lang="es-ES" sz="1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  <a:t>Big data / sistemas.</a:t>
                      </a:r>
                      <a:br>
                        <a:rPr kumimoji="0" lang="es-ES" sz="1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</a:br>
                      <a:r>
                        <a:rPr kumimoji="0" lang="es-ES" sz="1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  <a:t>Marco de computación distribuida en memoria; origen de Apache </a:t>
                      </a:r>
                      <a:r>
                        <a:rPr kumimoji="0" lang="es-ES" sz="1400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  <a:t>Spark</a:t>
                      </a:r>
                      <a:r>
                        <a:rPr kumimoji="0" lang="es-ES" sz="1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  <a:t> </a:t>
                      </a: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497110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7043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6F86E-28C3-4997-B18C-E25DCDEDF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14</a:t>
            </a:fld>
            <a:endParaRPr lang="es-E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C8B44E2-9780-4DE1-A31A-F33B8621A34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889889"/>
            <a:ext cx="10972800" cy="667111"/>
          </a:xfrm>
        </p:spPr>
        <p:txBody>
          <a:bodyPr/>
          <a:lstStyle/>
          <a:p>
            <a:r>
              <a:rPr lang="es-ES" sz="1800" dirty="0" err="1"/>
              <a:t>Eickhoff</a:t>
            </a:r>
            <a:r>
              <a:rPr lang="es-ES" sz="1800" dirty="0"/>
              <a:t> (2023) calcula factores de impacto para 88 congresos usando una metodología análoga</a:t>
            </a:r>
            <a:br>
              <a:rPr lang="es-ES" sz="1800" dirty="0"/>
            </a:br>
            <a:r>
              <a:rPr lang="es-ES" sz="1800" dirty="0"/>
              <a:t>a la del </a:t>
            </a:r>
            <a:r>
              <a:rPr lang="es-ES" sz="1800" dirty="0" err="1"/>
              <a:t>Journal</a:t>
            </a:r>
            <a:r>
              <a:rPr lang="es-ES" sz="1800" dirty="0"/>
              <a:t> </a:t>
            </a:r>
            <a:r>
              <a:rPr lang="es-ES" sz="1800" dirty="0" err="1"/>
              <a:t>Citation</a:t>
            </a:r>
            <a:r>
              <a:rPr lang="es-ES" sz="1800" dirty="0"/>
              <a:t> </a:t>
            </a:r>
            <a:r>
              <a:rPr lang="es-ES" sz="1800" dirty="0" err="1"/>
              <a:t>Reports</a:t>
            </a:r>
            <a:r>
              <a:rPr lang="es-ES" sz="1800" dirty="0"/>
              <a:t>: </a:t>
            </a:r>
            <a:r>
              <a:rPr lang="es-ES" sz="1800" i="1" dirty="0"/>
              <a:t>citas en 2022 a artículos publicados en 2020–2021 </a:t>
            </a:r>
            <a:r>
              <a:rPr lang="es-ES" sz="1800" dirty="0"/>
              <a:t> </a:t>
            </a:r>
            <a:r>
              <a:rPr lang="es-ES" sz="1600" dirty="0">
                <a:solidFill>
                  <a:srgbClr val="FF0000"/>
                </a:solidFill>
              </a:rPr>
              <a:t>[29]</a:t>
            </a:r>
            <a:r>
              <a:rPr lang="es-ES" sz="1800" dirty="0"/>
              <a:t> 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9C0EDA40-6781-4F30-82A1-91FAE0F5D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805140"/>
              </p:ext>
            </p:extLst>
          </p:nvPr>
        </p:nvGraphicFramePr>
        <p:xfrm>
          <a:off x="768000" y="1557221"/>
          <a:ext cx="10693422" cy="344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4000">
                  <a:extLst>
                    <a:ext uri="{9D8B030D-6E8A-4147-A177-3AD203B41FA5}">
                      <a16:colId xmlns:a16="http://schemas.microsoft.com/office/drawing/2014/main" val="326607423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292271327"/>
                    </a:ext>
                  </a:extLst>
                </a:gridCol>
                <a:gridCol w="1332000">
                  <a:extLst>
                    <a:ext uri="{9D8B030D-6E8A-4147-A177-3AD203B41FA5}">
                      <a16:colId xmlns:a16="http://schemas.microsoft.com/office/drawing/2014/main" val="667244656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567732522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213987369"/>
                    </a:ext>
                  </a:extLst>
                </a:gridCol>
                <a:gridCol w="1152711">
                  <a:extLst>
                    <a:ext uri="{9D8B030D-6E8A-4147-A177-3AD203B41FA5}">
                      <a16:colId xmlns:a16="http://schemas.microsoft.com/office/drawing/2014/main" val="244754767"/>
                    </a:ext>
                  </a:extLst>
                </a:gridCol>
                <a:gridCol w="1152711">
                  <a:extLst>
                    <a:ext uri="{9D8B030D-6E8A-4147-A177-3AD203B41FA5}">
                      <a16:colId xmlns:a16="http://schemas.microsoft.com/office/drawing/2014/main" val="964723236"/>
                    </a:ext>
                  </a:extLst>
                </a:gridCol>
              </a:tblGrid>
              <a:tr h="468824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Área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Congreso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IF congreso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Tasa acept.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Revista Q1 de referencia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IF revista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Ratio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50800" marB="50800" anchor="ctr"/>
                </a:tc>
                <a:extLst>
                  <a:ext uri="{0D108BD9-81ED-4DB2-BD59-A6C34878D82A}">
                    <a16:rowId xmlns:a16="http://schemas.microsoft.com/office/drawing/2014/main" val="1485862580"/>
                  </a:ext>
                </a:extLst>
              </a:tr>
              <a:tr h="372002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Machine </a:t>
                      </a:r>
                      <a:r>
                        <a:rPr lang="es-ES" sz="1600" dirty="0" err="1">
                          <a:effectLst/>
                        </a:rPr>
                        <a:t>Learning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ICLR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48,87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~32 %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JMLR </a:t>
                      </a:r>
                      <a:r>
                        <a:rPr lang="es-ES" sz="1600" dirty="0">
                          <a:effectLst/>
                          <a:hlinkClick r:id="rId2"/>
                        </a:rPr>
                        <a:t>jmlr.org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~7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7,0×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676793755"/>
                  </a:ext>
                </a:extLst>
              </a:tr>
              <a:tr h="372002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Visión por computador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CVPR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44,08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~24 %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IEEE TPAMI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~20,8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2,1×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356611932"/>
                  </a:ext>
                </a:extLst>
              </a:tr>
              <a:tr h="372002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Machine </a:t>
                      </a:r>
                      <a:r>
                        <a:rPr lang="es-ES" sz="1600" dirty="0" err="1">
                          <a:effectLst/>
                        </a:rPr>
                        <a:t>Learning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NeurIPS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23,27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~26 %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JMLR </a:t>
                      </a:r>
                      <a:r>
                        <a:rPr lang="es-ES" sz="1600" dirty="0">
                          <a:effectLst/>
                          <a:hlinkClick r:id="rId2"/>
                        </a:rPr>
                        <a:t>jmlr.org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~7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3,3×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1552441802"/>
                  </a:ext>
                </a:extLst>
              </a:tr>
              <a:tr h="372002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Seguridad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IEEE S&amp;P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21,96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~12–18 %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IEEE TDSC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~6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3,7×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1578239256"/>
                  </a:ext>
                </a:extLst>
              </a:tr>
              <a:tr h="372002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Sistemas Operativos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OSDI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18,88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~18 %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ACM TOCS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~3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6,3×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559133696"/>
                  </a:ext>
                </a:extLst>
              </a:tr>
              <a:tr h="372002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Redes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SIGCOMM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16,94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~21–22 %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IEEE/ACM ToN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~3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5,6×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1544958461"/>
                  </a:ext>
                </a:extLst>
              </a:tr>
              <a:tr h="372002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Ing. Software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ICSE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13,28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~22–24 %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IEEE TSE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~6,8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2,0×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4023438778"/>
                  </a:ext>
                </a:extLst>
              </a:tr>
              <a:tr h="372002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Ing. Software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FSE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8,10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~25–26 %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ACM TOSEM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~6,6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1,2×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210081536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BCF228C-1EFA-43CC-841C-E4F1AE8A7EDA}"/>
              </a:ext>
            </a:extLst>
          </p:cNvPr>
          <p:cNvSpPr txBox="1"/>
          <p:nvPr/>
        </p:nvSpPr>
        <p:spPr>
          <a:xfrm>
            <a:off x="1272000" y="6208639"/>
            <a:ext cx="4968000" cy="67197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spcAft>
                <a:spcPts val="200"/>
              </a:spcAft>
            </a:pPr>
            <a:r>
              <a:rPr lang="es-ES" sz="1200" b="1" dirty="0">
                <a:solidFill>
                  <a:srgbClr val="1F4E79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Las publicaciones en congresos de informática: hacia una evaluación científica adecuada a la disciplina</a:t>
            </a:r>
            <a:endParaRPr lang="es-ES" sz="1200" dirty="0">
              <a:solidFill>
                <a:srgbClr val="444444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s-ES" sz="1200" dirty="0">
                <a:solidFill>
                  <a:srgbClr val="44444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Antonio Vallecillo y Víctor Viñals, SCIE, </a:t>
            </a:r>
            <a:r>
              <a:rPr lang="es-ES" sz="12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septiembre</a:t>
            </a:r>
            <a:r>
              <a:rPr lang="es-ES" sz="1200" dirty="0">
                <a:solidFill>
                  <a:srgbClr val="44444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2026</a:t>
            </a:r>
            <a:endParaRPr lang="es-E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B45541-82C0-42B5-8ED8-27366427DA4D}"/>
              </a:ext>
            </a:extLst>
          </p:cNvPr>
          <p:cNvSpPr txBox="1"/>
          <p:nvPr/>
        </p:nvSpPr>
        <p:spPr>
          <a:xfrm>
            <a:off x="7176000" y="6215734"/>
            <a:ext cx="4842600" cy="4616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[29]</a:t>
            </a:r>
            <a:r>
              <a:rPr lang="en-US" sz="1200" dirty="0">
                <a:solidFill>
                  <a:srgbClr val="44444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Eickhoff, C. (2023). Impact Factors for Computer Science Conferences. arXiv:2310.08037.</a:t>
            </a:r>
            <a:endParaRPr lang="es-ES" sz="1200" dirty="0"/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4C791AF2-E3E2-441E-9D82-1B3D98C70D45}"/>
              </a:ext>
            </a:extLst>
          </p:cNvPr>
          <p:cNvSpPr txBox="1">
            <a:spLocks/>
          </p:cNvSpPr>
          <p:nvPr/>
        </p:nvSpPr>
        <p:spPr>
          <a:xfrm>
            <a:off x="2573643" y="5131410"/>
            <a:ext cx="7351051" cy="10062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none" tIns="36000" bIns="36000" anchor="ctr" anchorCtr="0">
            <a:sp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spcBef>
                <a:spcPts val="400"/>
              </a:spcBef>
            </a:pPr>
            <a:r>
              <a:rPr lang="es-ES" sz="1800" dirty="0">
                <a:ea typeface="Arial" panose="020B0604020202020204" pitchFamily="34" charset="0"/>
              </a:rPr>
              <a:t>No hay rondas indefinidas de revisión mayor</a:t>
            </a:r>
          </a:p>
          <a:p>
            <a:pPr defTabSz="914400">
              <a:spcBef>
                <a:spcPts val="400"/>
              </a:spcBef>
            </a:pPr>
            <a:r>
              <a:rPr lang="es-ES" sz="1800" dirty="0">
                <a:ea typeface="Arial" panose="020B0604020202020204" pitchFamily="34" charset="0"/>
              </a:rPr>
              <a:t>La competencia se concentra en una única convocatoria</a:t>
            </a:r>
          </a:p>
          <a:p>
            <a:pPr defTabSz="914400">
              <a:spcBef>
                <a:spcPts val="400"/>
              </a:spcBef>
            </a:pPr>
            <a:r>
              <a:rPr lang="es-ES" sz="1800" dirty="0">
                <a:ea typeface="Arial" panose="020B0604020202020204" pitchFamily="34" charset="0"/>
              </a:rPr>
              <a:t>El número de trabajos aceptados está limitado por el comité de programa</a:t>
            </a:r>
            <a:endParaRPr lang="es-ES" sz="180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F0E8A85-5DCA-4F71-B688-CE3D665F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00" y="281706"/>
            <a:ext cx="11880000" cy="559930"/>
          </a:xfrm>
        </p:spPr>
        <p:txBody>
          <a:bodyPr lIns="0" rIns="0"/>
          <a:lstStyle/>
          <a:p>
            <a:r>
              <a:rPr lang="es-ES" sz="2600" dirty="0"/>
              <a:t>Pero, realmente tiene impacto publicar en un congreso informático</a:t>
            </a:r>
            <a:r>
              <a:rPr lang="es-ES" sz="1800" dirty="0"/>
              <a:t> </a:t>
            </a:r>
            <a:r>
              <a:rPr lang="es-ES" sz="2600" dirty="0"/>
              <a:t>?</a:t>
            </a:r>
            <a:r>
              <a:rPr lang="es-ES" sz="1400" dirty="0"/>
              <a:t> (2 de 2)</a:t>
            </a:r>
          </a:p>
        </p:txBody>
      </p:sp>
    </p:spTree>
    <p:extLst>
      <p:ext uri="{BB962C8B-B14F-4D97-AF65-F5344CB8AC3E}">
        <p14:creationId xmlns:p14="http://schemas.microsoft.com/office/powerpoint/2010/main" val="1736984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88618-BB87-4D6B-87E7-0299FC358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700943-8AC1-4C41-A945-76F55DC70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0A3DF-5497-4820-A155-1838DDA7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15</a:t>
            </a:fld>
            <a:endParaRPr lang="es-E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26A9E2F-F179-4F2A-9024-4568D3C93F6E}"/>
              </a:ext>
            </a:extLst>
          </p:cNvPr>
          <p:cNvSpPr/>
          <p:nvPr/>
        </p:nvSpPr>
        <p:spPr>
          <a:xfrm>
            <a:off x="552000" y="3534713"/>
            <a:ext cx="7992000" cy="830287"/>
          </a:xfrm>
          <a:prstGeom prst="roundRect">
            <a:avLst/>
          </a:prstGeom>
          <a:noFill/>
          <a:ln w="57150">
            <a:solidFill>
              <a:srgbClr val="297F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6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8213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08975-482A-43C9-AD99-39D6EBA38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Congresos: mercados de talento y transferencia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01FEF-4870-4D80-AFE4-AB044383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16</a:t>
            </a:fld>
            <a:endParaRPr lang="es-E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5BAC7F-51B8-4C55-995F-4ECB440D70C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56000" y="1124645"/>
            <a:ext cx="4320000" cy="4608355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800" b="1" dirty="0"/>
              <a:t>Empresas</a:t>
            </a:r>
            <a:endParaRPr lang="es-ES" b="1" dirty="0"/>
          </a:p>
          <a:p>
            <a:pPr lvl="1"/>
            <a:r>
              <a:rPr lang="es-ES" sz="2400" dirty="0">
                <a:effectLst/>
              </a:rPr>
              <a:t>enseñan sus logros recientes consolidados</a:t>
            </a:r>
          </a:p>
          <a:p>
            <a:pPr lvl="2"/>
            <a:r>
              <a:rPr lang="es-ES" sz="2100" dirty="0">
                <a:effectLst/>
              </a:rPr>
              <a:t>evaluación gratuita</a:t>
            </a:r>
            <a:br>
              <a:rPr lang="es-ES" sz="2100" dirty="0">
                <a:effectLst/>
              </a:rPr>
            </a:br>
            <a:r>
              <a:rPr lang="es-ES" sz="2100" dirty="0">
                <a:effectLst/>
              </a:rPr>
              <a:t>de la comunidad</a:t>
            </a:r>
          </a:p>
          <a:p>
            <a:pPr lvl="2"/>
            <a:r>
              <a:rPr lang="es-ES" sz="2100" dirty="0">
                <a:effectLst/>
              </a:rPr>
              <a:t>impacto reputacional</a:t>
            </a:r>
            <a:br>
              <a:rPr lang="es-ES" sz="2100" dirty="0">
                <a:effectLst/>
              </a:rPr>
            </a:br>
            <a:r>
              <a:rPr lang="es-ES" sz="2100" dirty="0"/>
              <a:t>y</a:t>
            </a:r>
            <a:r>
              <a:rPr lang="es-ES" sz="2100" dirty="0">
                <a:effectLst/>
              </a:rPr>
              <a:t> valor en bolsa</a:t>
            </a:r>
            <a:endParaRPr lang="es-ES" dirty="0"/>
          </a:p>
          <a:p>
            <a:pPr lvl="1">
              <a:spcBef>
                <a:spcPts val="1200"/>
              </a:spcBef>
            </a:pPr>
            <a:r>
              <a:rPr lang="es-ES" sz="2400" dirty="0"/>
              <a:t>contratación de talento</a:t>
            </a:r>
          </a:p>
          <a:p>
            <a:pPr lvl="1"/>
            <a:r>
              <a:rPr lang="es-ES" sz="2400" dirty="0"/>
              <a:t>captura de ideas: </a:t>
            </a:r>
            <a:r>
              <a:rPr lang="es-ES" sz="2400" b="1" dirty="0"/>
              <a:t>transferencia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B56933-A19A-41BB-A21D-3DC89B325851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816000" y="1124645"/>
            <a:ext cx="4320000" cy="4608355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marL="0" indent="0" algn="ctr">
              <a:buNone/>
            </a:pPr>
            <a:r>
              <a:rPr lang="es-ES" sz="2800" b="1" dirty="0"/>
              <a:t>Investigadores</a:t>
            </a:r>
          </a:p>
          <a:p>
            <a:pPr lvl="1"/>
            <a:r>
              <a:rPr lang="es-ES" sz="2400" dirty="0"/>
              <a:t>junior:</a:t>
            </a:r>
          </a:p>
          <a:p>
            <a:pPr lvl="2"/>
            <a:r>
              <a:rPr lang="es-ES" dirty="0"/>
              <a:t>empleo futuro</a:t>
            </a:r>
          </a:p>
          <a:p>
            <a:pPr lvl="2"/>
            <a:r>
              <a:rPr lang="es-ES" dirty="0"/>
              <a:t>estancias de investigación</a:t>
            </a:r>
          </a:p>
          <a:p>
            <a:pPr lvl="2"/>
            <a:r>
              <a:rPr lang="es-ES" dirty="0"/>
              <a:t>becas</a:t>
            </a:r>
          </a:p>
          <a:p>
            <a:pPr lvl="1">
              <a:spcBef>
                <a:spcPts val="1200"/>
              </a:spcBef>
            </a:pPr>
            <a:r>
              <a:rPr lang="es-ES" sz="2400" dirty="0"/>
              <a:t>senior</a:t>
            </a:r>
          </a:p>
          <a:p>
            <a:pPr lvl="2"/>
            <a:r>
              <a:rPr lang="es-ES" dirty="0"/>
              <a:t>buscan </a:t>
            </a:r>
            <a:r>
              <a:rPr lang="es-ES" dirty="0" err="1"/>
              <a:t>hw</a:t>
            </a:r>
            <a:r>
              <a:rPr lang="es-ES" dirty="0"/>
              <a:t> y/o </a:t>
            </a:r>
            <a:r>
              <a:rPr lang="es-ES" dirty="0" err="1"/>
              <a:t>sw</a:t>
            </a:r>
            <a:r>
              <a:rPr lang="es-ES" dirty="0"/>
              <a:t> “gratis”</a:t>
            </a:r>
          </a:p>
          <a:p>
            <a:pPr lvl="2"/>
            <a:r>
              <a:rPr lang="es-ES" b="1" dirty="0"/>
              <a:t>financiación - transferencia</a:t>
            </a:r>
          </a:p>
          <a:p>
            <a:pPr lvl="2"/>
            <a:endParaRPr lang="es-ES" dirty="0"/>
          </a:p>
        </p:txBody>
      </p:sp>
      <p:pic>
        <p:nvPicPr>
          <p:cNvPr id="3074" name="Picture 2" descr="Guía para regatear por el mundo - MueroPorViajar - Blog de viajes">
            <a:extLst>
              <a:ext uri="{FF2B5EF4-FFF2-40B4-BE49-F238E27FC236}">
                <a16:creationId xmlns:a16="http://schemas.microsoft.com/office/drawing/2014/main" id="{A84F94CE-A992-402E-93BF-8ACC906187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667"/>
          <a:stretch/>
        </p:blipFill>
        <p:spPr bwMode="auto">
          <a:xfrm>
            <a:off x="4730458" y="4567228"/>
            <a:ext cx="2844081" cy="214949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Curved Left 9">
            <a:extLst>
              <a:ext uri="{FF2B5EF4-FFF2-40B4-BE49-F238E27FC236}">
                <a16:creationId xmlns:a16="http://schemas.microsoft.com/office/drawing/2014/main" id="{C27FA326-E90E-4F34-97CD-99CFCAD61E86}"/>
              </a:ext>
            </a:extLst>
          </p:cNvPr>
          <p:cNvSpPr/>
          <p:nvPr/>
        </p:nvSpPr>
        <p:spPr>
          <a:xfrm>
            <a:off x="5695899" y="2122367"/>
            <a:ext cx="1008000" cy="1584000"/>
          </a:xfrm>
          <a:prstGeom prst="curvedLeftArrow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600" dirty="0" err="1">
              <a:solidFill>
                <a:schemeClr val="tx1"/>
              </a:solidFill>
            </a:endParaRPr>
          </a:p>
        </p:txBody>
      </p:sp>
      <p:sp>
        <p:nvSpPr>
          <p:cNvPr id="13" name="Arrow: Curved Left 12">
            <a:extLst>
              <a:ext uri="{FF2B5EF4-FFF2-40B4-BE49-F238E27FC236}">
                <a16:creationId xmlns:a16="http://schemas.microsoft.com/office/drawing/2014/main" id="{DDC02C46-263C-4DD6-B729-3822EAE09028}"/>
              </a:ext>
            </a:extLst>
          </p:cNvPr>
          <p:cNvSpPr/>
          <p:nvPr/>
        </p:nvSpPr>
        <p:spPr>
          <a:xfrm flipH="1">
            <a:off x="5479899" y="2709000"/>
            <a:ext cx="1008000" cy="1584000"/>
          </a:xfrm>
          <a:prstGeom prst="curvedLeftArrow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6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001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81609-451B-4A06-8294-631B4EDD8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s-ES" dirty="0"/>
              <a:t>Impacto industrial en informática </a:t>
            </a:r>
            <a:r>
              <a:rPr lang="es-ES" sz="2700" dirty="0"/>
              <a:t>(1 de 3)</a:t>
            </a:r>
            <a:endParaRPr lang="es-E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97A3DC-4C6C-4206-8E38-C0057D124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786A1-17E9-43C1-8001-8BC5B3AE4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17</a:t>
            </a:fld>
            <a:endParaRPr lang="es-E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3B6B92-9B1B-40D8-B0A0-E137BFA78DB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ES" dirty="0"/>
              <a:t>Muchos hitos históricos en informática provienen</a:t>
            </a:r>
            <a:br>
              <a:rPr lang="es-ES" dirty="0"/>
            </a:br>
            <a:r>
              <a:rPr lang="es-ES" dirty="0"/>
              <a:t>de revistas, patentes directas o informes …</a:t>
            </a:r>
          </a:p>
          <a:p>
            <a:pPr lvl="1">
              <a:spcBef>
                <a:spcPts val="1200"/>
              </a:spcBef>
            </a:pPr>
            <a:r>
              <a:rPr lang="es-ES" dirty="0">
                <a:solidFill>
                  <a:srgbClr val="0000FF"/>
                </a:solidFill>
              </a:rPr>
              <a:t>Transistor</a:t>
            </a:r>
            <a:r>
              <a:rPr lang="es-ES" dirty="0"/>
              <a:t>. Bardeen, </a:t>
            </a:r>
            <a:r>
              <a:rPr lang="es-ES" dirty="0" err="1"/>
              <a:t>Brattain</a:t>
            </a:r>
            <a:r>
              <a:rPr lang="es-ES" dirty="0"/>
              <a:t> + Shockley, </a:t>
            </a:r>
            <a:br>
              <a:rPr lang="es-ES" dirty="0"/>
            </a:br>
            <a:r>
              <a:rPr lang="es-ES" dirty="0"/>
              <a:t>1º patente febrero 1948, 2º </a:t>
            </a:r>
            <a:r>
              <a:rPr lang="es-ES" dirty="0" err="1">
                <a:solidFill>
                  <a:srgbClr val="0000FF"/>
                </a:solidFill>
              </a:rPr>
              <a:t>Physical</a:t>
            </a:r>
            <a:r>
              <a:rPr lang="es-ES" dirty="0">
                <a:solidFill>
                  <a:srgbClr val="0000FF"/>
                </a:solidFill>
              </a:rPr>
              <a:t> </a:t>
            </a:r>
            <a:r>
              <a:rPr lang="es-ES" dirty="0" err="1">
                <a:solidFill>
                  <a:srgbClr val="0000FF"/>
                </a:solidFill>
              </a:rPr>
              <a:t>Review</a:t>
            </a:r>
            <a:r>
              <a:rPr lang="es-ES" dirty="0"/>
              <a:t>, julio 1948 </a:t>
            </a:r>
          </a:p>
          <a:p>
            <a:pPr lvl="1">
              <a:spcBef>
                <a:spcPts val="1200"/>
              </a:spcBef>
            </a:pPr>
            <a:r>
              <a:rPr lang="es-ES" dirty="0">
                <a:solidFill>
                  <a:srgbClr val="0000FF"/>
                </a:solidFill>
              </a:rPr>
              <a:t>Circuito integrado</a:t>
            </a:r>
            <a:r>
              <a:rPr lang="es-ES" dirty="0"/>
              <a:t>. Kilby y Noyce, patente directa,1959-1960</a:t>
            </a:r>
          </a:p>
          <a:p>
            <a:pPr lvl="1">
              <a:spcBef>
                <a:spcPts val="1200"/>
              </a:spcBef>
            </a:pPr>
            <a:r>
              <a:rPr lang="es-ES" dirty="0">
                <a:solidFill>
                  <a:srgbClr val="0000FF"/>
                </a:solidFill>
              </a:rPr>
              <a:t>Modelo relacional de base de datos</a:t>
            </a:r>
            <a:r>
              <a:rPr lang="es-ES" dirty="0"/>
              <a:t>. Codd, </a:t>
            </a:r>
            <a:r>
              <a:rPr lang="es-ES" dirty="0" err="1">
                <a:solidFill>
                  <a:srgbClr val="0000FF"/>
                </a:solidFill>
              </a:rPr>
              <a:t>Comm</a:t>
            </a:r>
            <a:r>
              <a:rPr lang="es-ES" dirty="0">
                <a:solidFill>
                  <a:srgbClr val="0000FF"/>
                </a:solidFill>
              </a:rPr>
              <a:t>. </a:t>
            </a:r>
            <a:r>
              <a:rPr lang="es-ES" dirty="0" err="1">
                <a:solidFill>
                  <a:srgbClr val="0000FF"/>
                </a:solidFill>
              </a:rPr>
              <a:t>of</a:t>
            </a:r>
            <a:r>
              <a:rPr lang="es-ES" dirty="0">
                <a:solidFill>
                  <a:srgbClr val="0000FF"/>
                </a:solidFill>
              </a:rPr>
              <a:t> </a:t>
            </a:r>
            <a:r>
              <a:rPr lang="es-ES" dirty="0" err="1">
                <a:solidFill>
                  <a:srgbClr val="0000FF"/>
                </a:solidFill>
              </a:rPr>
              <a:t>the</a:t>
            </a:r>
            <a:r>
              <a:rPr lang="es-ES" dirty="0">
                <a:solidFill>
                  <a:srgbClr val="0000FF"/>
                </a:solidFill>
              </a:rPr>
              <a:t> ACM</a:t>
            </a:r>
            <a:r>
              <a:rPr lang="es-ES" dirty="0"/>
              <a:t>, 1970</a:t>
            </a:r>
          </a:p>
          <a:p>
            <a:pPr lvl="1">
              <a:spcBef>
                <a:spcPts val="1200"/>
              </a:spcBef>
            </a:pPr>
            <a:r>
              <a:rPr lang="es-ES" dirty="0">
                <a:solidFill>
                  <a:srgbClr val="0000FF"/>
                </a:solidFill>
              </a:rPr>
              <a:t>Ejecución fuera de orden</a:t>
            </a:r>
            <a:r>
              <a:rPr lang="es-ES" dirty="0"/>
              <a:t>. </a:t>
            </a:r>
            <a:r>
              <a:rPr lang="es-ES" dirty="0" err="1"/>
              <a:t>Tomasulo</a:t>
            </a:r>
            <a:r>
              <a:rPr lang="es-ES" dirty="0"/>
              <a:t>, IBM </a:t>
            </a:r>
            <a:r>
              <a:rPr lang="es-ES" dirty="0" err="1"/>
              <a:t>Journal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Res. and Develop.,1967</a:t>
            </a:r>
          </a:p>
          <a:p>
            <a:pPr lvl="1">
              <a:lnSpc>
                <a:spcPts val="2900"/>
              </a:lnSpc>
              <a:spcBef>
                <a:spcPts val="1200"/>
              </a:spcBef>
            </a:pPr>
            <a:r>
              <a:rPr lang="es-ES" dirty="0">
                <a:solidFill>
                  <a:srgbClr val="0000FF"/>
                </a:solidFill>
              </a:rPr>
              <a:t>Criptografía de clave pública RSA</a:t>
            </a:r>
            <a:r>
              <a:rPr lang="es-ES" dirty="0"/>
              <a:t>.</a:t>
            </a:r>
            <a:br>
              <a:rPr lang="es-ES" dirty="0"/>
            </a:br>
            <a:r>
              <a:rPr lang="en-US" dirty="0"/>
              <a:t>Rivest, Shamir y Adleman, </a:t>
            </a:r>
            <a:r>
              <a:rPr lang="es-ES" dirty="0"/>
              <a:t>Memorando técnico del MIT, 1977</a:t>
            </a:r>
          </a:p>
          <a:p>
            <a:pPr lvl="1">
              <a:spcBef>
                <a:spcPts val="1200"/>
              </a:spcBef>
            </a:pPr>
            <a:r>
              <a:rPr lang="es-ES" dirty="0">
                <a:solidFill>
                  <a:srgbClr val="0000FF"/>
                </a:solidFill>
              </a:rPr>
              <a:t>Ethernet</a:t>
            </a:r>
            <a:r>
              <a:rPr lang="es-ES" dirty="0"/>
              <a:t>. Metcalfe y Boggs, </a:t>
            </a:r>
            <a:r>
              <a:rPr lang="es-ES" dirty="0" err="1">
                <a:solidFill>
                  <a:srgbClr val="0000FF"/>
                </a:solidFill>
              </a:rPr>
              <a:t>Comm</a:t>
            </a:r>
            <a:r>
              <a:rPr lang="es-ES" dirty="0">
                <a:solidFill>
                  <a:srgbClr val="0000FF"/>
                </a:solidFill>
              </a:rPr>
              <a:t>. </a:t>
            </a:r>
            <a:r>
              <a:rPr lang="es-ES" dirty="0" err="1">
                <a:solidFill>
                  <a:srgbClr val="0000FF"/>
                </a:solidFill>
              </a:rPr>
              <a:t>of</a:t>
            </a:r>
            <a:r>
              <a:rPr lang="es-ES" dirty="0">
                <a:solidFill>
                  <a:srgbClr val="0000FF"/>
                </a:solidFill>
              </a:rPr>
              <a:t> </a:t>
            </a:r>
            <a:r>
              <a:rPr lang="es-ES" dirty="0" err="1">
                <a:solidFill>
                  <a:srgbClr val="0000FF"/>
                </a:solidFill>
              </a:rPr>
              <a:t>the</a:t>
            </a:r>
            <a:r>
              <a:rPr lang="es-ES" dirty="0">
                <a:solidFill>
                  <a:srgbClr val="0000FF"/>
                </a:solidFill>
              </a:rPr>
              <a:t> ACM</a:t>
            </a:r>
            <a:r>
              <a:rPr lang="es-ES" dirty="0"/>
              <a:t>, 1976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3C6D9EC-9169-4AC3-8A4A-5BDCA08D4293}"/>
              </a:ext>
            </a:extLst>
          </p:cNvPr>
          <p:cNvGrpSpPr>
            <a:grpSpLocks noChangeAspect="1"/>
          </p:cNvGrpSpPr>
          <p:nvPr/>
        </p:nvGrpSpPr>
        <p:grpSpPr>
          <a:xfrm>
            <a:off x="9528335" y="405000"/>
            <a:ext cx="2471665" cy="2448000"/>
            <a:chOff x="8616000" y="1197000"/>
            <a:chExt cx="3456000" cy="342291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A6CA563-1648-4C62-BC9E-3A436F15B437}"/>
                </a:ext>
              </a:extLst>
            </p:cNvPr>
            <p:cNvGrpSpPr/>
            <p:nvPr/>
          </p:nvGrpSpPr>
          <p:grpSpPr>
            <a:xfrm>
              <a:off x="8616000" y="1197000"/>
              <a:ext cx="3456000" cy="3422911"/>
              <a:chOff x="7968000" y="2238089"/>
              <a:chExt cx="3456000" cy="3422911"/>
            </a:xfrm>
          </p:grpSpPr>
          <p:pic>
            <p:nvPicPr>
              <p:cNvPr id="7" name="Picture 6" descr="12 ideas de Frisos romanos | columnas griegas, arquitectura clasica, lapida">
                <a:extLst>
                  <a:ext uri="{FF2B5EF4-FFF2-40B4-BE49-F238E27FC236}">
                    <a16:creationId xmlns:a16="http://schemas.microsoft.com/office/drawing/2014/main" id="{1A07BA88-B81A-4926-9CCE-3C2253C0621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28000" y="2238089"/>
                <a:ext cx="2736000" cy="34229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F55A90-0E67-438E-AB5C-57C8AF71F26E}"/>
                  </a:ext>
                </a:extLst>
              </p:cNvPr>
              <p:cNvSpPr txBox="1"/>
              <p:nvPr/>
            </p:nvSpPr>
            <p:spPr>
              <a:xfrm>
                <a:off x="10920000" y="3861000"/>
                <a:ext cx="504000" cy="40011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l"/>
                <a:r>
                  <a:rPr lang="es-ES" sz="2000" b="1" dirty="0">
                    <a:solidFill>
                      <a:srgbClr val="0000FF"/>
                    </a:solidFill>
                  </a:rPr>
                  <a:t>C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652EF44-94E0-4169-A417-A897AAE289EF}"/>
                  </a:ext>
                </a:extLst>
              </p:cNvPr>
              <p:cNvSpPr txBox="1"/>
              <p:nvPr/>
            </p:nvSpPr>
            <p:spPr>
              <a:xfrm>
                <a:off x="7968000" y="3861000"/>
                <a:ext cx="504000" cy="40011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l"/>
                <a:r>
                  <a:rPr lang="es-ES" sz="2000" b="1" dirty="0">
                    <a:solidFill>
                      <a:srgbClr val="0000FF"/>
                    </a:solidFill>
                  </a:rPr>
                  <a:t>R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8281D1-300F-4D56-8227-B0ED50E70767}"/>
                  </a:ext>
                </a:extLst>
              </p:cNvPr>
              <p:cNvSpPr txBox="1"/>
              <p:nvPr/>
            </p:nvSpPr>
            <p:spPr>
              <a:xfrm>
                <a:off x="9480000" y="2380890"/>
                <a:ext cx="504000" cy="40011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l"/>
                <a:r>
                  <a:rPr lang="es-ES" sz="2000" b="1" dirty="0">
                    <a:solidFill>
                      <a:srgbClr val="0000FF"/>
                    </a:solidFill>
                  </a:rPr>
                  <a:t>P</a:t>
                </a:r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43037A7-D1AE-42B9-9FD6-5A39BBD17F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0056" y="1581658"/>
              <a:ext cx="1154254" cy="1265241"/>
            </a:xfrm>
            <a:prstGeom prst="straightConnector1">
              <a:avLst/>
            </a:prstGeom>
            <a:ln w="38100">
              <a:solidFill>
                <a:srgbClr val="0000FF"/>
              </a:solidFill>
              <a:prstDash val="sysDot"/>
              <a:headEnd type="none" w="med" len="med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63053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81609-451B-4A06-8294-631B4EDD8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s-ES" dirty="0"/>
              <a:t>Impacto industrial en informática </a:t>
            </a:r>
            <a:r>
              <a:rPr lang="es-ES" sz="2700" dirty="0"/>
              <a:t>(2 de 3)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786A1-17E9-43C1-8001-8BC5B3AE4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18</a:t>
            </a:fld>
            <a:endParaRPr lang="es-E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3B6B92-9B1B-40D8-B0A0-E137BFA78DB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980646"/>
            <a:ext cx="11246400" cy="576354"/>
          </a:xfrm>
        </p:spPr>
        <p:txBody>
          <a:bodyPr>
            <a:normAutofit fontScale="92500"/>
          </a:bodyPr>
          <a:lstStyle/>
          <a:p>
            <a:r>
              <a:rPr lang="es-ES" dirty="0"/>
              <a:t>… pero la lista de hitos históricos presentados por 1ª vez en congresos no es corta !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3C6D9EC-9169-4AC3-8A4A-5BDCA08D4293}"/>
              </a:ext>
            </a:extLst>
          </p:cNvPr>
          <p:cNvGrpSpPr>
            <a:grpSpLocks noChangeAspect="1"/>
          </p:cNvGrpSpPr>
          <p:nvPr/>
        </p:nvGrpSpPr>
        <p:grpSpPr>
          <a:xfrm>
            <a:off x="9882221" y="1845000"/>
            <a:ext cx="2253577" cy="2232000"/>
            <a:chOff x="8616000" y="1197000"/>
            <a:chExt cx="3456000" cy="342291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A6CA563-1648-4C62-BC9E-3A436F15B437}"/>
                </a:ext>
              </a:extLst>
            </p:cNvPr>
            <p:cNvGrpSpPr/>
            <p:nvPr/>
          </p:nvGrpSpPr>
          <p:grpSpPr>
            <a:xfrm>
              <a:off x="8616000" y="1197000"/>
              <a:ext cx="3456000" cy="3422911"/>
              <a:chOff x="7968000" y="2238089"/>
              <a:chExt cx="3456000" cy="3422911"/>
            </a:xfrm>
          </p:grpSpPr>
          <p:pic>
            <p:nvPicPr>
              <p:cNvPr id="7" name="Picture 6" descr="12 ideas de Frisos romanos | columnas griegas, arquitectura clasica, lapida">
                <a:extLst>
                  <a:ext uri="{FF2B5EF4-FFF2-40B4-BE49-F238E27FC236}">
                    <a16:creationId xmlns:a16="http://schemas.microsoft.com/office/drawing/2014/main" id="{1A07BA88-B81A-4926-9CCE-3C2253C0621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28000" y="2238089"/>
                <a:ext cx="2736000" cy="34229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F55A90-0E67-438E-AB5C-57C8AF71F26E}"/>
                  </a:ext>
                </a:extLst>
              </p:cNvPr>
              <p:cNvSpPr txBox="1"/>
              <p:nvPr/>
            </p:nvSpPr>
            <p:spPr>
              <a:xfrm>
                <a:off x="10920000" y="3861000"/>
                <a:ext cx="504000" cy="40011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l"/>
                <a:r>
                  <a:rPr lang="es-ES" sz="2000" b="1" dirty="0">
                    <a:solidFill>
                      <a:srgbClr val="0000FF"/>
                    </a:solidFill>
                  </a:rPr>
                  <a:t>C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652EF44-94E0-4169-A417-A897AAE289EF}"/>
                  </a:ext>
                </a:extLst>
              </p:cNvPr>
              <p:cNvSpPr txBox="1"/>
              <p:nvPr/>
            </p:nvSpPr>
            <p:spPr>
              <a:xfrm>
                <a:off x="7968000" y="3861000"/>
                <a:ext cx="504000" cy="40011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l"/>
                <a:r>
                  <a:rPr lang="es-ES" sz="2000" b="1" dirty="0">
                    <a:solidFill>
                      <a:srgbClr val="0000FF"/>
                    </a:solidFill>
                  </a:rPr>
                  <a:t>R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8281D1-300F-4D56-8227-B0ED50E70767}"/>
                  </a:ext>
                </a:extLst>
              </p:cNvPr>
              <p:cNvSpPr txBox="1"/>
              <p:nvPr/>
            </p:nvSpPr>
            <p:spPr>
              <a:xfrm>
                <a:off x="9480000" y="2380890"/>
                <a:ext cx="504000" cy="40011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l"/>
                <a:r>
                  <a:rPr lang="es-ES" sz="2000" b="1" dirty="0">
                    <a:solidFill>
                      <a:srgbClr val="0000FF"/>
                    </a:solidFill>
                  </a:rPr>
                  <a:t>P</a:t>
                </a:r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43037A7-D1AE-42B9-9FD6-5A39BBD17F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10610" y="1581658"/>
              <a:ext cx="1196426" cy="1282997"/>
            </a:xfrm>
            <a:prstGeom prst="straightConnector1">
              <a:avLst/>
            </a:prstGeom>
            <a:ln w="38100">
              <a:solidFill>
                <a:srgbClr val="0000FF"/>
              </a:solidFill>
              <a:prstDash val="sysDot"/>
              <a:headEnd type="none" w="med" len="med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D04633A-6424-4196-9957-FC54030330E6}"/>
              </a:ext>
            </a:extLst>
          </p:cNvPr>
          <p:cNvSpPr txBox="1"/>
          <p:nvPr/>
        </p:nvSpPr>
        <p:spPr>
          <a:xfrm>
            <a:off x="1272000" y="6208639"/>
            <a:ext cx="4968000" cy="67197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spcAft>
                <a:spcPts val="200"/>
              </a:spcAft>
            </a:pPr>
            <a:r>
              <a:rPr lang="es-ES" sz="1200" b="1" dirty="0">
                <a:solidFill>
                  <a:srgbClr val="1F4E79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Las publicaciones en congresos de informática: hacia una evaluación científica adecuada a la disciplina</a:t>
            </a:r>
            <a:endParaRPr lang="es-ES" sz="1200" dirty="0">
              <a:solidFill>
                <a:srgbClr val="444444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s-ES" sz="1200" dirty="0">
                <a:solidFill>
                  <a:srgbClr val="44444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Antonio Vallecillo y Víctor Viñals, SCIE, </a:t>
            </a:r>
            <a:r>
              <a:rPr lang="es-ES" sz="12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septiembre</a:t>
            </a:r>
            <a:r>
              <a:rPr lang="es-ES" sz="1200" dirty="0">
                <a:solidFill>
                  <a:srgbClr val="44444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2026</a:t>
            </a:r>
            <a:endParaRPr lang="es-ES" sz="1200" dirty="0"/>
          </a:p>
        </p:txBody>
      </p:sp>
      <p:graphicFrame>
        <p:nvGraphicFramePr>
          <p:cNvPr id="18" name="Table 18">
            <a:extLst>
              <a:ext uri="{FF2B5EF4-FFF2-40B4-BE49-F238E27FC236}">
                <a16:creationId xmlns:a16="http://schemas.microsoft.com/office/drawing/2014/main" id="{B61E18A9-21BE-45E2-AB82-41684C7DC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050680"/>
              </p:ext>
            </p:extLst>
          </p:nvPr>
        </p:nvGraphicFramePr>
        <p:xfrm>
          <a:off x="100790" y="1491870"/>
          <a:ext cx="9739210" cy="4720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558">
                  <a:extLst>
                    <a:ext uri="{9D8B030D-6E8A-4147-A177-3AD203B41FA5}">
                      <a16:colId xmlns:a16="http://schemas.microsoft.com/office/drawing/2014/main" val="4259001925"/>
                    </a:ext>
                  </a:extLst>
                </a:gridCol>
                <a:gridCol w="1787426">
                  <a:extLst>
                    <a:ext uri="{9D8B030D-6E8A-4147-A177-3AD203B41FA5}">
                      <a16:colId xmlns:a16="http://schemas.microsoft.com/office/drawing/2014/main" val="215075483"/>
                    </a:ext>
                  </a:extLst>
                </a:gridCol>
                <a:gridCol w="4284000">
                  <a:extLst>
                    <a:ext uri="{9D8B030D-6E8A-4147-A177-3AD203B41FA5}">
                      <a16:colId xmlns:a16="http://schemas.microsoft.com/office/drawing/2014/main" val="643206208"/>
                    </a:ext>
                  </a:extLst>
                </a:gridCol>
                <a:gridCol w="2922226">
                  <a:extLst>
                    <a:ext uri="{9D8B030D-6E8A-4147-A177-3AD203B41FA5}">
                      <a16:colId xmlns:a16="http://schemas.microsoft.com/office/drawing/2014/main" val="1758309814"/>
                    </a:ext>
                  </a:extLst>
                </a:gridCol>
              </a:tblGrid>
              <a:tr h="371526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Década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41585" marB="415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Hito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41585" marB="415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Referencia (congreso)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41585" marB="415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Impacto industrial</a:t>
                      </a:r>
                    </a:p>
                  </a:txBody>
                  <a:tcPr marL="57179" marR="57179" marT="41585" marB="41585" anchor="ctr"/>
                </a:tc>
                <a:extLst>
                  <a:ext uri="{0D108BD9-81ED-4DB2-BD59-A6C34878D82A}">
                    <a16:rowId xmlns:a16="http://schemas.microsoft.com/office/drawing/2014/main" val="1566312235"/>
                  </a:ext>
                </a:extLst>
              </a:tr>
              <a:tr h="502349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1950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FORTRAN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Backus et al., “</a:t>
                      </a:r>
                      <a:r>
                        <a:rPr lang="es-ES" sz="1400" dirty="0" err="1">
                          <a:effectLst/>
                        </a:rPr>
                        <a:t>The</a:t>
                      </a:r>
                      <a:r>
                        <a:rPr lang="es-ES" sz="1400" dirty="0">
                          <a:effectLst/>
                        </a:rPr>
                        <a:t> FORTRAN </a:t>
                      </a:r>
                      <a:r>
                        <a:rPr lang="es-ES" sz="1400" dirty="0" err="1">
                          <a:effectLst/>
                        </a:rPr>
                        <a:t>Automatic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Coding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System</a:t>
                      </a:r>
                      <a:r>
                        <a:rPr lang="es-ES" sz="1400" dirty="0">
                          <a:effectLst/>
                        </a:rPr>
                        <a:t>”, 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Western </a:t>
                      </a:r>
                      <a:r>
                        <a:rPr lang="es-ES" sz="1400" dirty="0" err="1">
                          <a:solidFill>
                            <a:srgbClr val="0000FF"/>
                          </a:solidFill>
                          <a:effectLst/>
                        </a:rPr>
                        <a:t>Joint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 </a:t>
                      </a:r>
                      <a:r>
                        <a:rPr lang="es-ES" sz="1400" dirty="0" err="1">
                          <a:solidFill>
                            <a:srgbClr val="0000FF"/>
                          </a:solidFill>
                          <a:effectLst/>
                        </a:rPr>
                        <a:t>Computer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 Conf</a:t>
                      </a:r>
                      <a:r>
                        <a:rPr lang="es-ES" sz="1400" dirty="0">
                          <a:effectLst/>
                        </a:rPr>
                        <a:t>., 1957.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Producto directo, el software no se patentaba entonces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extLst>
                  <a:ext uri="{0D108BD9-81ED-4DB2-BD59-A6C34878D82A}">
                    <a16:rowId xmlns:a16="http://schemas.microsoft.com/office/drawing/2014/main" val="681590598"/>
                  </a:ext>
                </a:extLst>
              </a:tr>
              <a:tr h="502349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1960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CTSS, primer sistema de tiempo compartido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 err="1">
                          <a:effectLst/>
                        </a:rPr>
                        <a:t>Corbató</a:t>
                      </a:r>
                      <a:r>
                        <a:rPr lang="es-ES" sz="1400" dirty="0">
                          <a:effectLst/>
                        </a:rPr>
                        <a:t> et al., “</a:t>
                      </a:r>
                      <a:r>
                        <a:rPr lang="es-ES" sz="1400" dirty="0" err="1">
                          <a:effectLst/>
                        </a:rPr>
                        <a:t>An</a:t>
                      </a:r>
                      <a:r>
                        <a:rPr lang="es-ES" sz="1400" dirty="0">
                          <a:effectLst/>
                        </a:rPr>
                        <a:t> Experimental Time-</a:t>
                      </a:r>
                      <a:r>
                        <a:rPr lang="es-ES" sz="1400" dirty="0" err="1">
                          <a:effectLst/>
                        </a:rPr>
                        <a:t>Sharing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System</a:t>
                      </a:r>
                      <a:r>
                        <a:rPr lang="es-ES" sz="1400" dirty="0">
                          <a:effectLst/>
                        </a:rPr>
                        <a:t>”, 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AFIPS Spring </a:t>
                      </a:r>
                      <a:r>
                        <a:rPr lang="es-ES" sz="1400" dirty="0" err="1">
                          <a:solidFill>
                            <a:srgbClr val="0000FF"/>
                          </a:solidFill>
                          <a:effectLst/>
                        </a:rPr>
                        <a:t>Joint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 </a:t>
                      </a:r>
                      <a:r>
                        <a:rPr lang="es-ES" sz="1400" dirty="0" err="1">
                          <a:solidFill>
                            <a:srgbClr val="0000FF"/>
                          </a:solidFill>
                          <a:effectLst/>
                        </a:rPr>
                        <a:t>Computer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 Conf</a:t>
                      </a:r>
                      <a:r>
                        <a:rPr lang="es-ES" sz="1400" dirty="0">
                          <a:effectLst/>
                        </a:rPr>
                        <a:t>., 1962.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Antecesor directo del acceso multiusuario y, más tarde, de la nube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extLst>
                  <a:ext uri="{0D108BD9-81ED-4DB2-BD59-A6C34878D82A}">
                    <a16:rowId xmlns:a16="http://schemas.microsoft.com/office/drawing/2014/main" val="4115854333"/>
                  </a:ext>
                </a:extLst>
              </a:tr>
              <a:tr h="502349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1960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Ratón y la interfaz gráfica interactiva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Engelbart y English, “A </a:t>
                      </a:r>
                      <a:r>
                        <a:rPr lang="es-ES" sz="1400" dirty="0" err="1">
                          <a:effectLst/>
                        </a:rPr>
                        <a:t>Research</a:t>
                      </a:r>
                      <a:r>
                        <a:rPr lang="es-ES" sz="1400" dirty="0">
                          <a:effectLst/>
                        </a:rPr>
                        <a:t> Center </a:t>
                      </a:r>
                      <a:r>
                        <a:rPr lang="es-ES" sz="1400" dirty="0" err="1">
                          <a:effectLst/>
                        </a:rPr>
                        <a:t>for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Augmenting</a:t>
                      </a:r>
                      <a:r>
                        <a:rPr lang="es-ES" sz="1400" dirty="0">
                          <a:effectLst/>
                        </a:rPr>
                        <a:t> Human </a:t>
                      </a:r>
                      <a:r>
                        <a:rPr lang="es-ES" sz="1400" dirty="0" err="1">
                          <a:effectLst/>
                        </a:rPr>
                        <a:t>Intellect</a:t>
                      </a:r>
                      <a:r>
                        <a:rPr lang="es-ES" sz="1400" dirty="0">
                          <a:effectLst/>
                        </a:rPr>
                        <a:t>”, 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AFIPS </a:t>
                      </a:r>
                      <a:r>
                        <a:rPr lang="es-ES" sz="1400" dirty="0" err="1">
                          <a:solidFill>
                            <a:srgbClr val="0000FF"/>
                          </a:solidFill>
                          <a:effectLst/>
                        </a:rPr>
                        <a:t>Fall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 </a:t>
                      </a:r>
                      <a:r>
                        <a:rPr lang="es-ES" sz="1400" dirty="0" err="1">
                          <a:solidFill>
                            <a:srgbClr val="0000FF"/>
                          </a:solidFill>
                          <a:effectLst/>
                        </a:rPr>
                        <a:t>Joint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 </a:t>
                      </a:r>
                      <a:r>
                        <a:rPr lang="es-ES" sz="1400" dirty="0" err="1">
                          <a:solidFill>
                            <a:srgbClr val="0000FF"/>
                          </a:solidFill>
                          <a:effectLst/>
                        </a:rPr>
                        <a:t>Computer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 Conf.</a:t>
                      </a:r>
                      <a:r>
                        <a:rPr lang="es-ES" sz="1400" dirty="0">
                          <a:effectLst/>
                        </a:rPr>
                        <a:t>, 1968.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US 3.541.541, “X-Y position </a:t>
                      </a:r>
                      <a:r>
                        <a:rPr lang="es-ES" sz="1400" dirty="0" err="1">
                          <a:effectLst/>
                        </a:rPr>
                        <a:t>indicator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for</a:t>
                      </a:r>
                      <a:r>
                        <a:rPr lang="es-ES" sz="1400" dirty="0">
                          <a:effectLst/>
                        </a:rPr>
                        <a:t> a </a:t>
                      </a:r>
                      <a:r>
                        <a:rPr lang="es-ES" sz="1400" dirty="0" err="1">
                          <a:effectLst/>
                        </a:rPr>
                        <a:t>display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system</a:t>
                      </a:r>
                      <a:r>
                        <a:rPr lang="es-ES" sz="1400" dirty="0">
                          <a:effectLst/>
                        </a:rPr>
                        <a:t>” (1970)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extLst>
                  <a:ext uri="{0D108BD9-81ED-4DB2-BD59-A6C34878D82A}">
                    <a16:rowId xmlns:a16="http://schemas.microsoft.com/office/drawing/2014/main" val="680653458"/>
                  </a:ext>
                </a:extLst>
              </a:tr>
              <a:tr h="502349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1970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SO UNIX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Ritchie y Thompson, </a:t>
                      </a:r>
                      <a:br>
                        <a:rPr lang="es-ES" sz="1400" dirty="0">
                          <a:effectLst/>
                        </a:rPr>
                      </a:br>
                      <a:r>
                        <a:rPr lang="es-ES" sz="1400" dirty="0">
                          <a:effectLst/>
                        </a:rPr>
                        <a:t>“</a:t>
                      </a:r>
                      <a:r>
                        <a:rPr lang="es-ES" sz="1400" dirty="0" err="1">
                          <a:effectLst/>
                        </a:rPr>
                        <a:t>The</a:t>
                      </a:r>
                      <a:r>
                        <a:rPr lang="es-ES" sz="1400" dirty="0">
                          <a:effectLst/>
                        </a:rPr>
                        <a:t> UNIX Time-</a:t>
                      </a:r>
                      <a:r>
                        <a:rPr lang="es-ES" sz="1400" dirty="0" err="1">
                          <a:effectLst/>
                        </a:rPr>
                        <a:t>Sharing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System</a:t>
                      </a:r>
                      <a:r>
                        <a:rPr lang="es-ES" sz="1400" dirty="0">
                          <a:effectLst/>
                        </a:rPr>
                        <a:t>”, 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ACM SOSP</a:t>
                      </a:r>
                      <a:r>
                        <a:rPr lang="es-ES" sz="1400" dirty="0">
                          <a:effectLst/>
                        </a:rPr>
                        <a:t>, 1973.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 err="1">
                          <a:effectLst/>
                        </a:rPr>
                        <a:t>Llicencia</a:t>
                      </a:r>
                      <a:r>
                        <a:rPr lang="es-ES" sz="1400" dirty="0">
                          <a:effectLst/>
                        </a:rPr>
                        <a:t> y secreto industrial. </a:t>
                      </a:r>
                      <a:r>
                        <a:rPr lang="es-ES" sz="1400" b="1" dirty="0">
                          <a:effectLst/>
                        </a:rPr>
                        <a:t>Linux</a:t>
                      </a:r>
                      <a:r>
                        <a:rPr lang="es-ES" sz="1400" dirty="0">
                          <a:effectLst/>
                        </a:rPr>
                        <a:t> Torvalds lo reescribe de cero en 1991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extLst>
                  <a:ext uri="{0D108BD9-81ED-4DB2-BD59-A6C34878D82A}">
                    <a16:rowId xmlns:a16="http://schemas.microsoft.com/office/drawing/2014/main" val="1767709942"/>
                  </a:ext>
                </a:extLst>
              </a:tr>
              <a:tr h="502349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1980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Procesador RISC I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Patterson y </a:t>
                      </a:r>
                      <a:r>
                        <a:rPr lang="es-ES" sz="1400" dirty="0" err="1">
                          <a:effectLst/>
                        </a:rPr>
                        <a:t>Séquin</a:t>
                      </a:r>
                      <a:r>
                        <a:rPr lang="es-ES" sz="1400" dirty="0">
                          <a:effectLst/>
                        </a:rPr>
                        <a:t>, “RISC I”, 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ACM/IEEE ISCA,</a:t>
                      </a:r>
                      <a:r>
                        <a:rPr lang="es-ES" sz="1400" dirty="0">
                          <a:effectLst/>
                        </a:rPr>
                        <a:t> 1981.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Se adopta en la industria:  ARM, SPARC, MIPS, IBM, RISC-V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extLst>
                  <a:ext uri="{0D108BD9-81ED-4DB2-BD59-A6C34878D82A}">
                    <a16:rowId xmlns:a16="http://schemas.microsoft.com/office/drawing/2014/main" val="726200537"/>
                  </a:ext>
                </a:extLst>
              </a:tr>
              <a:tr h="502349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1990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PageRank/Google</a:t>
                      </a: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Brin y Page, “</a:t>
                      </a:r>
                      <a:r>
                        <a:rPr lang="es-ES" sz="1400" dirty="0" err="1">
                          <a:effectLst/>
                        </a:rPr>
                        <a:t>The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Anatomy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of</a:t>
                      </a:r>
                      <a:r>
                        <a:rPr lang="es-ES" sz="1400" dirty="0">
                          <a:effectLst/>
                        </a:rPr>
                        <a:t> a </a:t>
                      </a:r>
                      <a:r>
                        <a:rPr lang="es-ES" sz="1400" dirty="0" err="1">
                          <a:effectLst/>
                        </a:rPr>
                        <a:t>Large-Scale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Hypertextual</a:t>
                      </a:r>
                      <a:r>
                        <a:rPr lang="es-ES" sz="1400" dirty="0">
                          <a:effectLst/>
                        </a:rPr>
                        <a:t> Web </a:t>
                      </a:r>
                      <a:r>
                        <a:rPr lang="es-ES" sz="1400" dirty="0" err="1">
                          <a:effectLst/>
                        </a:rPr>
                        <a:t>Search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Engine</a:t>
                      </a:r>
                      <a:r>
                        <a:rPr lang="es-ES" sz="1400" dirty="0">
                          <a:effectLst/>
                        </a:rPr>
                        <a:t>”, 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IW3C2 WWW7,</a:t>
                      </a:r>
                      <a:r>
                        <a:rPr lang="es-ES" sz="1400" dirty="0">
                          <a:effectLst/>
                        </a:rPr>
                        <a:t> 1998</a:t>
                      </a: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US 6.285.999, “</a:t>
                      </a:r>
                      <a:r>
                        <a:rPr lang="es-ES" sz="1400" dirty="0" err="1">
                          <a:effectLst/>
                        </a:rPr>
                        <a:t>Method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for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node</a:t>
                      </a:r>
                      <a:r>
                        <a:rPr lang="es-ES" sz="1400" dirty="0">
                          <a:effectLst/>
                        </a:rPr>
                        <a:t> ranking”, Stanford, 2001</a:t>
                      </a:r>
                    </a:p>
                  </a:txBody>
                  <a:tcPr marL="57179" marR="57179" marT="36387" marB="36387" anchor="ctr"/>
                </a:tc>
                <a:extLst>
                  <a:ext uri="{0D108BD9-81ED-4DB2-BD59-A6C34878D82A}">
                    <a16:rowId xmlns:a16="http://schemas.microsoft.com/office/drawing/2014/main" val="3713420498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2000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Google File </a:t>
                      </a:r>
                      <a:r>
                        <a:rPr lang="es-ES" sz="1400" dirty="0" err="1">
                          <a:effectLst/>
                        </a:rPr>
                        <a:t>System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Ghemawat et al., </a:t>
                      </a:r>
                      <a:br>
                        <a:rPr lang="es-ES" sz="1400" dirty="0">
                          <a:effectLst/>
                        </a:rPr>
                      </a:br>
                      <a:r>
                        <a:rPr lang="es-ES" sz="1400" dirty="0">
                          <a:effectLst/>
                        </a:rPr>
                        <a:t>“</a:t>
                      </a:r>
                      <a:r>
                        <a:rPr lang="es-ES" sz="1400" dirty="0" err="1">
                          <a:effectLst/>
                        </a:rPr>
                        <a:t>The</a:t>
                      </a:r>
                      <a:r>
                        <a:rPr lang="es-ES" sz="1400" dirty="0">
                          <a:effectLst/>
                        </a:rPr>
                        <a:t> Google File </a:t>
                      </a:r>
                      <a:r>
                        <a:rPr lang="es-ES" sz="1400" dirty="0" err="1">
                          <a:effectLst/>
                        </a:rPr>
                        <a:t>System</a:t>
                      </a:r>
                      <a:r>
                        <a:rPr lang="es-ES" sz="1400" dirty="0">
                          <a:effectLst/>
                        </a:rPr>
                        <a:t>”, 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ACM SOSP,</a:t>
                      </a:r>
                      <a:r>
                        <a:rPr lang="es-ES" sz="1400" dirty="0">
                          <a:effectLst/>
                        </a:rPr>
                        <a:t> 2003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US 7.222.119, “</a:t>
                      </a:r>
                      <a:r>
                        <a:rPr lang="es-ES" sz="1400" dirty="0" err="1">
                          <a:effectLst/>
                        </a:rPr>
                        <a:t>Namespace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locking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scheme</a:t>
                      </a:r>
                      <a:r>
                        <a:rPr lang="es-ES" sz="1400" dirty="0">
                          <a:effectLst/>
                        </a:rPr>
                        <a:t>”, solicitada 2003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extLst>
                  <a:ext uri="{0D108BD9-81ED-4DB2-BD59-A6C34878D82A}">
                    <a16:rowId xmlns:a16="http://schemas.microsoft.com/office/drawing/2014/main" val="428607395"/>
                  </a:ext>
                </a:extLst>
              </a:tr>
              <a:tr h="502349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2010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Google </a:t>
                      </a:r>
                      <a:r>
                        <a:rPr lang="es-ES" sz="1400" dirty="0" err="1">
                          <a:effectLst/>
                        </a:rPr>
                        <a:t>FaceNet</a:t>
                      </a:r>
                      <a:endParaRPr lang="es-ES" sz="1400" dirty="0">
                        <a:effectLst/>
                      </a:endParaRPr>
                    </a:p>
                    <a:p>
                      <a:pPr algn="ctr"/>
                      <a:r>
                        <a:rPr lang="es-ES" sz="1400" dirty="0">
                          <a:effectLst/>
                        </a:rPr>
                        <a:t>reconocimiento facial</a:t>
                      </a: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 err="1">
                          <a:effectLst/>
                        </a:rPr>
                        <a:t>Schroff</a:t>
                      </a:r>
                      <a:r>
                        <a:rPr lang="es-ES" sz="1400" dirty="0">
                          <a:effectLst/>
                        </a:rPr>
                        <a:t>, et al., “</a:t>
                      </a:r>
                      <a:r>
                        <a:rPr lang="es-ES" sz="1400" dirty="0" err="1">
                          <a:effectLst/>
                        </a:rPr>
                        <a:t>FaceNet</a:t>
                      </a:r>
                      <a:r>
                        <a:rPr lang="es-ES" sz="1400" dirty="0">
                          <a:effectLst/>
                        </a:rPr>
                        <a:t>: A </a:t>
                      </a:r>
                      <a:r>
                        <a:rPr lang="es-ES" sz="1400" dirty="0" err="1">
                          <a:effectLst/>
                        </a:rPr>
                        <a:t>Unified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Embedding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for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Face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Recognition</a:t>
                      </a:r>
                      <a:r>
                        <a:rPr lang="es-ES" sz="1400" dirty="0">
                          <a:effectLst/>
                        </a:rPr>
                        <a:t> and </a:t>
                      </a:r>
                      <a:r>
                        <a:rPr lang="es-ES" sz="1400" dirty="0" err="1">
                          <a:effectLst/>
                        </a:rPr>
                        <a:t>Clustering</a:t>
                      </a:r>
                      <a:r>
                        <a:rPr lang="es-ES" sz="1400" dirty="0">
                          <a:effectLst/>
                        </a:rPr>
                        <a:t>”, 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CVPR,</a:t>
                      </a:r>
                      <a:r>
                        <a:rPr lang="es-ES" sz="1400" dirty="0">
                          <a:effectLst/>
                        </a:rPr>
                        <a:t> junio 2015</a:t>
                      </a: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 9.811.732 (</a:t>
                      </a:r>
                      <a:r>
                        <a:rPr kumimoji="0" lang="es-E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prio</a:t>
                      </a:r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dic.2014, sol. dic. 2015, </a:t>
                      </a:r>
                      <a:r>
                        <a:rPr kumimoji="0" lang="es-E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</a:t>
                      </a:r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2020). </a:t>
                      </a:r>
                      <a:r>
                        <a:rPr kumimoji="0" lang="es-ES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CMU “reprograma” </a:t>
                      </a:r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 el proyecto </a:t>
                      </a:r>
                      <a:r>
                        <a:rPr kumimoji="0" lang="es-E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OpenFace</a:t>
                      </a:r>
                      <a:endParaRPr lang="es-ES" sz="1100" dirty="0">
                        <a:effectLst/>
                      </a:endParaRPr>
                    </a:p>
                  </a:txBody>
                  <a:tcPr marL="57179" marR="57179" marT="36387" marB="36387" anchor="ctr"/>
                </a:tc>
                <a:extLst>
                  <a:ext uri="{0D108BD9-81ED-4DB2-BD59-A6C34878D82A}">
                    <a16:rowId xmlns:a16="http://schemas.microsoft.com/office/drawing/2014/main" val="2092516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4806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81609-451B-4A06-8294-631B4EDD8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s-ES" dirty="0"/>
              <a:t>Transferencia: ¿congreso </a:t>
            </a:r>
            <a:r>
              <a:rPr lang="es-ES" dirty="0">
                <a:sym typeface="Symbol" panose="05050102010706020507" pitchFamily="18" charset="2"/>
              </a:rPr>
              <a:t> </a:t>
            </a:r>
            <a:r>
              <a:rPr lang="es-ES" dirty="0"/>
              <a:t>patente? </a:t>
            </a:r>
            <a:r>
              <a:rPr lang="es-ES" sz="2700" dirty="0"/>
              <a:t>(3 de 3)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786A1-17E9-43C1-8001-8BC5B3AE4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19</a:t>
            </a:fld>
            <a:endParaRPr lang="es-E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3B6B92-9B1B-40D8-B0A0-E137BFA78DB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980646"/>
            <a:ext cx="9230400" cy="2088354"/>
          </a:xfrm>
        </p:spPr>
        <p:txBody>
          <a:bodyPr/>
          <a:lstStyle/>
          <a:p>
            <a:r>
              <a:rPr lang="es-ES" dirty="0"/>
              <a:t>Estudio propio para cuantificar: </a:t>
            </a:r>
            <a:r>
              <a:rPr lang="es-ES" dirty="0">
                <a:solidFill>
                  <a:srgbClr val="0000FF"/>
                </a:solidFill>
              </a:rPr>
              <a:t>revista</a:t>
            </a:r>
            <a:r>
              <a:rPr lang="es-ES" dirty="0">
                <a:solidFill>
                  <a:srgbClr val="0000FF"/>
                </a:solidFill>
                <a:sym typeface="Symbol" panose="05050102010706020507" pitchFamily="18" charset="2"/>
              </a:rPr>
              <a:t> </a:t>
            </a:r>
            <a:r>
              <a:rPr lang="es-ES" dirty="0">
                <a:solidFill>
                  <a:srgbClr val="0000FF"/>
                </a:solidFill>
              </a:rPr>
              <a:t>patente </a:t>
            </a:r>
            <a:r>
              <a:rPr lang="es-ES" dirty="0">
                <a:solidFill>
                  <a:srgbClr val="0000FF"/>
                </a:solidFill>
                <a:sym typeface="Symbol" panose="05050102010706020507" pitchFamily="18" charset="2"/>
              </a:rPr>
              <a:t></a:t>
            </a:r>
            <a:r>
              <a:rPr lang="es-ES" dirty="0">
                <a:solidFill>
                  <a:srgbClr val="0000FF"/>
                </a:solidFill>
              </a:rPr>
              <a:t>congreso</a:t>
            </a:r>
          </a:p>
          <a:p>
            <a:pPr lvl="1"/>
            <a:r>
              <a:rPr lang="es-ES" dirty="0"/>
              <a:t>20 patentes en informática mas citadas en 2020 x 10 áreas =</a:t>
            </a:r>
            <a:br>
              <a:rPr lang="es-ES" dirty="0"/>
            </a:br>
            <a:r>
              <a:rPr lang="es-ES" dirty="0"/>
              <a:t>200 patentes USPTO, 7635 citas NPL (</a:t>
            </a:r>
            <a:r>
              <a:rPr lang="es-ES" i="1" dirty="0"/>
              <a:t>Non-</a:t>
            </a:r>
            <a:r>
              <a:rPr lang="es-ES" i="1" dirty="0" err="1"/>
              <a:t>Patent</a:t>
            </a:r>
            <a:r>
              <a:rPr lang="es-ES" i="1" dirty="0"/>
              <a:t> </a:t>
            </a:r>
            <a:r>
              <a:rPr lang="es-ES" i="1" dirty="0" err="1"/>
              <a:t>Literature</a:t>
            </a:r>
            <a:r>
              <a:rPr lang="es-ES" dirty="0"/>
              <a:t>)</a:t>
            </a:r>
          </a:p>
          <a:p>
            <a:pPr lvl="1"/>
            <a:r>
              <a:rPr lang="es-ES" b="1" dirty="0"/>
              <a:t>Pregunta</a:t>
            </a:r>
            <a:r>
              <a:rPr lang="es-ES" dirty="0"/>
              <a:t>:  ¿en el estado del arte (</a:t>
            </a:r>
            <a:r>
              <a:rPr lang="es-ES" i="1" dirty="0"/>
              <a:t>prior </a:t>
            </a:r>
            <a:r>
              <a:rPr lang="es-ES" i="1" dirty="0" err="1"/>
              <a:t>work</a:t>
            </a:r>
            <a:r>
              <a:rPr lang="es-ES" dirty="0"/>
              <a:t>) de esas buenas patentes, cual es la proporción relativa de citas </a:t>
            </a:r>
            <a:r>
              <a:rPr lang="es-ES" i="1" dirty="0" err="1"/>
              <a:t>backward</a:t>
            </a:r>
            <a:r>
              <a:rPr lang="es-ES" dirty="0"/>
              <a:t> a revistas y congresos ?</a:t>
            </a:r>
            <a:r>
              <a:rPr lang="es-ES" i="1" dirty="0"/>
              <a:t> </a:t>
            </a:r>
            <a:endParaRPr lang="es-ES" dirty="0"/>
          </a:p>
          <a:p>
            <a:pPr lvl="1"/>
            <a:endParaRPr lang="es-ES" dirty="0"/>
          </a:p>
          <a:p>
            <a:endParaRPr lang="es-E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3C6D9EC-9169-4AC3-8A4A-5BDCA08D4293}"/>
              </a:ext>
            </a:extLst>
          </p:cNvPr>
          <p:cNvGrpSpPr>
            <a:grpSpLocks noChangeAspect="1"/>
          </p:cNvGrpSpPr>
          <p:nvPr/>
        </p:nvGrpSpPr>
        <p:grpSpPr>
          <a:xfrm>
            <a:off x="9882221" y="405000"/>
            <a:ext cx="2253577" cy="2232000"/>
            <a:chOff x="8616000" y="1197000"/>
            <a:chExt cx="3456000" cy="342291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A6CA563-1648-4C62-BC9E-3A436F15B437}"/>
                </a:ext>
              </a:extLst>
            </p:cNvPr>
            <p:cNvGrpSpPr/>
            <p:nvPr/>
          </p:nvGrpSpPr>
          <p:grpSpPr>
            <a:xfrm>
              <a:off x="8616000" y="1197000"/>
              <a:ext cx="3456000" cy="3422911"/>
              <a:chOff x="7968000" y="2238089"/>
              <a:chExt cx="3456000" cy="3422911"/>
            </a:xfrm>
          </p:grpSpPr>
          <p:pic>
            <p:nvPicPr>
              <p:cNvPr id="7" name="Picture 6" descr="12 ideas de Frisos romanos | columnas griegas, arquitectura clasica, lapida">
                <a:extLst>
                  <a:ext uri="{FF2B5EF4-FFF2-40B4-BE49-F238E27FC236}">
                    <a16:creationId xmlns:a16="http://schemas.microsoft.com/office/drawing/2014/main" id="{1A07BA88-B81A-4926-9CCE-3C2253C0621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28000" y="2238089"/>
                <a:ext cx="2736000" cy="34229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F55A90-0E67-438E-AB5C-57C8AF71F26E}"/>
                  </a:ext>
                </a:extLst>
              </p:cNvPr>
              <p:cNvSpPr txBox="1"/>
              <p:nvPr/>
            </p:nvSpPr>
            <p:spPr>
              <a:xfrm>
                <a:off x="10920000" y="3861000"/>
                <a:ext cx="504000" cy="40011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l"/>
                <a:r>
                  <a:rPr lang="es-ES" sz="2000" b="1" dirty="0">
                    <a:solidFill>
                      <a:srgbClr val="0000FF"/>
                    </a:solidFill>
                  </a:rPr>
                  <a:t>C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652EF44-94E0-4169-A417-A897AAE289EF}"/>
                  </a:ext>
                </a:extLst>
              </p:cNvPr>
              <p:cNvSpPr txBox="1"/>
              <p:nvPr/>
            </p:nvSpPr>
            <p:spPr>
              <a:xfrm>
                <a:off x="7968000" y="3861000"/>
                <a:ext cx="504000" cy="40011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l"/>
                <a:r>
                  <a:rPr lang="es-ES" sz="2000" b="1" dirty="0">
                    <a:solidFill>
                      <a:srgbClr val="0000FF"/>
                    </a:solidFill>
                  </a:rPr>
                  <a:t>R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8281D1-300F-4D56-8227-B0ED50E70767}"/>
                  </a:ext>
                </a:extLst>
              </p:cNvPr>
              <p:cNvSpPr txBox="1"/>
              <p:nvPr/>
            </p:nvSpPr>
            <p:spPr>
              <a:xfrm>
                <a:off x="9480000" y="2380890"/>
                <a:ext cx="504000" cy="40011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l"/>
                <a:r>
                  <a:rPr lang="es-ES" sz="2000" b="1" dirty="0">
                    <a:solidFill>
                      <a:srgbClr val="0000FF"/>
                    </a:solidFill>
                  </a:rPr>
                  <a:t>P</a:t>
                </a:r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43037A7-D1AE-42B9-9FD6-5A39BBD17F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10610" y="1581658"/>
              <a:ext cx="1196426" cy="1282997"/>
            </a:xfrm>
            <a:prstGeom prst="straightConnector1">
              <a:avLst/>
            </a:prstGeom>
            <a:ln w="38100">
              <a:solidFill>
                <a:srgbClr val="0000FF"/>
              </a:solidFill>
              <a:prstDash val="sysDot"/>
              <a:headEnd type="none" w="med" len="med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D0B96FA-6E39-4847-AB63-32ADEC2758ED}"/>
              </a:ext>
            </a:extLst>
          </p:cNvPr>
          <p:cNvCxnSpPr>
            <a:cxnSpLocks/>
          </p:cNvCxnSpPr>
          <p:nvPr/>
        </p:nvCxnSpPr>
        <p:spPr>
          <a:xfrm flipV="1">
            <a:off x="10170160" y="658040"/>
            <a:ext cx="746760" cy="817880"/>
          </a:xfrm>
          <a:prstGeom prst="straightConnector1">
            <a:avLst/>
          </a:prstGeom>
          <a:ln w="38100">
            <a:solidFill>
              <a:srgbClr val="0000FF"/>
            </a:solidFill>
            <a:prstDash val="sysDot"/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9">
            <a:extLst>
              <a:ext uri="{FF2B5EF4-FFF2-40B4-BE49-F238E27FC236}">
                <a16:creationId xmlns:a16="http://schemas.microsoft.com/office/drawing/2014/main" id="{CF381E13-177A-43E3-A80E-B9F2B5C6C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29803"/>
              </p:ext>
            </p:extLst>
          </p:nvPr>
        </p:nvGraphicFramePr>
        <p:xfrm>
          <a:off x="171680" y="3038162"/>
          <a:ext cx="11818768" cy="3647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768">
                  <a:extLst>
                    <a:ext uri="{9D8B030D-6E8A-4147-A177-3AD203B41FA5}">
                      <a16:colId xmlns:a16="http://schemas.microsoft.com/office/drawing/2014/main" val="3984443494"/>
                    </a:ext>
                  </a:extLst>
                </a:gridCol>
                <a:gridCol w="4608000">
                  <a:extLst>
                    <a:ext uri="{9D8B030D-6E8A-4147-A177-3AD203B41FA5}">
                      <a16:colId xmlns:a16="http://schemas.microsoft.com/office/drawing/2014/main" val="442037455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4769118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98500774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936219996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2093777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91353484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357108582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331913391"/>
                    </a:ext>
                  </a:extLst>
                </a:gridCol>
              </a:tblGrid>
              <a:tr h="33275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Cat.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6861" marB="468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Categoría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6861" marB="468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Total NPL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6861" marB="468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Congreso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6861" marB="468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Revista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6861" marB="468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>
                          <a:effectLst/>
                        </a:rPr>
                        <a:t>Trámite/</a:t>
                      </a:r>
                      <a:br>
                        <a:rPr lang="es-ES" sz="1000" dirty="0">
                          <a:effectLst/>
                        </a:rPr>
                      </a:br>
                      <a:r>
                        <a:rPr lang="es-ES" sz="1000" dirty="0">
                          <a:effectLst/>
                        </a:rPr>
                        <a:t>litigio</a:t>
                      </a:r>
                      <a:endParaRPr lang="es-E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6861" marB="468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>
                          <a:effectLst/>
                          <a:latin typeface="+mn-lt"/>
                          <a:ea typeface="Arial" panose="020B0604020202020204" pitchFamily="34" charset="0"/>
                        </a:rPr>
                        <a:t>Estándar/</a:t>
                      </a:r>
                    </a:p>
                    <a:p>
                      <a:pPr algn="ctr"/>
                      <a:r>
                        <a:rPr lang="es-ES" sz="1000" dirty="0">
                          <a:effectLst/>
                          <a:latin typeface="+mn-lt"/>
                          <a:ea typeface="Arial" panose="020B0604020202020204" pitchFamily="34" charset="0"/>
                        </a:rPr>
                        <a:t>libro</a:t>
                      </a:r>
                    </a:p>
                  </a:txBody>
                  <a:tcPr marL="64434" marR="64434" marT="46861" marB="468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Otros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6861" marB="468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% congreso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6861" marB="46861" anchor="ctr"/>
                </a:tc>
                <a:extLst>
                  <a:ext uri="{0D108BD9-81ED-4DB2-BD59-A6C34878D82A}">
                    <a16:rowId xmlns:a16="http://schemas.microsoft.com/office/drawing/2014/main" val="178536928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01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G06N — IA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397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141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62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40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148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effectLst/>
                        </a:rPr>
                        <a:t>69,5 %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39057439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02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G06F genérico — Proceso digital de datos (resto)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2.337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79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48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1.876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323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effectLst/>
                        </a:rPr>
                        <a:t>62,2 %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171004228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03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G06T + G06V + G06K — Imagen, visión y lectura de datos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413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156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116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47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92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effectLst/>
                        </a:rPr>
                        <a:t>57,4 %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23912817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04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r>
                        <a:rPr lang="es-ES" sz="1400">
                          <a:effectLst/>
                        </a:rPr>
                        <a:t>G06F 16/00 — Recuperación de información y bases de datos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695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89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92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357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134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effectLst/>
                        </a:rPr>
                        <a:t>49,2 %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81540217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05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r>
                        <a:rPr lang="es-ES" sz="1400">
                          <a:effectLst/>
                        </a:rPr>
                        <a:t>G06Q — TIC para gestión, comercio y finanzas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403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85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53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49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207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effectLst/>
                        </a:rPr>
                        <a:t>61,6 %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323038432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06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r>
                        <a:rPr lang="es-ES" sz="1400">
                          <a:effectLst/>
                        </a:rPr>
                        <a:t>H04L — Transmisión de información digital (redes)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1.010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105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48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710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120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effectLst/>
                        </a:rPr>
                        <a:t>68,6 %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303037707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07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r>
                        <a:rPr lang="es-ES" sz="1400">
                          <a:effectLst/>
                        </a:rPr>
                        <a:t>G10L — Voz y audio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1.203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277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92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556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274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effectLst/>
                        </a:rPr>
                        <a:t>75,1 %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356164879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08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G11C ampliada — Memorias y arquitectura de computadores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262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79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67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44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71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effectLst/>
                        </a:rPr>
                        <a:t>54,1 %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392279869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09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G06F 8/00 + 11/36 — Ingeniería del software y pruebas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173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38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17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26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89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effectLst/>
                        </a:rPr>
                        <a:t>69,1 %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261990058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10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G06F 21/00 — Seguridad de computadores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742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73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49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394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207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effectLst/>
                        </a:rPr>
                        <a:t>59,8 %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26976439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TOTAL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7.635</a:t>
                      </a:r>
                      <a:endParaRPr lang="es-ES" sz="14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1.122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644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4.099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1.665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solidFill>
                            <a:srgbClr val="0000FF"/>
                          </a:solidFill>
                          <a:effectLst/>
                        </a:rPr>
                        <a:t>63,5</a:t>
                      </a:r>
                      <a:r>
                        <a:rPr lang="es-ES" sz="1400" b="1" dirty="0">
                          <a:effectLst/>
                        </a:rPr>
                        <a:t>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3620208112"/>
                  </a:ext>
                </a:extLst>
              </a:tr>
            </a:tbl>
          </a:graphicData>
        </a:graphic>
      </p:graphicFrame>
      <p:grpSp>
        <p:nvGrpSpPr>
          <p:cNvPr id="20" name="Group 19">
            <a:extLst>
              <a:ext uri="{FF2B5EF4-FFF2-40B4-BE49-F238E27FC236}">
                <a16:creationId xmlns:a16="http://schemas.microsoft.com/office/drawing/2014/main" id="{2DD4BFEA-EA72-41ED-B789-F59233CF940F}"/>
              </a:ext>
            </a:extLst>
          </p:cNvPr>
          <p:cNvGrpSpPr/>
          <p:nvPr/>
        </p:nvGrpSpPr>
        <p:grpSpPr>
          <a:xfrm>
            <a:off x="9912000" y="374520"/>
            <a:ext cx="2253577" cy="2232000"/>
            <a:chOff x="5952000" y="1125000"/>
            <a:chExt cx="2253577" cy="2232000"/>
          </a:xfrm>
          <a:solidFill>
            <a:schemeClr val="bg1"/>
          </a:solidFill>
        </p:grpSpPr>
        <p:pic>
          <p:nvPicPr>
            <p:cNvPr id="21" name="Picture 20" descr="12 ideas de Frisos romanos | columnas griegas, arquitectura clasica, lapida">
              <a:extLst>
                <a:ext uri="{FF2B5EF4-FFF2-40B4-BE49-F238E27FC236}">
                  <a16:creationId xmlns:a16="http://schemas.microsoft.com/office/drawing/2014/main" id="{6179A496-5E43-45D8-B26B-B484EF0417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86748" y="1125000"/>
              <a:ext cx="1784082" cy="2232000"/>
            </a:xfrm>
            <a:prstGeom prst="rect">
              <a:avLst/>
            </a:prstGeom>
            <a:grpFill/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3CDA928-8CEF-4353-9DA9-8B46BF6670F8}"/>
                </a:ext>
              </a:extLst>
            </p:cNvPr>
            <p:cNvSpPr txBox="1"/>
            <p:nvPr/>
          </p:nvSpPr>
          <p:spPr>
            <a:xfrm>
              <a:off x="5952000" y="2183262"/>
              <a:ext cx="328647" cy="260902"/>
            </a:xfrm>
            <a:prstGeom prst="rect">
              <a:avLst/>
            </a:prstGeom>
            <a:grpFill/>
          </p:spPr>
          <p:txBody>
            <a:bodyPr wrap="square" rtlCol="0" anchor="ctr" anchorCtr="0">
              <a:spAutoFit/>
            </a:bodyPr>
            <a:lstStyle/>
            <a:p>
              <a:pPr algn="l"/>
              <a:r>
                <a:rPr lang="es-ES" sz="2000" b="1" dirty="0">
                  <a:solidFill>
                    <a:srgbClr val="0000FF"/>
                  </a:solidFill>
                </a:rPr>
                <a:t>R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796E979-290C-48A9-A8DC-838FA4946E2C}"/>
                </a:ext>
              </a:extLst>
            </p:cNvPr>
            <p:cNvSpPr txBox="1"/>
            <p:nvPr/>
          </p:nvSpPr>
          <p:spPr>
            <a:xfrm>
              <a:off x="6937940" y="1218117"/>
              <a:ext cx="328647" cy="260902"/>
            </a:xfrm>
            <a:prstGeom prst="rect">
              <a:avLst/>
            </a:prstGeom>
            <a:grpFill/>
          </p:spPr>
          <p:txBody>
            <a:bodyPr wrap="square" rtlCol="0" anchor="ctr" anchorCtr="0">
              <a:spAutoFit/>
            </a:bodyPr>
            <a:lstStyle/>
            <a:p>
              <a:pPr algn="l"/>
              <a:r>
                <a:rPr lang="es-ES" sz="2000" b="1" dirty="0">
                  <a:solidFill>
                    <a:srgbClr val="0000FF"/>
                  </a:solidFill>
                </a:rPr>
                <a:t>P</a:t>
              </a:r>
            </a:p>
          </p:txBody>
        </p:sp>
        <p:pic>
          <p:nvPicPr>
            <p:cNvPr id="24" name="Picture 23" descr="12 ideas de Frisos romanos | columnas griegas, arquitectura clasica, lapida">
              <a:extLst>
                <a:ext uri="{FF2B5EF4-FFF2-40B4-BE49-F238E27FC236}">
                  <a16:creationId xmlns:a16="http://schemas.microsoft.com/office/drawing/2014/main" id="{9B4CCCD1-099D-4ECF-8937-F3A9BA44F51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87" t="23708" b="12990"/>
            <a:stretch/>
          </p:blipFill>
          <p:spPr bwMode="auto">
            <a:xfrm>
              <a:off x="7297775" y="1650200"/>
              <a:ext cx="720000" cy="1412875"/>
            </a:xfrm>
            <a:prstGeom prst="rect">
              <a:avLst/>
            </a:prstGeom>
            <a:grpFill/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E074121-0B83-481A-89DA-51C1168E8526}"/>
                </a:ext>
              </a:extLst>
            </p:cNvPr>
            <p:cNvSpPr txBox="1"/>
            <p:nvPr/>
          </p:nvSpPr>
          <p:spPr>
            <a:xfrm>
              <a:off x="7876930" y="2183262"/>
              <a:ext cx="328647" cy="260902"/>
            </a:xfrm>
            <a:prstGeom prst="rect">
              <a:avLst/>
            </a:prstGeom>
            <a:grpFill/>
          </p:spPr>
          <p:txBody>
            <a:bodyPr wrap="square" rtlCol="0" anchor="ctr" anchorCtr="0">
              <a:spAutoFit/>
            </a:bodyPr>
            <a:lstStyle/>
            <a:p>
              <a:pPr algn="l"/>
              <a:r>
                <a:rPr lang="es-ES" sz="2000" b="1" dirty="0">
                  <a:solidFill>
                    <a:srgbClr val="0000FF"/>
                  </a:solidFill>
                </a:rPr>
                <a:t>C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6EC1724D-ABBE-44B3-A121-866472D40AA4}"/>
              </a:ext>
            </a:extLst>
          </p:cNvPr>
          <p:cNvSpPr txBox="1"/>
          <p:nvPr/>
        </p:nvSpPr>
        <p:spPr>
          <a:xfrm>
            <a:off x="10838516" y="1053000"/>
            <a:ext cx="331822" cy="73866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s-ES" sz="4800" dirty="0">
                <a:solidFill>
                  <a:srgbClr val="0000FF"/>
                </a:solidFill>
                <a:latin typeface="+mj-lt"/>
              </a:rPr>
              <a:t>?</a:t>
            </a:r>
            <a:endParaRPr lang="es-ES" sz="1200" dirty="0">
              <a:solidFill>
                <a:srgbClr val="0000F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86287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C9820-07C8-4292-BB6B-FB4F51094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71CC1-FF3F-4F1D-95DD-9366057DF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9CBD7-4C84-41A3-8A02-9414A946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20</a:t>
            </a:fld>
            <a:endParaRPr lang="es-E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76E24CA-3DCB-4931-99ED-C1D0F7FC88E0}"/>
              </a:ext>
            </a:extLst>
          </p:cNvPr>
          <p:cNvSpPr/>
          <p:nvPr/>
        </p:nvSpPr>
        <p:spPr>
          <a:xfrm>
            <a:off x="552000" y="4356181"/>
            <a:ext cx="7992000" cy="830287"/>
          </a:xfrm>
          <a:prstGeom prst="roundRect">
            <a:avLst/>
          </a:prstGeom>
          <a:noFill/>
          <a:ln w="57150">
            <a:solidFill>
              <a:srgbClr val="297F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6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0123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F0953-20D8-4092-8443-AC96E74F5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81706"/>
            <a:ext cx="10972800" cy="559930"/>
          </a:xfrm>
        </p:spPr>
        <p:txBody>
          <a:bodyPr/>
          <a:lstStyle/>
          <a:p>
            <a:r>
              <a:rPr lang="es-ES" dirty="0"/>
              <a:t>Conclusiones I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AF2048-DF68-476A-807D-F4B573182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64864" y="6356350"/>
            <a:ext cx="7717536" cy="365760"/>
          </a:xfrm>
        </p:spPr>
        <p:txBody>
          <a:bodyPr/>
          <a:lstStyle/>
          <a:p>
            <a:r>
              <a:rPr lang="en-GB"/>
              <a:t>Computing energy and power: efficiency and control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60404-2DFC-4B2A-8200-FF002A6F9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2641600" cy="365760"/>
          </a:xfrm>
        </p:spPr>
        <p:txBody>
          <a:bodyPr/>
          <a:lstStyle/>
          <a:p>
            <a:fld id="{4A490C5D-AEA8-4823-B9B3-806910A0ECF7}" type="slidenum">
              <a:rPr lang="es-ES" smtClean="0"/>
              <a:pPr/>
              <a:t>21</a:t>
            </a:fld>
            <a:endParaRPr lang="es-E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F2A67D5-1E7E-4E7D-8D8E-F140FE0019F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Los congresos de referencia en Informática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son una singularidad,</a:t>
            </a:r>
            <a:br>
              <a:rPr lang="es-ES" dirty="0"/>
            </a:br>
            <a:r>
              <a:rPr lang="es-ES" dirty="0"/>
              <a:t>posiblemente derivada del avance exponencial continuado</a:t>
            </a:r>
            <a:br>
              <a:rPr lang="es-ES" dirty="0"/>
            </a:br>
            <a:r>
              <a:rPr lang="es-ES" dirty="0"/>
              <a:t>de la tecnología de integración y del ansia del software</a:t>
            </a:r>
            <a:br>
              <a:rPr lang="es-ES" dirty="0"/>
            </a:br>
            <a:r>
              <a:rPr lang="es-ES" dirty="0"/>
              <a:t>(Ley de Moore + 3ª Ley del Software, Nathan </a:t>
            </a:r>
            <a:r>
              <a:rPr lang="es-ES" dirty="0" err="1"/>
              <a:t>Myhrvold</a:t>
            </a:r>
            <a:r>
              <a:rPr lang="es-ES" dirty="0"/>
              <a:t>)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son un vehículo idóneo</a:t>
            </a:r>
            <a:br>
              <a:rPr lang="es-ES" dirty="0"/>
            </a:br>
            <a:r>
              <a:rPr lang="es-ES" dirty="0"/>
              <a:t>pero no excluyente</a:t>
            </a:r>
            <a:br>
              <a:rPr lang="es-ES" dirty="0"/>
            </a:br>
            <a:r>
              <a:rPr lang="es-ES" dirty="0"/>
              <a:t>para la difusión del conocimiento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en nuestra muestra de patentes de informática más citadas,</a:t>
            </a:r>
            <a:br>
              <a:rPr lang="es-ES" dirty="0"/>
            </a:br>
            <a:r>
              <a:rPr lang="es-ES" dirty="0"/>
              <a:t>casi dos de cada tres referencias científicas son a congresos</a:t>
            </a:r>
          </a:p>
          <a:p>
            <a:r>
              <a:rPr lang="es-ES" dirty="0"/>
              <a:t>Participar en los buenos congresos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da visibilidad y relevancia internacional de la investigación en España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sin la obligación de </a:t>
            </a:r>
            <a:r>
              <a:rPr lang="es-ES" dirty="0" err="1"/>
              <a:t>re-publicar</a:t>
            </a:r>
            <a:r>
              <a:rPr lang="es-ES" dirty="0"/>
              <a:t> en revista, mejora la eficiencia investigadora</a:t>
            </a:r>
          </a:p>
        </p:txBody>
      </p:sp>
    </p:spTree>
    <p:extLst>
      <p:ext uri="{BB962C8B-B14F-4D97-AF65-F5344CB8AC3E}">
        <p14:creationId xmlns:p14="http://schemas.microsoft.com/office/powerpoint/2010/main" val="12085679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93594-8660-48A7-B865-0CE050ACE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22</a:t>
            </a:fld>
            <a:endParaRPr lang="es-E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51B06FD-9ECD-4845-8633-B40F21BDE14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980646"/>
            <a:ext cx="7286400" cy="5108776"/>
          </a:xfrm>
        </p:spPr>
        <p:txBody>
          <a:bodyPr>
            <a:normAutofit/>
          </a:bodyPr>
          <a:lstStyle/>
          <a:p>
            <a:r>
              <a:rPr lang="es-ES" sz="2800" dirty="0"/>
              <a:t>ANECA puede conseguirlo</a:t>
            </a:r>
          </a:p>
          <a:p>
            <a:pPr>
              <a:spcBef>
                <a:spcPts val="1200"/>
              </a:spcBef>
            </a:pPr>
            <a:r>
              <a:rPr lang="es-ES" dirty="0"/>
              <a:t>Subcampo de Informática:</a:t>
            </a:r>
          </a:p>
          <a:p>
            <a:pPr lvl="1">
              <a:spcBef>
                <a:spcPts val="1200"/>
              </a:spcBef>
            </a:pPr>
            <a:r>
              <a:rPr lang="es-ES" dirty="0"/>
              <a:t>Publicaciones en congresos</a:t>
            </a:r>
            <a:br>
              <a:rPr lang="es-ES" dirty="0"/>
            </a:br>
            <a:r>
              <a:rPr lang="es-ES" b="1" dirty="0">
                <a:solidFill>
                  <a:srgbClr val="0000FF"/>
                </a:solidFill>
              </a:rPr>
              <a:t>A*</a:t>
            </a:r>
            <a:r>
              <a:rPr lang="es-ES" dirty="0"/>
              <a:t> o </a:t>
            </a:r>
            <a:r>
              <a:rPr lang="es-ES" b="1" dirty="0">
                <a:solidFill>
                  <a:srgbClr val="0000FF"/>
                </a:solidFill>
              </a:rPr>
              <a:t>A</a:t>
            </a:r>
            <a:r>
              <a:rPr lang="es-ES" dirty="0"/>
              <a:t> o </a:t>
            </a:r>
            <a:r>
              <a:rPr lang="es-ES" b="1" dirty="0">
                <a:solidFill>
                  <a:srgbClr val="0000FF"/>
                </a:solidFill>
              </a:rPr>
              <a:t>B</a:t>
            </a:r>
            <a:r>
              <a:rPr lang="es-ES" dirty="0"/>
              <a:t> en ICORE = aportaciones ordinarias</a:t>
            </a:r>
          </a:p>
          <a:p>
            <a:pPr lvl="2"/>
            <a:r>
              <a:rPr lang="es-ES" b="1" dirty="0">
                <a:solidFill>
                  <a:srgbClr val="0000FF"/>
                </a:solidFill>
              </a:rPr>
              <a:t>A*</a:t>
            </a:r>
            <a:r>
              <a:rPr lang="es-ES" dirty="0"/>
              <a:t> equiparable funcionalmente a revista Q1 </a:t>
            </a:r>
          </a:p>
          <a:p>
            <a:pPr lvl="2"/>
            <a:r>
              <a:rPr lang="es-ES" b="1" dirty="0">
                <a:solidFill>
                  <a:srgbClr val="0000FF"/>
                </a:solidFill>
              </a:rPr>
              <a:t>A</a:t>
            </a:r>
            <a:r>
              <a:rPr lang="es-ES" dirty="0"/>
              <a:t> equiparable a revista Q1/Q2</a:t>
            </a:r>
          </a:p>
          <a:p>
            <a:pPr lvl="2"/>
            <a:r>
              <a:rPr lang="es-ES" b="1" dirty="0">
                <a:solidFill>
                  <a:srgbClr val="0000FF"/>
                </a:solidFill>
              </a:rPr>
              <a:t>B</a:t>
            </a:r>
            <a:r>
              <a:rPr lang="es-ES" dirty="0"/>
              <a:t>  equiparable a revista Q2/Q3</a:t>
            </a:r>
          </a:p>
          <a:p>
            <a:pPr lvl="1">
              <a:spcBef>
                <a:spcPts val="1200"/>
              </a:spcBef>
            </a:pPr>
            <a:r>
              <a:rPr lang="es-ES" b="1" dirty="0">
                <a:solidFill>
                  <a:srgbClr val="0000FF"/>
                </a:solidFill>
              </a:rPr>
              <a:t>C</a:t>
            </a:r>
            <a:r>
              <a:rPr lang="es-ES" dirty="0"/>
              <a:t> = aportaciones extraordinarias,</a:t>
            </a:r>
            <a:br>
              <a:rPr lang="es-ES" dirty="0"/>
            </a:br>
            <a:r>
              <a:rPr lang="es-ES" dirty="0"/>
              <a:t>hasta un máximo de dos,</a:t>
            </a:r>
            <a:br>
              <a:rPr lang="es-ES" dirty="0"/>
            </a:br>
            <a:r>
              <a:rPr lang="es-ES" dirty="0"/>
              <a:t>exigiendo para su valoración una justificación específica de revisión por pares, y evidencias de selectividad, indexación, reputación e impacto</a:t>
            </a:r>
          </a:p>
        </p:txBody>
      </p:sp>
      <p:pic>
        <p:nvPicPr>
          <p:cNvPr id="8" name="Picture 4" descr="out of the blue - rayo fotografías e imágenes de stock">
            <a:extLst>
              <a:ext uri="{FF2B5EF4-FFF2-40B4-BE49-F238E27FC236}">
                <a16:creationId xmlns:a16="http://schemas.microsoft.com/office/drawing/2014/main" id="{48FA7DD3-8C36-45D9-8560-2A838BF572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82" t="25477"/>
          <a:stretch/>
        </p:blipFill>
        <p:spPr bwMode="auto">
          <a:xfrm>
            <a:off x="7968000" y="1746457"/>
            <a:ext cx="4068011" cy="269054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hought Bubble: Cloud 8">
            <a:extLst>
              <a:ext uri="{FF2B5EF4-FFF2-40B4-BE49-F238E27FC236}">
                <a16:creationId xmlns:a16="http://schemas.microsoft.com/office/drawing/2014/main" id="{5D52EDCC-AC99-4491-9E4D-367044E43521}"/>
              </a:ext>
            </a:extLst>
          </p:cNvPr>
          <p:cNvSpPr/>
          <p:nvPr/>
        </p:nvSpPr>
        <p:spPr>
          <a:xfrm>
            <a:off x="8796011" y="1292981"/>
            <a:ext cx="1080000" cy="648000"/>
          </a:xfrm>
          <a:prstGeom prst="cloudCallout">
            <a:avLst>
              <a:gd name="adj1" fmla="val 10329"/>
              <a:gd name="adj2" fmla="val 50986"/>
            </a:avLst>
          </a:prstGeom>
          <a:solidFill>
            <a:srgbClr val="E8F0F6"/>
          </a:solidFill>
          <a:ln w="12700">
            <a:solidFill>
              <a:srgbClr val="4252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2000" dirty="0">
                <a:solidFill>
                  <a:schemeClr val="tx1"/>
                </a:solidFill>
              </a:rPr>
              <a:t>BOE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F8E4C30-72BA-4FF2-9A5E-D81592368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6542" y="281706"/>
            <a:ext cx="3937458" cy="559930"/>
          </a:xfrm>
        </p:spPr>
        <p:txBody>
          <a:bodyPr/>
          <a:lstStyle/>
          <a:p>
            <a:r>
              <a:rPr lang="es-ES" dirty="0"/>
              <a:t>Conclusiones II</a:t>
            </a:r>
          </a:p>
        </p:txBody>
      </p:sp>
    </p:spTree>
    <p:extLst>
      <p:ext uri="{BB962C8B-B14F-4D97-AF65-F5344CB8AC3E}">
        <p14:creationId xmlns:p14="http://schemas.microsoft.com/office/powerpoint/2010/main" val="1854788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90506-BB48-4EF4-95D6-A9F319E58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ES" dirty="0"/>
              <a:t>La opinión experta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7D5FD-FB3B-4DD1-8A98-3C8ADCB47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Computing energy and power: efficiency and control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5D133-3E38-44EF-B5DF-F00CEA4C6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23</a:t>
            </a:fld>
            <a:endParaRPr lang="es-E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2AE4D8-2A63-4B8B-B138-8A3CF31B419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956948"/>
            <a:ext cx="5388864" cy="5218685"/>
          </a:xfrm>
          <a:solidFill>
            <a:schemeClr val="bg1">
              <a:lumMod val="95000"/>
            </a:schemeClr>
          </a:solidFill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s-ES" i="1" dirty="0"/>
              <a:t>“En el campo de la Arquitectura de Computadores, se organizan varios congresos en los que la dificultad de obtener un artículo aceptado es superior a la de revistas como </a:t>
            </a:r>
            <a:r>
              <a:rPr lang="es-ES" i="1" dirty="0" err="1"/>
              <a:t>Nature</a:t>
            </a:r>
            <a:r>
              <a:rPr lang="es-ES" i="1" dirty="0"/>
              <a:t> y </a:t>
            </a:r>
            <a:r>
              <a:rPr lang="es-ES" i="1" dirty="0" err="1"/>
              <a:t>Science</a:t>
            </a:r>
            <a:r>
              <a:rPr lang="es-ES" i="1" dirty="0"/>
              <a:t> y mucho mayor que la dificultad para publicar en las mejores revistas del IEEE y ACM.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ES" i="1" dirty="0"/>
              <a:t>Estos congresos constituyen un punto de encuentro donde nos encontramos los mejores investigadores del mundo en nuestro campo.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ES" i="1" dirty="0"/>
              <a:t>Durante esos días se realizan muchísimos encuentros entre investigadores y entre empresas e investigadores. Con las empresas, es la ocasión para negociar la transferencia de tecnología asociada a nuestras investigaciones.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ES" i="1" dirty="0"/>
              <a:t>Congresos en el top son el ISCA, Micro, HPCA y  ASPLOS”        </a:t>
            </a:r>
            <a:r>
              <a:rPr lang="es-ES" sz="2100" i="1" dirty="0"/>
              <a:t>- 20 septiembre 2026 -</a:t>
            </a:r>
            <a:endParaRPr lang="es-ES" i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5CCAB1-B167-43ED-83A7-892B1D1F461C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447798" y="3511633"/>
            <a:ext cx="5388864" cy="2664000"/>
          </a:xfrm>
          <a:solidFill>
            <a:srgbClr val="EEF8E4"/>
          </a:solidFill>
        </p:spPr>
        <p:txBody>
          <a:bodyPr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s-ES" b="1" dirty="0"/>
              <a:t>Mateo Valero Cortés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s-ES" b="1" dirty="0"/>
              <a:t>Director del BSC-CNS desde 2004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s-ES" dirty="0"/>
              <a:t>Premios Nacionales Rey Jaime I, Julio Rey Pastor y Leonardo Torres Quevedo</a:t>
            </a:r>
          </a:p>
          <a:p>
            <a:pPr>
              <a:lnSpc>
                <a:spcPct val="120000"/>
              </a:lnSpc>
            </a:pPr>
            <a:r>
              <a:rPr lang="es-ES" dirty="0"/>
              <a:t>Premios Internacionales Eckert-Mauchly (ACM/IEEE), Seymour Cray (IEEE) y Charles Babbage (IEEE)</a:t>
            </a:r>
          </a:p>
        </p:txBody>
      </p:sp>
      <p:pic>
        <p:nvPicPr>
          <p:cNvPr id="1026" name="Picture 2" descr="Mateo Valero, el pionero que ha impulsado el superordenador de Barcelona:  &quot;Sin supercomputación la ciencia está ciega&quot;">
            <a:extLst>
              <a:ext uri="{FF2B5EF4-FFF2-40B4-BE49-F238E27FC236}">
                <a16:creationId xmlns:a16="http://schemas.microsoft.com/office/drawing/2014/main" id="{306A40A8-9156-4BCD-8C04-A30460AD62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8" t="7633" r="12345" b="3997"/>
          <a:stretch/>
        </p:blipFill>
        <p:spPr bwMode="auto">
          <a:xfrm>
            <a:off x="6422064" y="10636"/>
            <a:ext cx="5759615" cy="3444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28181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EAA235A-E47A-4963-B160-062E476FC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 que pedimos a las sociedades de la COSCE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70E632-9998-40C0-81B7-B6103B8DD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E09C3-23FA-4EAF-AC5A-5E9DEEEAC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24</a:t>
            </a:fld>
            <a:endParaRPr lang="es-E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3CA4F03-EEAA-409C-8BD0-A13E84FD1DC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s-ES" dirty="0"/>
              <a:t>Un principio común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cada disciplina debe evaluarse por sus propios canales de calidad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ANECA ya se ha comprometido a ello al adherirse a </a:t>
            </a:r>
            <a:r>
              <a:rPr lang="es-ES" dirty="0" err="1"/>
              <a:t>CoARA</a:t>
            </a:r>
            <a:r>
              <a:rPr lang="es-ES" dirty="0"/>
              <a:t> y DORA</a:t>
            </a:r>
          </a:p>
          <a:p>
            <a:pPr>
              <a:lnSpc>
                <a:spcPct val="110000"/>
              </a:lnSpc>
            </a:pPr>
            <a:r>
              <a:rPr lang="es-ES" dirty="0"/>
              <a:t>Una petición concreta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que la COSCE haga suya la propuesta y la traslade a ANECA/CNEAI:</a:t>
            </a:r>
            <a:br>
              <a:rPr lang="es-ES" dirty="0"/>
            </a:br>
            <a:r>
              <a:rPr lang="es-ES" i="1" dirty="0"/>
              <a:t>en Informática, los congresos ICORE A* , A y B</a:t>
            </a:r>
            <a:br>
              <a:rPr lang="es-ES" i="1" dirty="0"/>
            </a:br>
            <a:r>
              <a:rPr lang="es-ES" i="1" dirty="0"/>
              <a:t>son aportaciones ordinarias</a:t>
            </a:r>
          </a:p>
          <a:p>
            <a:pPr>
              <a:lnSpc>
                <a:spcPct val="110000"/>
              </a:lnSpc>
            </a:pPr>
            <a:r>
              <a:rPr lang="es-ES" dirty="0"/>
              <a:t>Por qué os afecta ?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no pedimos un privilegio para la Informática, sino aplicar un principio que protege a todas las disciplinas: monografías, conjuntos de datos, software, patentes…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el criterio ya existe y se puede verificar:</a:t>
            </a:r>
            <a:br>
              <a:rPr lang="es-ES" dirty="0"/>
            </a:br>
            <a:r>
              <a:rPr lang="es-ES" dirty="0"/>
              <a:t>ICORE es un ranking internacional, cooperativo, público y se revisa cada dos años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s-ES" dirty="0">
                <a:solidFill>
                  <a:srgbClr val="0000FF"/>
                </a:solidFill>
              </a:rPr>
              <a:t>Evaluar bien no cuesta dinero. Evaluar mal nos cuesta talento y relevancia</a:t>
            </a:r>
          </a:p>
        </p:txBody>
      </p:sp>
    </p:spTree>
    <p:extLst>
      <p:ext uri="{BB962C8B-B14F-4D97-AF65-F5344CB8AC3E}">
        <p14:creationId xmlns:p14="http://schemas.microsoft.com/office/powerpoint/2010/main" val="4234469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5AA21-7E8E-4FD1-9CCD-1E3280CE75C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56350"/>
            <a:ext cx="2641600" cy="365125"/>
          </a:xfrm>
        </p:spPr>
        <p:txBody>
          <a:bodyPr/>
          <a:lstStyle/>
          <a:p>
            <a:fld id="{4A490C5D-AEA8-4823-B9B3-806910A0ECF7}" type="slidenum">
              <a:rPr lang="es-ES" smtClean="0"/>
              <a:pPr/>
              <a:t>25</a:t>
            </a:fld>
            <a:endParaRPr lang="es-E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49882CD-FF66-4809-A291-271208934C4F}"/>
              </a:ext>
            </a:extLst>
          </p:cNvPr>
          <p:cNvGrpSpPr/>
          <p:nvPr/>
        </p:nvGrpSpPr>
        <p:grpSpPr>
          <a:xfrm>
            <a:off x="294147" y="2595882"/>
            <a:ext cx="11251218" cy="2261867"/>
            <a:chOff x="294147" y="2595882"/>
            <a:chExt cx="11251218" cy="226186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1D3EAE8-8CB7-484D-9266-4FFFD830391A}"/>
                </a:ext>
              </a:extLst>
            </p:cNvPr>
            <p:cNvSpPr txBox="1"/>
            <p:nvPr/>
          </p:nvSpPr>
          <p:spPr>
            <a:xfrm rot="20474365">
              <a:off x="294147" y="2595882"/>
              <a:ext cx="3911686" cy="833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lIns="108000" tIns="108000" rIns="108000" bIns="108000" rtlCol="0" anchor="ctr" anchorCtr="0">
              <a:spAutoFit/>
            </a:bodyPr>
            <a:lstStyle/>
            <a:p>
              <a:pPr algn="ctr"/>
              <a:r>
                <a:rPr lang="es-ES" sz="4000" dirty="0"/>
                <a:t>Muchas gracias !!!</a:t>
              </a:r>
              <a:endParaRPr lang="es-ES" sz="240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7E00620-383B-4757-93B1-3AC6F1B1A7A8}"/>
                </a:ext>
              </a:extLst>
            </p:cNvPr>
            <p:cNvGrpSpPr/>
            <p:nvPr/>
          </p:nvGrpSpPr>
          <p:grpSpPr>
            <a:xfrm>
              <a:off x="10162313" y="2678950"/>
              <a:ext cx="1383052" cy="2178799"/>
              <a:chOff x="10162313" y="2678950"/>
              <a:chExt cx="1383052" cy="2178799"/>
            </a:xfrm>
          </p:grpSpPr>
          <p:pic>
            <p:nvPicPr>
              <p:cNvPr id="19" name="Picture 18" descr="12 ideas de Frisos romanos | columnas griegas, arquitectura clasica, lapida">
                <a:extLst>
                  <a:ext uri="{FF2B5EF4-FFF2-40B4-BE49-F238E27FC236}">
                    <a16:creationId xmlns:a16="http://schemas.microsoft.com/office/drawing/2014/main" id="{383D36C7-929C-41FF-A135-BF2FFC3617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2587" t="23708" b="12990"/>
              <a:stretch/>
            </p:blipFill>
            <p:spPr bwMode="auto">
              <a:xfrm>
                <a:off x="10162313" y="2678950"/>
                <a:ext cx="1096933" cy="2178799"/>
              </a:xfrm>
              <a:prstGeom prst="rect">
                <a:avLst/>
              </a:prstGeom>
              <a:solidFill>
                <a:schemeClr val="bg1"/>
              </a:solidFill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F0E8ABF-7CB9-43ED-AC7D-5E9C5FC042E3}"/>
                  </a:ext>
                </a:extLst>
              </p:cNvPr>
              <p:cNvSpPr txBox="1"/>
              <p:nvPr/>
            </p:nvSpPr>
            <p:spPr>
              <a:xfrm>
                <a:off x="11044666" y="3465342"/>
                <a:ext cx="500699" cy="461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 anchorCtr="0">
                <a:spAutoFit/>
              </a:bodyPr>
              <a:lstStyle/>
              <a:p>
                <a:pPr algn="l"/>
                <a:r>
                  <a:rPr lang="es-ES" sz="2400" b="1" dirty="0">
                    <a:solidFill>
                      <a:srgbClr val="0000FF"/>
                    </a:solidFill>
                  </a:rPr>
                  <a:t>C</a:t>
                </a:r>
                <a:endParaRPr lang="es-ES" sz="2000" b="1" dirty="0">
                  <a:solidFill>
                    <a:srgbClr val="0000F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86929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EAA235A-E47A-4963-B160-062E476FC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reivindicación en 7 documentos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70E632-9998-40C0-81B7-B6103B8DD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E09C3-23FA-4EAF-AC5A-5E9DEEEAC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24</a:t>
            </a:fld>
            <a:endParaRPr lang="es-ES" dirty="0"/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34747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1">
                <a:solidFill>
                  <a:srgbClr val="595959"/>
                </a:solidFill>
              </a:rPr>
              <a:t>Los hechos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914400"/>
            <a:ext cx="34747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1">
                <a:solidFill>
                  <a:srgbClr val="595959"/>
                </a:solidFill>
              </a:rPr>
              <a:t>La propuesta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914400"/>
            <a:ext cx="34747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1">
                <a:solidFill>
                  <a:srgbClr val="595959"/>
                </a:solidFill>
              </a:rPr>
              <a:t>Qué pedimos y a quién</a:t>
            </a:r>
          </a:p>
        </p:txBody>
      </p:sp>
      <p:sp>
        <p:nvSpPr>
          <p:cNvPr id="11" name="Informe A1"/>
          <p:cNvSpPr/>
          <p:nvPr/>
        </p:nvSpPr>
        <p:spPr>
          <a:xfrm>
            <a:off x="548640" y="123444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E3EEFA"/>
          </a:solidFill>
          <a:ln w="15875">
            <a:solidFill>
              <a:srgbClr val="297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97FD5"/>
                </a:solidFill>
              </a:rPr>
              <a:t>A1  </a:t>
            </a:r>
            <a:r>
              <a:rPr sz="1300" b="1" i="0">
                <a:solidFill>
                  <a:srgbClr val="242852"/>
                </a:solidFill>
              </a:rPr>
              <a:t>Informe de fundamentación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1F4E79"/>
                </a:solidFill>
              </a:rPr>
              <a:t>Por qué: la práctica de la disciplina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62626"/>
                </a:solidFill>
              </a:rPr>
              <a:t>El congreso selectivo es el canal terminal: 3 de los 10 artículos más citados del s. XXI; 63,5 % de las citas científicas en patentes</a:t>
            </a:r>
          </a:p>
        </p:txBody>
      </p:sp>
      <p:sp>
        <p:nvSpPr>
          <p:cNvPr id="12" name="Informe A2"/>
          <p:cNvSpPr/>
          <p:nvPr/>
        </p:nvSpPr>
        <p:spPr>
          <a:xfrm>
            <a:off x="548640" y="2852928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E3EEFA"/>
          </a:solidFill>
          <a:ln w="15875">
            <a:solidFill>
              <a:srgbClr val="297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97FD5"/>
                </a:solidFill>
              </a:rPr>
              <a:t>A2  </a:t>
            </a:r>
            <a:r>
              <a:rPr sz="1300" b="1" i="0">
                <a:solidFill>
                  <a:srgbClr val="242852"/>
                </a:solidFill>
              </a:rPr>
              <a:t>Informe de presencia española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1F4E79"/>
                </a:solidFill>
              </a:rPr>
              <a:t>Qué está pasando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62626"/>
                </a:solidFill>
              </a:rPr>
              <a:t>España crece en artículos pero pierde peso: 7,62 % → 4,23 % de UE27+RU; puesto 5.º → 8.º (en A*, 5.º → 9.º)</a:t>
            </a:r>
          </a:p>
        </p:txBody>
      </p:sp>
      <p:sp>
        <p:nvSpPr>
          <p:cNvPr id="13" name="Informe A3"/>
          <p:cNvSpPr/>
          <p:nvPr/>
        </p:nvSpPr>
        <p:spPr>
          <a:xfrm>
            <a:off x="548640" y="4471416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E3EEFA"/>
          </a:solidFill>
          <a:ln w="15875">
            <a:solidFill>
              <a:srgbClr val="297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97FD5"/>
                </a:solidFill>
              </a:rPr>
              <a:t>A3  </a:t>
            </a:r>
            <a:r>
              <a:rPr sz="1300" b="1" i="0">
                <a:solidFill>
                  <a:srgbClr val="242852"/>
                </a:solidFill>
              </a:rPr>
              <a:t>Informe sobre los criterios de sexenios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1F4E79"/>
                </a:solidFill>
              </a:rPr>
              <a:t>Por qué el reconocimiento no se consolida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62626"/>
                </a:solidFill>
              </a:rPr>
              <a:t>25 convocatorias, 7 cambios de régimen sin transitorio. Causa: el art. 7 de la Orden de 1994</a:t>
            </a:r>
          </a:p>
        </p:txBody>
      </p:sp>
      <p:sp>
        <p:nvSpPr>
          <p:cNvPr id="14" name="Propuesta"/>
          <p:cNvSpPr/>
          <p:nvPr/>
        </p:nvSpPr>
        <p:spPr>
          <a:xfrm>
            <a:off x="4526280" y="1691640"/>
            <a:ext cx="3291840" cy="3749039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54864"/>
          <a:lstStyle/>
          <a:p>
            <a:pPr algn="ctr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</a:rPr>
              <a:t>00  Propuesta SCIE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ACCBF9"/>
                </a:solidFill>
              </a:rPr>
              <a:t>Tesis: </a:t>
            </a:r>
            <a:r>
              <a:rPr sz="1300" b="0" i="0">
                <a:solidFill>
                  <a:srgbClr val="FFFFFF"/>
                </a:solidFill>
              </a:rPr>
              <a:t>congresos ICORE A* y A valorados como revistas de calidad contrastada, con un criterio estable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</a:rPr>
              <a:t>▸ Diagnóstico (§1)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</a:rPr>
              <a:t>▸ Principios P1–P5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</a:rPr>
              <a:t>▸ Recomendaciones R1–R7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</a:rPr>
              <a:t>▸ Plan en 3 fases</a:t>
            </a:r>
          </a:p>
        </p:txBody>
      </p:sp>
      <p:sp>
        <p:nvSpPr>
          <p:cNvPr id="15" name="Aval COSCE"/>
          <p:cNvSpPr/>
          <p:nvPr/>
        </p:nvSpPr>
        <p:spPr>
          <a:xfrm>
            <a:off x="4892040" y="1207008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5875">
            <a:solidFill>
              <a:srgbClr val="242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42852"/>
                </a:solidFill>
              </a:rPr>
              <a:t>SCIE propone · COSCE avala</a:t>
            </a:r>
          </a:p>
        </p:txBody>
      </p:sp>
      <p:sp>
        <p:nvSpPr>
          <p:cNvPr id="16" name="Carta C1"/>
          <p:cNvSpPr/>
          <p:nvPr/>
        </p:nvSpPr>
        <p:spPr>
          <a:xfrm>
            <a:off x="8229600" y="1234440"/>
            <a:ext cx="3429000" cy="1463040"/>
          </a:xfrm>
          <a:prstGeom prst="roundRect">
            <a:avLst>
              <a:gd name="adj" fmla="val 8000"/>
            </a:avLst>
          </a:prstGeom>
          <a:solidFill>
            <a:srgbClr val="E6F2DF"/>
          </a:solidFill>
          <a:ln w="15875">
            <a:solidFill>
              <a:srgbClr val="3B7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3B7D3A"/>
                </a:solidFill>
              </a:rPr>
              <a:t>C1  </a:t>
            </a:r>
            <a:r>
              <a:rPr sz="1300" b="1" i="0">
                <a:solidFill>
                  <a:srgbClr val="242852"/>
                </a:solidFill>
              </a:rPr>
              <a:t>Ministerio · Secretaría General de Universidades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62626"/>
                </a:solidFill>
              </a:rPr>
              <a:t>R3 · Modificar el art. 7.2 de la Orden de 1994 (y la CNU/1181/2019): artículo completo en congreso de prestigio = aportación ordinaria, para todas las disciplinas</a:t>
            </a:r>
          </a:p>
        </p:txBody>
      </p:sp>
      <p:sp>
        <p:nvSpPr>
          <p:cNvPr id="17" name="Carta C2"/>
          <p:cNvSpPr/>
          <p:nvPr/>
        </p:nvSpPr>
        <p:spPr>
          <a:xfrm>
            <a:off x="8229600" y="2852928"/>
            <a:ext cx="3429000" cy="1463040"/>
          </a:xfrm>
          <a:prstGeom prst="roundRect">
            <a:avLst>
              <a:gd name="adj" fmla="val 8000"/>
            </a:avLst>
          </a:prstGeom>
          <a:solidFill>
            <a:srgbClr val="E6F2DF"/>
          </a:solidFill>
          <a:ln w="15875">
            <a:solidFill>
              <a:srgbClr val="3B7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3B7D3A"/>
                </a:solidFill>
              </a:rPr>
              <a:t>C2  </a:t>
            </a:r>
            <a:r>
              <a:rPr sz="1300" b="1" i="0">
                <a:solidFill>
                  <a:srgbClr val="242852"/>
                </a:solidFill>
              </a:rPr>
              <a:t>CNEAI · criterios de sexenios 6.2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62626"/>
                </a:solidFill>
              </a:rPr>
              <a:t>R1 + R2 · Cupo de extraordinarias de 3 a 5 para ICORE A*/A; A* ≈ Q1, A ≈ Q1/Q2; criterio bienal y régimen transitorio</a:t>
            </a:r>
          </a:p>
        </p:txBody>
      </p:sp>
      <p:sp>
        <p:nvSpPr>
          <p:cNvPr id="18" name="Carta C3"/>
          <p:cNvSpPr/>
          <p:nvPr/>
        </p:nvSpPr>
        <p:spPr>
          <a:xfrm>
            <a:off x="8229600" y="4471416"/>
            <a:ext cx="3429000" cy="1463040"/>
          </a:xfrm>
          <a:prstGeom prst="roundRect">
            <a:avLst>
              <a:gd name="adj" fmla="val 8000"/>
            </a:avLst>
          </a:prstGeom>
          <a:solidFill>
            <a:srgbClr val="E6F2DF"/>
          </a:solidFill>
          <a:ln w="15875">
            <a:solidFill>
              <a:srgbClr val="3B7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3B7D3A"/>
                </a:solidFill>
              </a:rPr>
              <a:t>C3  </a:t>
            </a:r>
            <a:r>
              <a:rPr sz="1300" b="1" i="0">
                <a:solidFill>
                  <a:srgbClr val="242852"/>
                </a:solidFill>
              </a:rPr>
              <a:t>ANECA · acreditación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62626"/>
                </a:solidFill>
              </a:rPr>
              <a:t>R4 + R6 · Aclaración general a las comisiones; comités de programa como mérito; coherencia con sexenios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14800" y="1965960"/>
            <a:ext cx="411480" cy="9144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818120" y="1965960"/>
            <a:ext cx="411480" cy="9144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14800" y="3584448"/>
            <a:ext cx="411480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3584448"/>
            <a:ext cx="411480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114800" y="5074919"/>
            <a:ext cx="411480" cy="128017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18120" y="5074919"/>
            <a:ext cx="411480" cy="128017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6016752"/>
            <a:ext cx="111099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1">
                <a:solidFill>
                  <a:srgbClr val="595959"/>
                </a:solidFill>
              </a:rPr>
              <a:t>Cada carta pide a su destinatario solo lo que este puede conceder; los tres informes y la propuesta van adjuntos a las tres cartas.</a:t>
            </a:r>
          </a:p>
        </p:txBody>
      </p:sp>
    </p:spTree>
    <p:extLst>
      <p:ext uri="{BB962C8B-B14F-4D97-AF65-F5344CB8AC3E}">
        <p14:creationId xmlns:p14="http://schemas.microsoft.com/office/powerpoint/2010/main" val="4234469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EAA235A-E47A-4963-B160-062E476FC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Quién decide qué, y cuándo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70E632-9998-40C0-81B7-B6103B8DD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E09C3-23FA-4EAF-AC5A-5E9DEEEAC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24</a:t>
            </a:fld>
            <a:endParaRPr lang="es-ES" dirty="0"/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111099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595959"/>
                </a:solidFill>
              </a:rPr>
              <a:t>Máximo de congresos entre las 5 aportaciones de un sexenio de informática, 2001–2025 (las revistas: siempre 5)</a:t>
            </a:r>
          </a:p>
        </p:txBody>
      </p:sp>
      <p:sp>
        <p:nvSpPr>
          <p:cNvPr id="9" name="Régimen 2001–04"/>
          <p:cNvSpPr/>
          <p:nvPr/>
        </p:nvSpPr>
        <p:spPr>
          <a:xfrm>
            <a:off x="548640" y="1207008"/>
            <a:ext cx="1750161" cy="457200"/>
          </a:xfrm>
          <a:prstGeom prst="rect">
            <a:avLst/>
          </a:prstGeom>
          <a:solidFill>
            <a:srgbClr val="3B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82496"/>
            <a:ext cx="1750161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</a:rPr>
              <a:t>2001–04</a:t>
            </a:r>
          </a:p>
        </p:txBody>
      </p:sp>
      <p:sp>
        <p:nvSpPr>
          <p:cNvPr id="11" name="Régimen 05–06"/>
          <p:cNvSpPr/>
          <p:nvPr/>
        </p:nvSpPr>
        <p:spPr>
          <a:xfrm>
            <a:off x="2326233" y="1207008"/>
            <a:ext cx="861364" cy="457200"/>
          </a:xfrm>
          <a:prstGeom prst="rect">
            <a:avLst/>
          </a:prstGeom>
          <a:solidFill>
            <a:srgbClr val="E0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6233" y="1682496"/>
            <a:ext cx="861364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</a:rPr>
              <a:t>05–06</a:t>
            </a:r>
          </a:p>
        </p:txBody>
      </p:sp>
      <p:sp>
        <p:nvSpPr>
          <p:cNvPr id="13" name="Régimen 2007–2013"/>
          <p:cNvSpPr/>
          <p:nvPr/>
        </p:nvSpPr>
        <p:spPr>
          <a:xfrm>
            <a:off x="3215030" y="1207008"/>
            <a:ext cx="3083356" cy="457200"/>
          </a:xfrm>
          <a:prstGeom prst="rect">
            <a:avLst/>
          </a:prstGeom>
          <a:solidFill>
            <a:srgbClr val="3B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5030" y="1682496"/>
            <a:ext cx="3083356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</a:rPr>
              <a:t>2007–2013</a:t>
            </a:r>
          </a:p>
        </p:txBody>
      </p:sp>
      <p:sp>
        <p:nvSpPr>
          <p:cNvPr id="15" name="Régimen 14"/>
          <p:cNvSpPr/>
          <p:nvPr/>
        </p:nvSpPr>
        <p:spPr>
          <a:xfrm>
            <a:off x="6325819" y="1207008"/>
            <a:ext cx="416966" cy="457200"/>
          </a:xfrm>
          <a:prstGeom prst="rect">
            <a:avLst/>
          </a:prstGeom>
          <a:solidFill>
            <a:srgbClr val="E0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5819" y="1682496"/>
            <a:ext cx="416966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</a:rPr>
              <a:t>14</a:t>
            </a:r>
          </a:p>
        </p:txBody>
      </p:sp>
      <p:sp>
        <p:nvSpPr>
          <p:cNvPr id="17" name="Régimen 2015–2020"/>
          <p:cNvSpPr/>
          <p:nvPr/>
        </p:nvSpPr>
        <p:spPr>
          <a:xfrm>
            <a:off x="6770217" y="1207008"/>
            <a:ext cx="2638958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0217" y="1682496"/>
            <a:ext cx="2638958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</a:rPr>
              <a:t>2015–2020</a:t>
            </a:r>
          </a:p>
        </p:txBody>
      </p:sp>
      <p:sp>
        <p:nvSpPr>
          <p:cNvPr id="19" name="Régimen 21–22"/>
          <p:cNvSpPr/>
          <p:nvPr/>
        </p:nvSpPr>
        <p:spPr>
          <a:xfrm>
            <a:off x="9436608" y="1207008"/>
            <a:ext cx="861364" cy="457200"/>
          </a:xfrm>
          <a:prstGeom prst="rect">
            <a:avLst/>
          </a:prstGeom>
          <a:solidFill>
            <a:srgbClr val="3B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8" y="1682496"/>
            <a:ext cx="861364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</a:rPr>
              <a:t>21–22</a:t>
            </a:r>
          </a:p>
        </p:txBody>
      </p:sp>
      <p:sp>
        <p:nvSpPr>
          <p:cNvPr id="21" name="Régimen 23"/>
          <p:cNvSpPr/>
          <p:nvPr/>
        </p:nvSpPr>
        <p:spPr>
          <a:xfrm>
            <a:off x="10325404" y="1207008"/>
            <a:ext cx="416966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25404" y="1682496"/>
            <a:ext cx="416966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</a:rPr>
              <a:t>23</a:t>
            </a:r>
          </a:p>
        </p:txBody>
      </p:sp>
      <p:sp>
        <p:nvSpPr>
          <p:cNvPr id="23" name="Régimen 24–25"/>
          <p:cNvSpPr/>
          <p:nvPr/>
        </p:nvSpPr>
        <p:spPr>
          <a:xfrm>
            <a:off x="10769803" y="1207008"/>
            <a:ext cx="861364" cy="457200"/>
          </a:xfrm>
          <a:prstGeom prst="rect">
            <a:avLst/>
          </a:prstGeom>
          <a:solidFill>
            <a:srgbClr val="E0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69803" y="1682496"/>
            <a:ext cx="861364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</a:rPr>
              <a:t>24–25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1938528"/>
            <a:ext cx="111099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242852"/>
                </a:solidFill>
              </a:rPr>
              <a:t>7 cambios en 25 convocatorias, todos en la resolución anual y aplicados a trabajos ya publicados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377440"/>
            <a:ext cx="32461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1">
                <a:solidFill>
                  <a:srgbClr val="595959"/>
                </a:solidFill>
              </a:rPr>
              <a:t>Qué regula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39" y="2377440"/>
            <a:ext cx="17373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1">
                <a:solidFill>
                  <a:srgbClr val="595959"/>
                </a:solidFill>
              </a:rPr>
              <a:t>Quién decide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2377440"/>
            <a:ext cx="3977639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1">
                <a:solidFill>
                  <a:srgbClr val="595959"/>
                </a:solidFill>
              </a:rPr>
              <a:t>Qué pedimos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2377440"/>
            <a:ext cx="16002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1">
                <a:solidFill>
                  <a:srgbClr val="595959"/>
                </a:solidFill>
              </a:rPr>
              <a:t>Cuándo</a:t>
            </a:r>
          </a:p>
        </p:txBody>
      </p:sp>
      <p:sp>
        <p:nvSpPr>
          <p:cNvPr id="30" name="Norma Orden de 1994, art. 7"/>
          <p:cNvSpPr/>
          <p:nvPr/>
        </p:nvSpPr>
        <p:spPr>
          <a:xfrm>
            <a:off x="548640" y="2743200"/>
            <a:ext cx="3246120" cy="960120"/>
          </a:xfrm>
          <a:prstGeom prst="roundRect">
            <a:avLst>
              <a:gd name="adj" fmla="val 8000"/>
            </a:avLst>
          </a:prstGeom>
          <a:solidFill>
            <a:srgbClr val="E3EEFA"/>
          </a:solidFill>
          <a:ln w="15875">
            <a:solidFill>
              <a:srgbClr val="297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42852"/>
                </a:solidFill>
              </a:rPr>
              <a:t>Orden de 1994, art. 7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1F4E79"/>
                </a:solidFill>
              </a:rPr>
              <a:t>La categoría: ordinaria o extraordinaria</a:t>
            </a:r>
          </a:p>
        </p:txBody>
      </p:sp>
      <p:sp>
        <p:nvSpPr>
          <p:cNvPr id="31" name="Decide Ministerio"/>
          <p:cNvSpPr/>
          <p:nvPr/>
        </p:nvSpPr>
        <p:spPr>
          <a:xfrm>
            <a:off x="3977639" y="2926080"/>
            <a:ext cx="1737360" cy="59436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Ministerio</a:t>
            </a:r>
          </a:p>
        </p:txBody>
      </p:sp>
      <p:sp>
        <p:nvSpPr>
          <p:cNvPr id="32" name="Pedimos Ministerio"/>
          <p:cNvSpPr/>
          <p:nvPr/>
        </p:nvSpPr>
        <p:spPr>
          <a:xfrm>
            <a:off x="5897880" y="2743200"/>
            <a:ext cx="3977639" cy="960120"/>
          </a:xfrm>
          <a:prstGeom prst="roundRect">
            <a:avLst>
              <a:gd name="adj" fmla="val 8000"/>
            </a:avLst>
          </a:prstGeom>
          <a:solidFill>
            <a:srgbClr val="E6F2DF"/>
          </a:solidFill>
          <a:ln w="15875">
            <a:solidFill>
              <a:srgbClr val="3B7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62626"/>
                </a:solidFill>
              </a:rPr>
              <a:t>C1 · R3: los artículos completos en congresos de prestigio, ordinarios (todas las disciplinas)</a:t>
            </a:r>
          </a:p>
          <a:p>
            <a:pPr algn="l">
              <a:spcAft>
                <a:spcPts val="200"/>
              </a:spcAft>
            </a:pPr>
            <a:r>
              <a:rPr sz="1100" b="1" i="1">
                <a:solidFill>
                  <a:srgbClr val="3B7D3A"/>
                </a:solidFill>
              </a:rPr>
              <a:t>Irreversible, pero más lento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743200"/>
            <a:ext cx="1600200" cy="9601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42852"/>
                </a:solidFill>
              </a:rPr>
              <a:t>Fases 2–3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</a:rPr>
              <a:t>1–5 años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794760" y="3223260"/>
            <a:ext cx="182879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715000" y="3223260"/>
            <a:ext cx="182880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Norma Criterios CNEAI (6.2)"/>
          <p:cNvSpPr/>
          <p:nvPr/>
        </p:nvSpPr>
        <p:spPr>
          <a:xfrm>
            <a:off x="548640" y="3858768"/>
            <a:ext cx="3246120" cy="960120"/>
          </a:xfrm>
          <a:prstGeom prst="roundRect">
            <a:avLst>
              <a:gd name="adj" fmla="val 8000"/>
            </a:avLst>
          </a:prstGeom>
          <a:solidFill>
            <a:srgbClr val="E3EEFA"/>
          </a:solidFill>
          <a:ln w="15875">
            <a:solidFill>
              <a:srgbClr val="297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42852"/>
                </a:solidFill>
              </a:rPr>
              <a:t>Criterios CNEAI (6.2)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1F4E79"/>
                </a:solidFill>
              </a:rPr>
              <a:t>El peso, el cupo y la estabilidad</a:t>
            </a:r>
          </a:p>
        </p:txBody>
      </p:sp>
      <p:sp>
        <p:nvSpPr>
          <p:cNvPr id="37" name="Decide CNEAI"/>
          <p:cNvSpPr/>
          <p:nvPr/>
        </p:nvSpPr>
        <p:spPr>
          <a:xfrm>
            <a:off x="3977639" y="4041648"/>
            <a:ext cx="1737360" cy="59436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CNEAI</a:t>
            </a:r>
          </a:p>
        </p:txBody>
      </p:sp>
      <p:sp>
        <p:nvSpPr>
          <p:cNvPr id="38" name="Pedimos CNEAI"/>
          <p:cNvSpPr/>
          <p:nvPr/>
        </p:nvSpPr>
        <p:spPr>
          <a:xfrm>
            <a:off x="5897880" y="3858768"/>
            <a:ext cx="3977639" cy="960120"/>
          </a:xfrm>
          <a:prstGeom prst="roundRect">
            <a:avLst>
              <a:gd name="adj" fmla="val 8000"/>
            </a:avLst>
          </a:prstGeom>
          <a:solidFill>
            <a:srgbClr val="E6F2DF"/>
          </a:solidFill>
          <a:ln w="15875">
            <a:solidFill>
              <a:srgbClr val="3B7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62626"/>
                </a:solidFill>
              </a:rPr>
              <a:t>C2 · R1 + R2: A*/A como revistas, cupo de 3 a 5, criterio bienal y transitorio</a:t>
            </a:r>
          </a:p>
          <a:p>
            <a:pPr algn="l">
              <a:spcAft>
                <a:spcPts val="200"/>
              </a:spcAft>
            </a:pPr>
            <a:r>
              <a:rPr sz="1100" b="1" i="1">
                <a:solidFill>
                  <a:srgbClr val="3B7D3A"/>
                </a:solidFill>
              </a:rPr>
              <a:t>Inmediato, pero reversible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3858768"/>
            <a:ext cx="1600200" cy="9601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42852"/>
                </a:solidFill>
              </a:rPr>
              <a:t>Fase 1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</a:rPr>
              <a:t>convocatoria 2026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794760" y="4338828"/>
            <a:ext cx="182879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715000" y="4338828"/>
            <a:ext cx="182880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Norma Acreditación (RD 678/2023)"/>
          <p:cNvSpPr/>
          <p:nvPr/>
        </p:nvSpPr>
        <p:spPr>
          <a:xfrm>
            <a:off x="548640" y="4974336"/>
            <a:ext cx="3246120" cy="960120"/>
          </a:xfrm>
          <a:prstGeom prst="roundRect">
            <a:avLst>
              <a:gd name="adj" fmla="val 8000"/>
            </a:avLst>
          </a:prstGeom>
          <a:solidFill>
            <a:srgbClr val="E3EEFA"/>
          </a:solidFill>
          <a:ln w="15875">
            <a:solidFill>
              <a:srgbClr val="297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42852"/>
                </a:solidFill>
              </a:rPr>
              <a:t>Acreditación (RD 678/2023)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1F4E79"/>
                </a:solidFill>
              </a:rPr>
              <a:t>No distingue ordinarias de extraordinarias</a:t>
            </a:r>
          </a:p>
        </p:txBody>
      </p:sp>
      <p:sp>
        <p:nvSpPr>
          <p:cNvPr id="43" name="Decide ANECA"/>
          <p:cNvSpPr/>
          <p:nvPr/>
        </p:nvSpPr>
        <p:spPr>
          <a:xfrm>
            <a:off x="3977639" y="5157216"/>
            <a:ext cx="1737360" cy="59436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ANECA</a:t>
            </a:r>
          </a:p>
        </p:txBody>
      </p:sp>
      <p:sp>
        <p:nvSpPr>
          <p:cNvPr id="44" name="Pedimos ANECA"/>
          <p:cNvSpPr/>
          <p:nvPr/>
        </p:nvSpPr>
        <p:spPr>
          <a:xfrm>
            <a:off x="5897880" y="4974336"/>
            <a:ext cx="3977639" cy="960120"/>
          </a:xfrm>
          <a:prstGeom prst="roundRect">
            <a:avLst>
              <a:gd name="adj" fmla="val 8000"/>
            </a:avLst>
          </a:prstGeom>
          <a:solidFill>
            <a:srgbClr val="E6F2DF"/>
          </a:solidFill>
          <a:ln w="15875">
            <a:solidFill>
              <a:srgbClr val="3B7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62626"/>
                </a:solidFill>
              </a:rPr>
              <a:t>C3 · R4 + R6: aclaración general, gobernanza como mérito, coherencia</a:t>
            </a:r>
          </a:p>
          <a:p>
            <a:pPr algn="l">
              <a:spcAft>
                <a:spcPts val="200"/>
              </a:spcAft>
            </a:pPr>
            <a:r>
              <a:rPr sz="1100" b="1" i="1">
                <a:solidFill>
                  <a:srgbClr val="3B7D3A"/>
                </a:solidFill>
              </a:rPr>
              <a:t>Sin cambiar ninguna norma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4974336"/>
            <a:ext cx="1600200" cy="9601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42852"/>
                </a:solidFill>
              </a:rPr>
              <a:t>Fase 1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</a:rPr>
              <a:t>corto plazo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794760" y="5454396"/>
            <a:ext cx="182879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715000" y="5454396"/>
            <a:ext cx="182880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46900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rgbClr val="0000FF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 anchor="ctr" anchorCtr="0">
        <a:spAutoFit/>
      </a:bodyPr>
      <a:lstStyle>
        <a:defPPr algn="l"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72E1BCD-284B-405E-A78E-E80E598388E5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368da1e1-3782-41da-873e-07c65a61fc5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67310</TotalTime>
  <Words>3619</Words>
  <Application>Microsoft Office PowerPoint</Application>
  <PresentationFormat>Widescreen</PresentationFormat>
  <Paragraphs>626</Paragraphs>
  <Slides>25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7" baseType="lpstr">
      <vt:lpstr>Arial</vt:lpstr>
      <vt:lpstr>Arial Black</vt:lpstr>
      <vt:lpstr>Bookman Old Style</vt:lpstr>
      <vt:lpstr>Calibri</vt:lpstr>
      <vt:lpstr>Cambria Math</vt:lpstr>
      <vt:lpstr>Consolas</vt:lpstr>
      <vt:lpstr>Courier New</vt:lpstr>
      <vt:lpstr>Gill Sans MT</vt:lpstr>
      <vt:lpstr>Google Sans</vt:lpstr>
      <vt:lpstr>Wingdings</vt:lpstr>
      <vt:lpstr>Wingdings 3</vt:lpstr>
      <vt:lpstr>Origin</vt:lpstr>
      <vt:lpstr>PowerPoint Presentation</vt:lpstr>
      <vt:lpstr>Motivación</vt:lpstr>
      <vt:lpstr>PowerPoint Presentation</vt:lpstr>
      <vt:lpstr>Situación: ANECA + (CoARA1 y DORA2, abril 2023)</vt:lpstr>
      <vt:lpstr>La tracción de los criterios de ANECA</vt:lpstr>
      <vt:lpstr>Dos efectos: no publico … o re-publico </vt:lpstr>
      <vt:lpstr>PowerPoint Presentation</vt:lpstr>
      <vt:lpstr>Congresos de referencia en informática</vt:lpstr>
      <vt:lpstr>ICORE: Australia, Italia y España (1 de 2)</vt:lpstr>
      <vt:lpstr>ICORE: Australia, Italia y España (2 de 2)</vt:lpstr>
      <vt:lpstr>Historia de los 62 congresos ICORE A*: 1958 -2026</vt:lpstr>
      <vt:lpstr>PowerPoint Presentation</vt:lpstr>
      <vt:lpstr>Pero, realmente tiene impacto publicar en un congreso informático ? (1 de 2)</vt:lpstr>
      <vt:lpstr>Pero, realmente tiene impacto publicar en un congreso informático ? (2 de 2)</vt:lpstr>
      <vt:lpstr>PowerPoint Presentation</vt:lpstr>
      <vt:lpstr>Congresos: mercados de talento y transferencia</vt:lpstr>
      <vt:lpstr>Impacto industrial en informática (1 de 3)</vt:lpstr>
      <vt:lpstr>Impacto industrial en informática (2 de 3)</vt:lpstr>
      <vt:lpstr>Transferencia: ¿congreso  patente? (3 de 3)</vt:lpstr>
      <vt:lpstr>PowerPoint Presentation</vt:lpstr>
      <vt:lpstr>Conclusiones I</vt:lpstr>
      <vt:lpstr>Conclusiones II</vt:lpstr>
      <vt:lpstr>La opinión experta</vt:lpstr>
      <vt:lpstr>Lo que pedimos a las sociedades de la COSCE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Víctor</dc:creator>
  <cp:lastModifiedBy>Víctor Viñals Yúfera</cp:lastModifiedBy>
  <cp:revision>1433</cp:revision>
  <cp:lastPrinted>2016-06-30T23:22:47Z</cp:lastPrinted>
  <dcterms:created xsi:type="dcterms:W3CDTF">2016-02-07T16:27:24Z</dcterms:created>
  <dcterms:modified xsi:type="dcterms:W3CDTF">2026-10-04T19:47:59Z</dcterms:modified>
</cp:coreProperties>
</file>